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EF171C-6FB8-FB68-8669-313C209F74DF}" name="Mohammad ." initials="M." userId="S::fmoha077@uottawa.ca::3afb52d1-ffd0-4912-8222-7c215475e1f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omments/modernComment_101_0.xml><?xml version="1.0" encoding="utf-8"?>
<p188:cmLst xmlns:a="http://schemas.openxmlformats.org/drawingml/2006/main" xmlns:r="http://schemas.openxmlformats.org/officeDocument/2006/relationships" xmlns:p188="http://schemas.microsoft.com/office/powerpoint/2018/8/main">
  <p188:cm id="{5AB95904-9C39-48B3-8A12-4E3FD0DDBAAF}" authorId="{F2EF171C-6FB8-FB68-8669-313C209F74DF}" created="2025-10-06T04:24:42.403">
    <ac:deMkLst xmlns:ac="http://schemas.microsoft.com/office/drawing/2013/main/command">
      <pc:docMk xmlns:pc="http://schemas.microsoft.com/office/powerpoint/2013/main/command"/>
      <pc:sldMk xmlns:pc="http://schemas.microsoft.com/office/powerpoint/2013/main/command" cId="0" sldId="257"/>
      <ac:picMk id="3" creationId="{00000000-0000-0000-0000-000000000000}"/>
    </ac:deMkLst>
    <p188:txBody>
      <a:bodyPr/>
      <a:lstStyle/>
      <a:p>
        <a:r>
          <a:rPr lang="en-CA"/>
          <a:t>General Understanding is that Core NLP is a computer science concept. I would like to argue that now every software company is aiming to integrate an AI Powered solution into their product and leverage the power of LLM’s.  Gen AI and Proactive AI are the hot topics which are in huge demand. But these technologies are implemented just based on API Utilisation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247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microsoft.com/office/2018/10/relationships/comments" Target="../comments/modernComment_101_0.xml"/><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0.png"/><Relationship Id="rId21" Type="http://schemas.openxmlformats.org/officeDocument/2006/relationships/image" Target="../media/image37.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12.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26.png"/><Relationship Id="rId19" Type="http://schemas.openxmlformats.org/officeDocument/2006/relationships/image" Target="../media/image35.png"/><Relationship Id="rId4" Type="http://schemas.openxmlformats.org/officeDocument/2006/relationships/image" Target="../media/image11.png"/><Relationship Id="rId9" Type="http://schemas.openxmlformats.org/officeDocument/2006/relationships/image" Target="../media/image25.png"/><Relationship Id="rId14" Type="http://schemas.openxmlformats.org/officeDocument/2006/relationships/image" Target="../media/image30.png"/><Relationship Id="rId22" Type="http://schemas.openxmlformats.org/officeDocument/2006/relationships/image" Target="../media/image38.png"/></Relationships>
</file>

<file path=ppt/slides/_rels/slide4.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26" Type="http://schemas.openxmlformats.org/officeDocument/2006/relationships/image" Target="../media/image62.png"/><Relationship Id="rId3" Type="http://schemas.openxmlformats.org/officeDocument/2006/relationships/image" Target="../media/image40.png"/><Relationship Id="rId21" Type="http://schemas.openxmlformats.org/officeDocument/2006/relationships/image" Target="../media/image57.png"/><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5" Type="http://schemas.openxmlformats.org/officeDocument/2006/relationships/image" Target="../media/image61.png"/><Relationship Id="rId2" Type="http://schemas.openxmlformats.org/officeDocument/2006/relationships/notesSlide" Target="../notesSlides/notesSlide4.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24" Type="http://schemas.openxmlformats.org/officeDocument/2006/relationships/image" Target="../media/image60.png"/><Relationship Id="rId5" Type="http://schemas.openxmlformats.org/officeDocument/2006/relationships/image" Target="../media/image12.png"/><Relationship Id="rId15" Type="http://schemas.openxmlformats.org/officeDocument/2006/relationships/image" Target="../media/image51.png"/><Relationship Id="rId23" Type="http://schemas.openxmlformats.org/officeDocument/2006/relationships/image" Target="../media/image59.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1.png"/><Relationship Id="rId9" Type="http://schemas.openxmlformats.org/officeDocument/2006/relationships/image" Target="../media/image45.png"/><Relationship Id="rId14" Type="http://schemas.openxmlformats.org/officeDocument/2006/relationships/image" Target="../media/image50.png"/><Relationship Id="rId22"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4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1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41.png"/><Relationship Id="rId9" Type="http://schemas.openxmlformats.org/officeDocument/2006/relationships/image" Target="../media/image66.png"/><Relationship Id="rId1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0" y="4800600"/>
            <a:ext cx="12192000" cy="2057400"/>
          </a:xfrm>
          <a:prstGeom prst="rect">
            <a:avLst/>
          </a:prstGeom>
        </p:spPr>
      </p:pic>
      <p:pic>
        <p:nvPicPr>
          <p:cNvPr id="5" name="Image 3" descr="preencoded.png"/>
          <p:cNvPicPr>
            <a:picLocks noChangeAspect="1"/>
          </p:cNvPicPr>
          <p:nvPr/>
        </p:nvPicPr>
        <p:blipFill>
          <a:blip r:embed="rId6"/>
          <a:stretch>
            <a:fillRect/>
          </a:stretch>
        </p:blipFill>
        <p:spPr>
          <a:xfrm>
            <a:off x="0" y="0"/>
            <a:ext cx="12192000" cy="76200"/>
          </a:xfrm>
          <a:prstGeom prst="rect">
            <a:avLst/>
          </a:prstGeom>
        </p:spPr>
      </p:pic>
      <p:pic>
        <p:nvPicPr>
          <p:cNvPr id="6" name="Image 4" descr="preencoded.png"/>
          <p:cNvPicPr>
            <a:picLocks noChangeAspect="1"/>
          </p:cNvPicPr>
          <p:nvPr/>
        </p:nvPicPr>
        <p:blipFill>
          <a:blip r:embed="rId7"/>
          <a:stretch>
            <a:fillRect/>
          </a:stretch>
        </p:blipFill>
        <p:spPr>
          <a:xfrm>
            <a:off x="4293394" y="1265932"/>
            <a:ext cx="457200" cy="457200"/>
          </a:xfrm>
          <a:prstGeom prst="rect">
            <a:avLst/>
          </a:prstGeom>
        </p:spPr>
      </p:pic>
      <p:pic>
        <p:nvPicPr>
          <p:cNvPr id="7" name="Image 5" descr="preencoded.png"/>
          <p:cNvPicPr>
            <a:picLocks noChangeAspect="1"/>
          </p:cNvPicPr>
          <p:nvPr/>
        </p:nvPicPr>
        <p:blipFill>
          <a:blip r:embed="rId8"/>
          <a:stretch>
            <a:fillRect/>
          </a:stretch>
        </p:blipFill>
        <p:spPr>
          <a:xfrm>
            <a:off x="5586264" y="1265932"/>
            <a:ext cx="514350" cy="457200"/>
          </a:xfrm>
          <a:prstGeom prst="rect">
            <a:avLst/>
          </a:prstGeom>
        </p:spPr>
      </p:pic>
      <p:pic>
        <p:nvPicPr>
          <p:cNvPr id="8" name="Image 6" descr="preencoded.png"/>
          <p:cNvPicPr>
            <a:picLocks noChangeAspect="1"/>
          </p:cNvPicPr>
          <p:nvPr/>
        </p:nvPicPr>
        <p:blipFill>
          <a:blip r:embed="rId9"/>
          <a:stretch>
            <a:fillRect/>
          </a:stretch>
        </p:blipFill>
        <p:spPr>
          <a:xfrm>
            <a:off x="7131546" y="1265932"/>
            <a:ext cx="571500" cy="457200"/>
          </a:xfrm>
          <a:prstGeom prst="rect">
            <a:avLst/>
          </a:prstGeom>
        </p:spPr>
      </p:pic>
      <p:pic>
        <p:nvPicPr>
          <p:cNvPr id="9" name="Image 7" descr="preencoded.png"/>
          <p:cNvPicPr>
            <a:picLocks noChangeAspect="1"/>
          </p:cNvPicPr>
          <p:nvPr/>
        </p:nvPicPr>
        <p:blipFill>
          <a:blip r:embed="rId10"/>
          <a:stretch>
            <a:fillRect/>
          </a:stretch>
        </p:blipFill>
        <p:spPr>
          <a:xfrm>
            <a:off x="5166866" y="4809232"/>
            <a:ext cx="171450" cy="190500"/>
          </a:xfrm>
          <a:prstGeom prst="rect">
            <a:avLst/>
          </a:prstGeom>
        </p:spPr>
      </p:pic>
      <p:pic>
        <p:nvPicPr>
          <p:cNvPr id="10" name="Image 8" descr="preencoded.png"/>
          <p:cNvPicPr>
            <a:picLocks noChangeAspect="1"/>
          </p:cNvPicPr>
          <p:nvPr/>
        </p:nvPicPr>
        <p:blipFill>
          <a:blip r:embed="rId11"/>
          <a:stretch>
            <a:fillRect/>
          </a:stretch>
        </p:blipFill>
        <p:spPr>
          <a:xfrm>
            <a:off x="0" y="6303764"/>
            <a:ext cx="12192000" cy="554236"/>
          </a:xfrm>
          <a:prstGeom prst="rect">
            <a:avLst/>
          </a:prstGeom>
        </p:spPr>
      </p:pic>
      <p:sp>
        <p:nvSpPr>
          <p:cNvPr id="11" name="Text 0"/>
          <p:cNvSpPr/>
          <p:nvPr/>
        </p:nvSpPr>
        <p:spPr>
          <a:xfrm>
            <a:off x="4245173" y="1799332"/>
            <a:ext cx="664547" cy="190500"/>
          </a:xfrm>
          <a:prstGeom prst="rect">
            <a:avLst/>
          </a:prstGeom>
          <a:noFill/>
          <a:ln/>
        </p:spPr>
        <p:txBody>
          <a:bodyPr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Neurons</a:t>
            </a:r>
            <a:endParaRPr lang="en-US" sz="1050" dirty="0"/>
          </a:p>
        </p:txBody>
      </p:sp>
      <p:sp>
        <p:nvSpPr>
          <p:cNvPr id="12" name="Text 1"/>
          <p:cNvSpPr/>
          <p:nvPr/>
        </p:nvSpPr>
        <p:spPr>
          <a:xfrm>
            <a:off x="5408563" y="1799332"/>
            <a:ext cx="1043702" cy="190500"/>
          </a:xfrm>
          <a:prstGeom prst="rect">
            <a:avLst/>
          </a:prstGeom>
          <a:noFill/>
          <a:ln/>
        </p:spPr>
        <p:txBody>
          <a:bodyPr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Transformers</a:t>
            </a:r>
            <a:endParaRPr lang="en-US" sz="1050" dirty="0"/>
          </a:p>
        </p:txBody>
      </p:sp>
      <p:sp>
        <p:nvSpPr>
          <p:cNvPr id="13" name="Text 2"/>
          <p:cNvSpPr/>
          <p:nvPr/>
        </p:nvSpPr>
        <p:spPr>
          <a:xfrm>
            <a:off x="6887914" y="1799332"/>
            <a:ext cx="1270695" cy="190500"/>
          </a:xfrm>
          <a:prstGeom prst="rect">
            <a:avLst/>
          </a:prstGeom>
          <a:noFill/>
          <a:ln/>
        </p:spPr>
        <p:txBody>
          <a:bodyPr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Implementation</a:t>
            </a:r>
            <a:endParaRPr lang="en-US" sz="1050" dirty="0"/>
          </a:p>
        </p:txBody>
      </p:sp>
      <p:sp>
        <p:nvSpPr>
          <p:cNvPr id="14" name="Text 3"/>
          <p:cNvSpPr/>
          <p:nvPr/>
        </p:nvSpPr>
        <p:spPr>
          <a:xfrm>
            <a:off x="332259" y="2370832"/>
            <a:ext cx="11527334" cy="571500"/>
          </a:xfrm>
          <a:prstGeom prst="rect">
            <a:avLst/>
          </a:prstGeom>
          <a:noFill/>
          <a:ln/>
        </p:spPr>
        <p:txBody>
          <a:bodyPr wrap="square" lIns="0" tIns="0" rIns="0" bIns="0" rtlCol="0" anchor="t"/>
          <a:lstStyle/>
          <a:p>
            <a:pPr marL="0" indent="0" algn="ctr">
              <a:lnSpc>
                <a:spcPts val="4500"/>
              </a:lnSpc>
              <a:buNone/>
            </a:pPr>
            <a:r>
              <a:rPr lang="en-US" sz="3600" b="1" dirty="0">
                <a:solidFill>
                  <a:srgbClr val="1F2937"/>
                </a:solidFill>
                <a:latin typeface="ui-sans-serif" pitchFamily="34" charset="0"/>
                <a:ea typeface="ui-sans-serif" pitchFamily="34" charset="-122"/>
                <a:cs typeface="ui-sans-serif" pitchFamily="34" charset="-120"/>
              </a:rPr>
              <a:t>From First Principles to Transformers</a:t>
            </a:r>
            <a:endParaRPr lang="en-US" sz="3600" dirty="0"/>
          </a:p>
        </p:txBody>
      </p:sp>
      <p:sp>
        <p:nvSpPr>
          <p:cNvPr id="15" name="Text 4"/>
          <p:cNvSpPr/>
          <p:nvPr/>
        </p:nvSpPr>
        <p:spPr>
          <a:xfrm>
            <a:off x="-148530" y="3247132"/>
            <a:ext cx="12489061" cy="419100"/>
          </a:xfrm>
          <a:prstGeom prst="rect">
            <a:avLst/>
          </a:prstGeom>
          <a:noFill/>
          <a:ln/>
        </p:spPr>
        <p:txBody>
          <a:bodyPr wrap="square" lIns="0" tIns="0" rIns="0" bIns="0" rtlCol="0" anchor="t"/>
          <a:lstStyle/>
          <a:p>
            <a:pPr marL="0" indent="0" algn="ctr">
              <a:lnSpc>
                <a:spcPts val="2700"/>
              </a:lnSpc>
              <a:buNone/>
            </a:pPr>
            <a:r>
              <a:rPr lang="en-US" sz="2250" b="1" dirty="0">
                <a:solidFill>
                  <a:srgbClr val="374151"/>
                </a:solidFill>
                <a:latin typeface="ui-sans-serif" pitchFamily="34" charset="0"/>
                <a:ea typeface="ui-sans-serif" pitchFamily="34" charset="-122"/>
                <a:cs typeface="ui-sans-serif" pitchFamily="34" charset="-120"/>
              </a:rPr>
              <a:t>Building &amp; Optimizing NLP Systems for Engineering Applications</a:t>
            </a:r>
            <a:endParaRPr lang="en-US" sz="2250" dirty="0"/>
          </a:p>
        </p:txBody>
      </p:sp>
      <p:sp>
        <p:nvSpPr>
          <p:cNvPr id="16" name="Text 5"/>
          <p:cNvSpPr/>
          <p:nvPr/>
        </p:nvSpPr>
        <p:spPr>
          <a:xfrm>
            <a:off x="3870573" y="4428232"/>
            <a:ext cx="5341025" cy="266700"/>
          </a:xfrm>
          <a:prstGeom prst="rect">
            <a:avLst/>
          </a:prstGeom>
          <a:noFill/>
          <a:ln/>
        </p:spPr>
        <p:txBody>
          <a:bodyPr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Course:</a:t>
            </a:r>
            <a:r>
              <a:rPr lang="en-US" sz="1500" dirty="0">
                <a:solidFill>
                  <a:srgbClr val="374151"/>
                </a:solidFill>
                <a:latin typeface="ui-sans-serif" pitchFamily="34" charset="0"/>
                <a:ea typeface="ui-sans-serif" pitchFamily="34" charset="-122"/>
                <a:cs typeface="ui-sans-serif" pitchFamily="34" charset="-120"/>
              </a:rPr>
              <a:t> ELG 5255 - Applied Machine Learning</a:t>
            </a:r>
            <a:endParaRPr lang="en-US" sz="1500" dirty="0"/>
          </a:p>
        </p:txBody>
      </p:sp>
      <p:sp>
        <p:nvSpPr>
          <p:cNvPr id="17" name="Text 6"/>
          <p:cNvSpPr/>
          <p:nvPr/>
        </p:nvSpPr>
        <p:spPr>
          <a:xfrm>
            <a:off x="5414516" y="4771132"/>
            <a:ext cx="2229922" cy="266700"/>
          </a:xfrm>
          <a:prstGeom prst="rect">
            <a:avLst/>
          </a:prstGeom>
          <a:noFill/>
          <a:ln/>
        </p:spPr>
        <p:txBody>
          <a:bodyPr wrap="square" lIns="0" tIns="0" rIns="0" bIns="0" rtlCol="0" anchor="t"/>
          <a:lstStyle/>
          <a:p>
            <a:pPr marL="0" indent="0">
              <a:lnSpc>
                <a:spcPts val="2100"/>
              </a:lnSpc>
              <a:buNone/>
            </a:pPr>
            <a:r>
              <a:rPr lang="en-US" sz="1500" dirty="0">
                <a:solidFill>
                  <a:srgbClr val="374151"/>
                </a:solidFill>
                <a:latin typeface="ui-sans-serif" pitchFamily="34" charset="0"/>
                <a:ea typeface="ui-sans-serif" pitchFamily="34" charset="-122"/>
                <a:cs typeface="ui-sans-serif" pitchFamily="34" charset="-120"/>
              </a:rPr>
              <a:t> October 7, 2025</a:t>
            </a:r>
            <a:endParaRPr lang="en-US" sz="1500" dirty="0"/>
          </a:p>
        </p:txBody>
      </p:sp>
      <p:sp>
        <p:nvSpPr>
          <p:cNvPr id="18" name="TextBox 17">
            <a:extLst>
              <a:ext uri="{FF2B5EF4-FFF2-40B4-BE49-F238E27FC236}">
                <a16:creationId xmlns:a16="http://schemas.microsoft.com/office/drawing/2014/main" id="{0B73130D-2C3C-3CEA-61E0-F435943507BA}"/>
              </a:ext>
            </a:extLst>
          </p:cNvPr>
          <p:cNvSpPr txBox="1"/>
          <p:nvPr/>
        </p:nvSpPr>
        <p:spPr>
          <a:xfrm>
            <a:off x="3649579" y="3810000"/>
            <a:ext cx="4379495" cy="369332"/>
          </a:xfrm>
          <a:prstGeom prst="rect">
            <a:avLst/>
          </a:prstGeom>
          <a:noFill/>
        </p:spPr>
        <p:txBody>
          <a:bodyPr wrap="square" rtlCol="0">
            <a:spAutoFit/>
          </a:bodyPr>
          <a:lstStyle/>
          <a:p>
            <a:r>
              <a:rPr lang="en-CA" dirty="0"/>
              <a:t>Group Member: Mohammad - 300480272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0" y="0"/>
            <a:ext cx="12192000" cy="7124700"/>
          </a:xfrm>
          <a:prstGeom prst="rect">
            <a:avLst/>
          </a:prstGeom>
        </p:spPr>
      </p:pic>
      <p:pic>
        <p:nvPicPr>
          <p:cNvPr id="3" name="Image 1" descr="preencoded.png"/>
          <p:cNvPicPr>
            <a:picLocks noChangeAspect="1"/>
          </p:cNvPicPr>
          <p:nvPr/>
        </p:nvPicPr>
        <p:blipFill>
          <a:blip r:embed="rId5"/>
          <a:stretch>
            <a:fillRect/>
          </a:stretch>
        </p:blipFill>
        <p:spPr>
          <a:xfrm>
            <a:off x="0" y="0"/>
            <a:ext cx="12192000" cy="7124700"/>
          </a:xfrm>
          <a:prstGeom prst="rect">
            <a:avLst/>
          </a:prstGeom>
        </p:spPr>
      </p:pic>
      <p:pic>
        <p:nvPicPr>
          <p:cNvPr id="4" name="Image 2" descr="preencoded.png"/>
          <p:cNvPicPr>
            <a:picLocks noChangeAspect="1"/>
          </p:cNvPicPr>
          <p:nvPr/>
        </p:nvPicPr>
        <p:blipFill>
          <a:blip r:embed="rId6"/>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7"/>
          <a:stretch>
            <a:fillRect/>
          </a:stretch>
        </p:blipFill>
        <p:spPr>
          <a:xfrm>
            <a:off x="381000" y="1181100"/>
            <a:ext cx="11430000" cy="1104900"/>
          </a:xfrm>
          <a:prstGeom prst="rect">
            <a:avLst/>
          </a:prstGeom>
        </p:spPr>
      </p:pic>
      <p:pic>
        <p:nvPicPr>
          <p:cNvPr id="6" name="Image 4" descr="preencoded.png"/>
          <p:cNvPicPr>
            <a:picLocks noChangeAspect="1"/>
          </p:cNvPicPr>
          <p:nvPr/>
        </p:nvPicPr>
        <p:blipFill>
          <a:blip r:embed="rId8"/>
          <a:stretch>
            <a:fillRect/>
          </a:stretch>
        </p:blipFill>
        <p:spPr>
          <a:xfrm>
            <a:off x="381000" y="2590800"/>
            <a:ext cx="3657600" cy="2438400"/>
          </a:xfrm>
          <a:prstGeom prst="rect">
            <a:avLst/>
          </a:prstGeom>
        </p:spPr>
      </p:pic>
      <p:pic>
        <p:nvPicPr>
          <p:cNvPr id="7" name="Image 5" descr="preencoded.png"/>
          <p:cNvPicPr>
            <a:picLocks noChangeAspect="1"/>
          </p:cNvPicPr>
          <p:nvPr/>
        </p:nvPicPr>
        <p:blipFill>
          <a:blip r:embed="rId9"/>
          <a:stretch>
            <a:fillRect/>
          </a:stretch>
        </p:blipFill>
        <p:spPr>
          <a:xfrm>
            <a:off x="571500" y="2781300"/>
            <a:ext cx="609600" cy="609600"/>
          </a:xfrm>
          <a:prstGeom prst="rect">
            <a:avLst/>
          </a:prstGeom>
        </p:spPr>
      </p:pic>
      <p:pic>
        <p:nvPicPr>
          <p:cNvPr id="8" name="Image 6" descr="preencoded.png"/>
          <p:cNvPicPr>
            <a:picLocks noChangeAspect="1"/>
          </p:cNvPicPr>
          <p:nvPr/>
        </p:nvPicPr>
        <p:blipFill>
          <a:blip r:embed="rId10"/>
          <a:stretch>
            <a:fillRect/>
          </a:stretch>
        </p:blipFill>
        <p:spPr>
          <a:xfrm>
            <a:off x="762000" y="2933700"/>
            <a:ext cx="228600" cy="304800"/>
          </a:xfrm>
          <a:prstGeom prst="rect">
            <a:avLst/>
          </a:prstGeom>
        </p:spPr>
      </p:pic>
      <p:pic>
        <p:nvPicPr>
          <p:cNvPr id="9" name="Image 7" descr="preencoded.png"/>
          <p:cNvPicPr>
            <a:picLocks noChangeAspect="1"/>
          </p:cNvPicPr>
          <p:nvPr/>
        </p:nvPicPr>
        <p:blipFill>
          <a:blip r:embed="rId8"/>
          <a:stretch>
            <a:fillRect/>
          </a:stretch>
        </p:blipFill>
        <p:spPr>
          <a:xfrm>
            <a:off x="4267200" y="2590800"/>
            <a:ext cx="3657600" cy="2438400"/>
          </a:xfrm>
          <a:prstGeom prst="rect">
            <a:avLst/>
          </a:prstGeom>
        </p:spPr>
      </p:pic>
      <p:pic>
        <p:nvPicPr>
          <p:cNvPr id="10" name="Image 8" descr="preencoded.png"/>
          <p:cNvPicPr>
            <a:picLocks noChangeAspect="1"/>
          </p:cNvPicPr>
          <p:nvPr/>
        </p:nvPicPr>
        <p:blipFill>
          <a:blip r:embed="rId11"/>
          <a:stretch>
            <a:fillRect/>
          </a:stretch>
        </p:blipFill>
        <p:spPr>
          <a:xfrm>
            <a:off x="4457700" y="2781300"/>
            <a:ext cx="609600" cy="609600"/>
          </a:xfrm>
          <a:prstGeom prst="rect">
            <a:avLst/>
          </a:prstGeom>
        </p:spPr>
      </p:pic>
      <p:pic>
        <p:nvPicPr>
          <p:cNvPr id="11" name="Image 9" descr="preencoded.png"/>
          <p:cNvPicPr>
            <a:picLocks noChangeAspect="1"/>
          </p:cNvPicPr>
          <p:nvPr/>
        </p:nvPicPr>
        <p:blipFill>
          <a:blip r:embed="rId12"/>
          <a:stretch>
            <a:fillRect/>
          </a:stretch>
        </p:blipFill>
        <p:spPr>
          <a:xfrm>
            <a:off x="4648200" y="2933700"/>
            <a:ext cx="228600" cy="304800"/>
          </a:xfrm>
          <a:prstGeom prst="rect">
            <a:avLst/>
          </a:prstGeom>
        </p:spPr>
      </p:pic>
      <p:pic>
        <p:nvPicPr>
          <p:cNvPr id="12" name="Image 10" descr="preencoded.png"/>
          <p:cNvPicPr>
            <a:picLocks noChangeAspect="1"/>
          </p:cNvPicPr>
          <p:nvPr/>
        </p:nvPicPr>
        <p:blipFill>
          <a:blip r:embed="rId8"/>
          <a:stretch>
            <a:fillRect/>
          </a:stretch>
        </p:blipFill>
        <p:spPr>
          <a:xfrm>
            <a:off x="8153400" y="2590800"/>
            <a:ext cx="3657600" cy="2438400"/>
          </a:xfrm>
          <a:prstGeom prst="rect">
            <a:avLst/>
          </a:prstGeom>
        </p:spPr>
      </p:pic>
      <p:pic>
        <p:nvPicPr>
          <p:cNvPr id="13" name="Image 11" descr="preencoded.png"/>
          <p:cNvPicPr>
            <a:picLocks noChangeAspect="1"/>
          </p:cNvPicPr>
          <p:nvPr/>
        </p:nvPicPr>
        <p:blipFill>
          <a:blip r:embed="rId13"/>
          <a:stretch>
            <a:fillRect/>
          </a:stretch>
        </p:blipFill>
        <p:spPr>
          <a:xfrm>
            <a:off x="8343900" y="2781300"/>
            <a:ext cx="609600" cy="609600"/>
          </a:xfrm>
          <a:prstGeom prst="rect">
            <a:avLst/>
          </a:prstGeom>
        </p:spPr>
      </p:pic>
      <p:pic>
        <p:nvPicPr>
          <p:cNvPr id="14" name="Image 12" descr="preencoded.png"/>
          <p:cNvPicPr>
            <a:picLocks noChangeAspect="1"/>
          </p:cNvPicPr>
          <p:nvPr/>
        </p:nvPicPr>
        <p:blipFill>
          <a:blip r:embed="rId14"/>
          <a:stretch>
            <a:fillRect/>
          </a:stretch>
        </p:blipFill>
        <p:spPr>
          <a:xfrm>
            <a:off x="8505825" y="2933700"/>
            <a:ext cx="285750" cy="304800"/>
          </a:xfrm>
          <a:prstGeom prst="rect">
            <a:avLst/>
          </a:prstGeom>
        </p:spPr>
      </p:pic>
      <p:pic>
        <p:nvPicPr>
          <p:cNvPr id="15" name="Image 13" descr="preencoded.png"/>
          <p:cNvPicPr>
            <a:picLocks noChangeAspect="1"/>
          </p:cNvPicPr>
          <p:nvPr/>
        </p:nvPicPr>
        <p:blipFill>
          <a:blip r:embed="rId15"/>
          <a:stretch>
            <a:fillRect/>
          </a:stretch>
        </p:blipFill>
        <p:spPr>
          <a:xfrm>
            <a:off x="381000" y="5504420"/>
            <a:ext cx="11430000" cy="1409700"/>
          </a:xfrm>
          <a:prstGeom prst="rect">
            <a:avLst/>
          </a:prstGeom>
        </p:spPr>
      </p:pic>
      <p:sp>
        <p:nvSpPr>
          <p:cNvPr id="16" name="Text 0"/>
          <p:cNvSpPr/>
          <p:nvPr/>
        </p:nvSpPr>
        <p:spPr>
          <a:xfrm>
            <a:off x="381000" y="381000"/>
            <a:ext cx="13716000" cy="381000"/>
          </a:xfrm>
          <a:prstGeom prst="rect">
            <a:avLst/>
          </a:prstGeom>
          <a:noFill/>
          <a:ln/>
        </p:spPr>
        <p:txBody>
          <a:bodyPr wrap="square" lIns="0" tIns="0" rIns="0" bIns="0" rtlCol="0" anchor="t"/>
          <a:lstStyle/>
          <a:p>
            <a:pPr marL="0" indent="0">
              <a:lnSpc>
                <a:spcPts val="3000"/>
              </a:lnSpc>
              <a:buNone/>
            </a:pPr>
            <a:r>
              <a:rPr lang="en-US" sz="2700" b="1" dirty="0">
                <a:solidFill>
                  <a:srgbClr val="008080"/>
                </a:solidFill>
                <a:latin typeface="Roboto" pitchFamily="34" charset="0"/>
                <a:ea typeface="Roboto" pitchFamily="34" charset="-122"/>
                <a:cs typeface="Roboto" pitchFamily="34" charset="-120"/>
              </a:rPr>
              <a:t>The Core Argument - NLP is a Modern ECE Competency</a:t>
            </a:r>
            <a:endParaRPr lang="en-US" sz="2700" dirty="0"/>
          </a:p>
        </p:txBody>
      </p:sp>
      <p:sp>
        <p:nvSpPr>
          <p:cNvPr id="17" name="Text 1"/>
          <p:cNvSpPr/>
          <p:nvPr/>
        </p:nvSpPr>
        <p:spPr>
          <a:xfrm>
            <a:off x="609600" y="1428750"/>
            <a:ext cx="7764363" cy="257175"/>
          </a:xfrm>
          <a:prstGeom prst="rect">
            <a:avLst/>
          </a:prstGeom>
          <a:noFill/>
          <a:ln/>
        </p:spPr>
        <p:txBody>
          <a:bodyPr wrap="square" lIns="0" tIns="0" rIns="0" bIns="0" rtlCol="0" anchor="t"/>
          <a:lstStyle/>
          <a:p>
            <a:pPr marL="0" indent="0">
              <a:lnSpc>
                <a:spcPts val="2400"/>
              </a:lnSpc>
              <a:buNone/>
            </a:pPr>
            <a:r>
              <a:rPr lang="en-US" sz="1800" b="1" dirty="0">
                <a:solidFill>
                  <a:srgbClr val="FFA07A"/>
                </a:solidFill>
                <a:latin typeface="Roboto" pitchFamily="34" charset="0"/>
                <a:ea typeface="Roboto" pitchFamily="34" charset="-122"/>
                <a:cs typeface="Roboto" pitchFamily="34" charset="-120"/>
              </a:rPr>
              <a:t>Generative AI is Reshoring the Engineering Software Stack.</a:t>
            </a:r>
            <a:endParaRPr lang="en-US" sz="1800" dirty="0"/>
          </a:p>
        </p:txBody>
      </p:sp>
      <p:sp>
        <p:nvSpPr>
          <p:cNvPr id="18" name="Text 2"/>
          <p:cNvSpPr/>
          <p:nvPr/>
        </p:nvSpPr>
        <p:spPr>
          <a:xfrm>
            <a:off x="609600" y="1790700"/>
            <a:ext cx="13167360" cy="266700"/>
          </a:xfrm>
          <a:prstGeom prst="rect">
            <a:avLst/>
          </a:prstGeom>
          <a:noFill/>
          <a:ln/>
        </p:spPr>
        <p:txBody>
          <a:bodyPr wrap="square" lIns="0" tIns="0" rIns="0" bIns="0" rtlCol="0" anchor="t"/>
          <a:lstStyle/>
          <a:p>
            <a:pPr marL="0" indent="0">
              <a:lnSpc>
                <a:spcPts val="2100"/>
              </a:lnSpc>
              <a:buNone/>
            </a:pPr>
            <a:r>
              <a:rPr lang="en-US" sz="1350" dirty="0">
                <a:solidFill>
                  <a:srgbClr val="36454F"/>
                </a:solidFill>
                <a:latin typeface="Roboto" pitchFamily="34" charset="0"/>
                <a:ea typeface="Roboto" pitchFamily="34" charset="-122"/>
                <a:cs typeface="Roboto" pitchFamily="34" charset="-120"/>
              </a:rPr>
              <a:t>The interface to modern engineering software is no longer just buttons and menus—it's a language model.</a:t>
            </a:r>
            <a:endParaRPr lang="en-US" sz="1350" dirty="0"/>
          </a:p>
        </p:txBody>
      </p:sp>
      <p:sp>
        <p:nvSpPr>
          <p:cNvPr id="19" name="Text 3"/>
          <p:cNvSpPr/>
          <p:nvPr/>
        </p:nvSpPr>
        <p:spPr>
          <a:xfrm>
            <a:off x="571500" y="3543300"/>
            <a:ext cx="3931920" cy="266700"/>
          </a:xfrm>
          <a:prstGeom prst="rect">
            <a:avLst/>
          </a:prstGeom>
          <a:noFill/>
          <a:ln/>
        </p:spPr>
        <p:txBody>
          <a:bodyPr wrap="square" lIns="0" tIns="0" rIns="0" bIns="0" rtlCol="0" anchor="t"/>
          <a:lstStyle/>
          <a:p>
            <a:pPr marL="0" indent="0">
              <a:lnSpc>
                <a:spcPts val="2100"/>
              </a:lnSpc>
              <a:buNone/>
            </a:pPr>
            <a:r>
              <a:rPr lang="en-US" sz="1500" b="1" dirty="0">
                <a:solidFill>
                  <a:srgbClr val="36454F"/>
                </a:solidFill>
                <a:latin typeface="Roboto" pitchFamily="34" charset="0"/>
                <a:ea typeface="Roboto" pitchFamily="34" charset="-122"/>
                <a:cs typeface="Roboto" pitchFamily="34" charset="-120"/>
              </a:rPr>
              <a:t>CAD tools with AI assistants</a:t>
            </a:r>
            <a:endParaRPr lang="en-US" sz="1500" dirty="0"/>
          </a:p>
        </p:txBody>
      </p:sp>
      <p:sp>
        <p:nvSpPr>
          <p:cNvPr id="20" name="Text 4"/>
          <p:cNvSpPr/>
          <p:nvPr/>
        </p:nvSpPr>
        <p:spPr>
          <a:xfrm>
            <a:off x="571500" y="3886200"/>
            <a:ext cx="3276600" cy="685800"/>
          </a:xfrm>
          <a:prstGeom prst="rect">
            <a:avLst/>
          </a:prstGeom>
          <a:noFill/>
          <a:ln/>
        </p:spPr>
        <p:txBody>
          <a:bodyPr wrap="square" lIns="0" tIns="0" rIns="0" bIns="0" rtlCol="0" anchor="t"/>
          <a:lstStyle/>
          <a:p>
            <a:pPr marL="0" indent="0">
              <a:lnSpc>
                <a:spcPts val="1800"/>
              </a:lnSpc>
              <a:buNone/>
            </a:pPr>
            <a:r>
              <a:rPr lang="en-US" sz="1200" dirty="0">
                <a:solidFill>
                  <a:srgbClr val="374151"/>
                </a:solidFill>
                <a:latin typeface="Roboto" pitchFamily="34" charset="0"/>
                <a:ea typeface="Roboto" pitchFamily="34" charset="-122"/>
                <a:cs typeface="Roboto" pitchFamily="34" charset="-120"/>
              </a:rPr>
              <a:t>AI-powered assistants enhancing CAD software, streamlining design processes with intelligent suggestions.</a:t>
            </a:r>
            <a:endParaRPr lang="en-US" sz="1200" dirty="0"/>
          </a:p>
        </p:txBody>
      </p:sp>
      <p:sp>
        <p:nvSpPr>
          <p:cNvPr id="21" name="Text 5"/>
          <p:cNvSpPr/>
          <p:nvPr/>
        </p:nvSpPr>
        <p:spPr>
          <a:xfrm>
            <a:off x="4457700" y="3543300"/>
            <a:ext cx="3276600" cy="533400"/>
          </a:xfrm>
          <a:prstGeom prst="rect">
            <a:avLst/>
          </a:prstGeom>
          <a:noFill/>
          <a:ln/>
        </p:spPr>
        <p:txBody>
          <a:bodyPr wrap="square" lIns="0" tIns="0" rIns="0" bIns="0" rtlCol="0" anchor="t"/>
          <a:lstStyle/>
          <a:p>
            <a:pPr marL="0" indent="0">
              <a:lnSpc>
                <a:spcPts val="2100"/>
              </a:lnSpc>
              <a:buNone/>
            </a:pPr>
            <a:r>
              <a:rPr lang="en-US" sz="1500" b="1" dirty="0">
                <a:solidFill>
                  <a:srgbClr val="36454F"/>
                </a:solidFill>
                <a:latin typeface="Roboto" pitchFamily="34" charset="0"/>
                <a:ea typeface="Roboto" pitchFamily="34" charset="-122"/>
                <a:cs typeface="Roboto" pitchFamily="34" charset="-120"/>
              </a:rPr>
              <a:t>Embedded systems with voice control</a:t>
            </a:r>
            <a:endParaRPr lang="en-US" sz="1500" dirty="0"/>
          </a:p>
        </p:txBody>
      </p:sp>
      <p:sp>
        <p:nvSpPr>
          <p:cNvPr id="22" name="Text 6"/>
          <p:cNvSpPr/>
          <p:nvPr/>
        </p:nvSpPr>
        <p:spPr>
          <a:xfrm>
            <a:off x="4457700" y="4152900"/>
            <a:ext cx="3276600" cy="685800"/>
          </a:xfrm>
          <a:prstGeom prst="rect">
            <a:avLst/>
          </a:prstGeom>
          <a:noFill/>
          <a:ln/>
        </p:spPr>
        <p:txBody>
          <a:bodyPr wrap="square" lIns="0" tIns="0" rIns="0" bIns="0" rtlCol="0" anchor="t"/>
          <a:lstStyle/>
          <a:p>
            <a:pPr marL="0" indent="0">
              <a:lnSpc>
                <a:spcPts val="1800"/>
              </a:lnSpc>
              <a:buNone/>
            </a:pPr>
            <a:r>
              <a:rPr lang="en-US" sz="1200" dirty="0">
                <a:solidFill>
                  <a:srgbClr val="374151"/>
                </a:solidFill>
                <a:latin typeface="Roboto" pitchFamily="34" charset="0"/>
                <a:ea typeface="Roboto" pitchFamily="34" charset="-122"/>
                <a:cs typeface="Roboto" pitchFamily="34" charset="-120"/>
              </a:rPr>
              <a:t>Voice control capabilities enabling more intuitive and hands-free operation of embedded systems.</a:t>
            </a:r>
            <a:endParaRPr lang="en-US" sz="1200" dirty="0"/>
          </a:p>
        </p:txBody>
      </p:sp>
      <p:sp>
        <p:nvSpPr>
          <p:cNvPr id="23" name="Text 7"/>
          <p:cNvSpPr/>
          <p:nvPr/>
        </p:nvSpPr>
        <p:spPr>
          <a:xfrm>
            <a:off x="8343900" y="3543300"/>
            <a:ext cx="3276600" cy="533400"/>
          </a:xfrm>
          <a:prstGeom prst="rect">
            <a:avLst/>
          </a:prstGeom>
          <a:noFill/>
          <a:ln/>
        </p:spPr>
        <p:txBody>
          <a:bodyPr wrap="square" lIns="0" tIns="0" rIns="0" bIns="0" rtlCol="0" anchor="t"/>
          <a:lstStyle/>
          <a:p>
            <a:pPr marL="0" indent="0">
              <a:lnSpc>
                <a:spcPts val="2100"/>
              </a:lnSpc>
              <a:buNone/>
            </a:pPr>
            <a:r>
              <a:rPr lang="en-US" sz="1500" b="1" dirty="0">
                <a:solidFill>
                  <a:srgbClr val="36454F"/>
                </a:solidFill>
                <a:latin typeface="Roboto" pitchFamily="34" charset="0"/>
                <a:ea typeface="Roboto" pitchFamily="34" charset="-122"/>
                <a:cs typeface="Roboto" pitchFamily="34" charset="-120"/>
              </a:rPr>
              <a:t>Code generation with GitHub Copilot</a:t>
            </a:r>
            <a:endParaRPr lang="en-US" sz="1500" dirty="0"/>
          </a:p>
        </p:txBody>
      </p:sp>
      <p:sp>
        <p:nvSpPr>
          <p:cNvPr id="24" name="Text 8"/>
          <p:cNvSpPr/>
          <p:nvPr/>
        </p:nvSpPr>
        <p:spPr>
          <a:xfrm>
            <a:off x="8343900" y="4152900"/>
            <a:ext cx="3276600" cy="685800"/>
          </a:xfrm>
          <a:prstGeom prst="rect">
            <a:avLst/>
          </a:prstGeom>
          <a:noFill/>
          <a:ln/>
        </p:spPr>
        <p:txBody>
          <a:bodyPr wrap="square" lIns="0" tIns="0" rIns="0" bIns="0" rtlCol="0" anchor="t"/>
          <a:lstStyle/>
          <a:p>
            <a:pPr marL="0" indent="0">
              <a:lnSpc>
                <a:spcPts val="1800"/>
              </a:lnSpc>
              <a:buNone/>
            </a:pPr>
            <a:r>
              <a:rPr lang="en-US" sz="1200" dirty="0">
                <a:solidFill>
                  <a:srgbClr val="374151"/>
                </a:solidFill>
                <a:latin typeface="Roboto" pitchFamily="34" charset="0"/>
                <a:ea typeface="Roboto" pitchFamily="34" charset="-122"/>
                <a:cs typeface="Roboto" pitchFamily="34" charset="-120"/>
              </a:rPr>
              <a:t>AI assistants like GitHub Copilot helping developers with coding, debugging, and documentation.</a:t>
            </a:r>
            <a:endParaRPr lang="en-US" sz="1200" dirty="0"/>
          </a:p>
        </p:txBody>
      </p:sp>
      <p:sp>
        <p:nvSpPr>
          <p:cNvPr id="25" name="Text 9"/>
          <p:cNvSpPr/>
          <p:nvPr/>
        </p:nvSpPr>
        <p:spPr>
          <a:xfrm>
            <a:off x="609600" y="5562600"/>
            <a:ext cx="10972800" cy="266700"/>
          </a:xfrm>
          <a:prstGeom prst="rect">
            <a:avLst/>
          </a:prstGeom>
          <a:noFill/>
          <a:ln/>
        </p:spPr>
        <p:txBody>
          <a:bodyPr wrap="square" lIns="0" tIns="0" rIns="0" bIns="0" rtlCol="0" anchor="t"/>
          <a:lstStyle/>
          <a:p>
            <a:pPr marL="0" indent="0">
              <a:lnSpc>
                <a:spcPts val="2100"/>
              </a:lnSpc>
              <a:buNone/>
            </a:pPr>
            <a:r>
              <a:rPr lang="en-US" sz="1500" b="1" dirty="0">
                <a:solidFill>
                  <a:srgbClr val="FFFFFF"/>
                </a:solidFill>
                <a:latin typeface="Roboto" pitchFamily="34" charset="0"/>
                <a:ea typeface="Roboto" pitchFamily="34" charset="-122"/>
                <a:cs typeface="Roboto" pitchFamily="34" charset="-120"/>
              </a:rPr>
              <a:t>Our Position:</a:t>
            </a:r>
            <a:endParaRPr lang="en-US" sz="1500" dirty="0"/>
          </a:p>
        </p:txBody>
      </p:sp>
      <p:sp>
        <p:nvSpPr>
          <p:cNvPr id="26" name="Text 10"/>
          <p:cNvSpPr/>
          <p:nvPr/>
        </p:nvSpPr>
        <p:spPr>
          <a:xfrm>
            <a:off x="609600" y="5943600"/>
            <a:ext cx="9012019" cy="190500"/>
          </a:xfrm>
          <a:prstGeom prst="rect">
            <a:avLst/>
          </a:prstGeom>
          <a:noFill/>
          <a:ln/>
        </p:spPr>
        <p:txBody>
          <a:bodyPr wrap="square" lIns="0" tIns="0" rIns="0" bIns="0" rtlCol="0" anchor="t"/>
          <a:lstStyle/>
          <a:p>
            <a:pPr marL="0" indent="0">
              <a:lnSpc>
                <a:spcPts val="2100"/>
              </a:lnSpc>
              <a:buNone/>
            </a:pPr>
            <a:r>
              <a:rPr lang="en-US" sz="1350" b="1" dirty="0">
                <a:solidFill>
                  <a:srgbClr val="FFFFFF"/>
                </a:solidFill>
                <a:latin typeface="Roboto" pitchFamily="34" charset="0"/>
                <a:ea typeface="Roboto" pitchFamily="34" charset="-122"/>
                <a:cs typeface="Roboto" pitchFamily="34" charset="-120"/>
              </a:rPr>
              <a:t>You cannot efficiently deploy, optimize, or integrate a system you do not deeply understand.</a:t>
            </a:r>
            <a:endParaRPr lang="en-US" sz="1350" dirty="0"/>
          </a:p>
        </p:txBody>
      </p:sp>
      <p:sp>
        <p:nvSpPr>
          <p:cNvPr id="27" name="Text 11"/>
          <p:cNvSpPr/>
          <p:nvPr/>
        </p:nvSpPr>
        <p:spPr>
          <a:xfrm>
            <a:off x="609600" y="6248400"/>
            <a:ext cx="13167360" cy="2667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Roboto" pitchFamily="34" charset="0"/>
                <a:ea typeface="Roboto" pitchFamily="34" charset="-122"/>
                <a:cs typeface="Roboto" pitchFamily="34" charset="-120"/>
              </a:rPr>
              <a:t>Therefore, building NLP systems from the ground up is a fundamental Computer Engineering skill.</a:t>
            </a:r>
          </a:p>
          <a:p>
            <a:pPr marL="0" indent="0">
              <a:lnSpc>
                <a:spcPts val="2100"/>
              </a:lnSpc>
              <a:buNone/>
            </a:pPr>
            <a:r>
              <a:rPr lang="en-US" sz="1350" dirty="0">
                <a:solidFill>
                  <a:srgbClr val="FFFFFF"/>
                </a:solidFill>
                <a:latin typeface="Roboto" pitchFamily="34" charset="0"/>
                <a:ea typeface="Roboto" pitchFamily="34" charset="-122"/>
                <a:cs typeface="Roboto" pitchFamily="34" charset="-120"/>
              </a:rPr>
              <a:t>Particularly helpful if we are working on novel solution, or which may require aggressive optimization.</a:t>
            </a:r>
            <a:endParaRPr lang="en-US" sz="1350" dirty="0"/>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086600"/>
          </a:xfrm>
          <a:prstGeom prst="rect">
            <a:avLst/>
          </a:prstGeom>
        </p:spPr>
      </p:pic>
      <p:pic>
        <p:nvPicPr>
          <p:cNvPr id="3" name="Image 1" descr="preencoded.png"/>
          <p:cNvPicPr>
            <a:picLocks noChangeAspect="1"/>
          </p:cNvPicPr>
          <p:nvPr/>
        </p:nvPicPr>
        <p:blipFill>
          <a:blip r:embed="rId4"/>
          <a:stretch>
            <a:fillRect/>
          </a:stretch>
        </p:blipFill>
        <p:spPr>
          <a:xfrm>
            <a:off x="0" y="0"/>
            <a:ext cx="12192000" cy="7086600"/>
          </a:xfrm>
          <a:prstGeom prst="rect">
            <a:avLst/>
          </a:prstGeom>
        </p:spPr>
      </p:pic>
      <p:pic>
        <p:nvPicPr>
          <p:cNvPr id="4" name="Image 2" descr="preencoded.png"/>
          <p:cNvPicPr>
            <a:picLocks noChangeAspect="1"/>
          </p:cNvPicPr>
          <p:nvPr/>
        </p:nvPicPr>
        <p:blipFill>
          <a:blip r:embed="rId5"/>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6"/>
          <a:stretch>
            <a:fillRect/>
          </a:stretch>
        </p:blipFill>
        <p:spPr>
          <a:xfrm>
            <a:off x="381000" y="1104900"/>
            <a:ext cx="11430000" cy="571500"/>
          </a:xfrm>
          <a:prstGeom prst="rect">
            <a:avLst/>
          </a:prstGeom>
        </p:spPr>
      </p:pic>
      <p:pic>
        <p:nvPicPr>
          <p:cNvPr id="6" name="Image 4" descr="preencoded.png"/>
          <p:cNvPicPr>
            <a:picLocks noChangeAspect="1"/>
          </p:cNvPicPr>
          <p:nvPr/>
        </p:nvPicPr>
        <p:blipFill>
          <a:blip r:embed="rId7"/>
          <a:stretch>
            <a:fillRect/>
          </a:stretch>
        </p:blipFill>
        <p:spPr>
          <a:xfrm>
            <a:off x="381000" y="1866900"/>
            <a:ext cx="304800" cy="304800"/>
          </a:xfrm>
          <a:prstGeom prst="rect">
            <a:avLst/>
          </a:prstGeom>
        </p:spPr>
      </p:pic>
      <p:pic>
        <p:nvPicPr>
          <p:cNvPr id="7" name="Image 5" descr="preencoded.png"/>
          <p:cNvPicPr>
            <a:picLocks noChangeAspect="1"/>
          </p:cNvPicPr>
          <p:nvPr/>
        </p:nvPicPr>
        <p:blipFill>
          <a:blip r:embed="rId8"/>
          <a:stretch>
            <a:fillRect/>
          </a:stretch>
        </p:blipFill>
        <p:spPr>
          <a:xfrm>
            <a:off x="381000" y="2933700"/>
            <a:ext cx="11430000" cy="38100"/>
          </a:xfrm>
          <a:prstGeom prst="rect">
            <a:avLst/>
          </a:prstGeom>
        </p:spPr>
      </p:pic>
      <p:pic>
        <p:nvPicPr>
          <p:cNvPr id="8" name="Image 6" descr="preencoded.png"/>
          <p:cNvPicPr>
            <a:picLocks noChangeAspect="1"/>
          </p:cNvPicPr>
          <p:nvPr/>
        </p:nvPicPr>
        <p:blipFill>
          <a:blip r:embed="rId9"/>
          <a:stretch>
            <a:fillRect/>
          </a:stretch>
        </p:blipFill>
        <p:spPr>
          <a:xfrm>
            <a:off x="381000" y="2324100"/>
            <a:ext cx="2286000" cy="1790700"/>
          </a:xfrm>
          <a:prstGeom prst="rect">
            <a:avLst/>
          </a:prstGeom>
        </p:spPr>
      </p:pic>
      <p:pic>
        <p:nvPicPr>
          <p:cNvPr id="9" name="Image 7" descr="preencoded.png"/>
          <p:cNvPicPr>
            <a:picLocks noChangeAspect="1"/>
          </p:cNvPicPr>
          <p:nvPr/>
        </p:nvPicPr>
        <p:blipFill>
          <a:blip r:embed="rId10"/>
          <a:stretch>
            <a:fillRect/>
          </a:stretch>
        </p:blipFill>
        <p:spPr>
          <a:xfrm>
            <a:off x="1295400" y="2476500"/>
            <a:ext cx="457200" cy="457200"/>
          </a:xfrm>
          <a:prstGeom prst="rect">
            <a:avLst/>
          </a:prstGeom>
        </p:spPr>
      </p:pic>
      <p:pic>
        <p:nvPicPr>
          <p:cNvPr id="10" name="Image 8" descr="preencoded.png"/>
          <p:cNvPicPr>
            <a:picLocks noChangeAspect="1"/>
          </p:cNvPicPr>
          <p:nvPr/>
        </p:nvPicPr>
        <p:blipFill>
          <a:blip r:embed="rId11"/>
          <a:stretch>
            <a:fillRect/>
          </a:stretch>
        </p:blipFill>
        <p:spPr>
          <a:xfrm>
            <a:off x="1404938" y="2571750"/>
            <a:ext cx="238125" cy="266700"/>
          </a:xfrm>
          <a:prstGeom prst="rect">
            <a:avLst/>
          </a:prstGeom>
        </p:spPr>
      </p:pic>
      <p:pic>
        <p:nvPicPr>
          <p:cNvPr id="11" name="Image 9" descr="preencoded.png"/>
          <p:cNvPicPr>
            <a:picLocks noChangeAspect="1"/>
          </p:cNvPicPr>
          <p:nvPr/>
        </p:nvPicPr>
        <p:blipFill>
          <a:blip r:embed="rId9"/>
          <a:stretch>
            <a:fillRect/>
          </a:stretch>
        </p:blipFill>
        <p:spPr>
          <a:xfrm>
            <a:off x="2667000" y="2324100"/>
            <a:ext cx="2286000" cy="1790700"/>
          </a:xfrm>
          <a:prstGeom prst="rect">
            <a:avLst/>
          </a:prstGeom>
        </p:spPr>
      </p:pic>
      <p:pic>
        <p:nvPicPr>
          <p:cNvPr id="12" name="Image 10" descr="preencoded.png"/>
          <p:cNvPicPr>
            <a:picLocks noChangeAspect="1"/>
          </p:cNvPicPr>
          <p:nvPr/>
        </p:nvPicPr>
        <p:blipFill>
          <a:blip r:embed="rId12"/>
          <a:stretch>
            <a:fillRect/>
          </a:stretch>
        </p:blipFill>
        <p:spPr>
          <a:xfrm>
            <a:off x="3581400" y="2476500"/>
            <a:ext cx="457200" cy="457200"/>
          </a:xfrm>
          <a:prstGeom prst="rect">
            <a:avLst/>
          </a:prstGeom>
        </p:spPr>
      </p:pic>
      <p:pic>
        <p:nvPicPr>
          <p:cNvPr id="13" name="Image 11" descr="preencoded.png"/>
          <p:cNvPicPr>
            <a:picLocks noChangeAspect="1"/>
          </p:cNvPicPr>
          <p:nvPr/>
        </p:nvPicPr>
        <p:blipFill>
          <a:blip r:embed="rId13"/>
          <a:stretch>
            <a:fillRect/>
          </a:stretch>
        </p:blipFill>
        <p:spPr>
          <a:xfrm>
            <a:off x="3714750" y="2571750"/>
            <a:ext cx="190500" cy="266700"/>
          </a:xfrm>
          <a:prstGeom prst="rect">
            <a:avLst/>
          </a:prstGeom>
        </p:spPr>
      </p:pic>
      <p:pic>
        <p:nvPicPr>
          <p:cNvPr id="14" name="Image 12" descr="preencoded.png"/>
          <p:cNvPicPr>
            <a:picLocks noChangeAspect="1"/>
          </p:cNvPicPr>
          <p:nvPr/>
        </p:nvPicPr>
        <p:blipFill>
          <a:blip r:embed="rId9"/>
          <a:stretch>
            <a:fillRect/>
          </a:stretch>
        </p:blipFill>
        <p:spPr>
          <a:xfrm>
            <a:off x="4953000" y="2324100"/>
            <a:ext cx="2286000" cy="1790700"/>
          </a:xfrm>
          <a:prstGeom prst="rect">
            <a:avLst/>
          </a:prstGeom>
        </p:spPr>
      </p:pic>
      <p:pic>
        <p:nvPicPr>
          <p:cNvPr id="15" name="Image 13" descr="preencoded.png"/>
          <p:cNvPicPr>
            <a:picLocks noChangeAspect="1"/>
          </p:cNvPicPr>
          <p:nvPr/>
        </p:nvPicPr>
        <p:blipFill>
          <a:blip r:embed="rId14"/>
          <a:stretch>
            <a:fillRect/>
          </a:stretch>
        </p:blipFill>
        <p:spPr>
          <a:xfrm>
            <a:off x="5867400" y="2476500"/>
            <a:ext cx="457200" cy="457200"/>
          </a:xfrm>
          <a:prstGeom prst="rect">
            <a:avLst/>
          </a:prstGeom>
        </p:spPr>
      </p:pic>
      <p:pic>
        <p:nvPicPr>
          <p:cNvPr id="16" name="Image 14" descr="preencoded.png"/>
          <p:cNvPicPr>
            <a:picLocks noChangeAspect="1"/>
          </p:cNvPicPr>
          <p:nvPr/>
        </p:nvPicPr>
        <p:blipFill>
          <a:blip r:embed="rId15"/>
          <a:stretch>
            <a:fillRect/>
          </a:stretch>
        </p:blipFill>
        <p:spPr>
          <a:xfrm>
            <a:off x="6010275" y="2571750"/>
            <a:ext cx="171450" cy="266700"/>
          </a:xfrm>
          <a:prstGeom prst="rect">
            <a:avLst/>
          </a:prstGeom>
        </p:spPr>
      </p:pic>
      <p:pic>
        <p:nvPicPr>
          <p:cNvPr id="17" name="Image 15" descr="preencoded.png"/>
          <p:cNvPicPr>
            <a:picLocks noChangeAspect="1"/>
          </p:cNvPicPr>
          <p:nvPr/>
        </p:nvPicPr>
        <p:blipFill>
          <a:blip r:embed="rId9"/>
          <a:stretch>
            <a:fillRect/>
          </a:stretch>
        </p:blipFill>
        <p:spPr>
          <a:xfrm>
            <a:off x="7239000" y="2324100"/>
            <a:ext cx="2286000" cy="1790700"/>
          </a:xfrm>
          <a:prstGeom prst="rect">
            <a:avLst/>
          </a:prstGeom>
        </p:spPr>
      </p:pic>
      <p:pic>
        <p:nvPicPr>
          <p:cNvPr id="18" name="Image 16" descr="preencoded.png"/>
          <p:cNvPicPr>
            <a:picLocks noChangeAspect="1"/>
          </p:cNvPicPr>
          <p:nvPr/>
        </p:nvPicPr>
        <p:blipFill>
          <a:blip r:embed="rId12"/>
          <a:stretch>
            <a:fillRect/>
          </a:stretch>
        </p:blipFill>
        <p:spPr>
          <a:xfrm>
            <a:off x="8153400" y="2476500"/>
            <a:ext cx="457200" cy="457200"/>
          </a:xfrm>
          <a:prstGeom prst="rect">
            <a:avLst/>
          </a:prstGeom>
        </p:spPr>
      </p:pic>
      <p:pic>
        <p:nvPicPr>
          <p:cNvPr id="19" name="Image 17" descr="preencoded.png"/>
          <p:cNvPicPr>
            <a:picLocks noChangeAspect="1"/>
          </p:cNvPicPr>
          <p:nvPr/>
        </p:nvPicPr>
        <p:blipFill>
          <a:blip r:embed="rId16"/>
          <a:stretch>
            <a:fillRect/>
          </a:stretch>
        </p:blipFill>
        <p:spPr>
          <a:xfrm>
            <a:off x="8272463" y="2571750"/>
            <a:ext cx="219075" cy="266700"/>
          </a:xfrm>
          <a:prstGeom prst="rect">
            <a:avLst/>
          </a:prstGeom>
        </p:spPr>
      </p:pic>
      <p:pic>
        <p:nvPicPr>
          <p:cNvPr id="20" name="Image 18" descr="preencoded.png"/>
          <p:cNvPicPr>
            <a:picLocks noChangeAspect="1"/>
          </p:cNvPicPr>
          <p:nvPr/>
        </p:nvPicPr>
        <p:blipFill>
          <a:blip r:embed="rId9"/>
          <a:stretch>
            <a:fillRect/>
          </a:stretch>
        </p:blipFill>
        <p:spPr>
          <a:xfrm>
            <a:off x="9525000" y="2324100"/>
            <a:ext cx="2286000" cy="1790700"/>
          </a:xfrm>
          <a:prstGeom prst="rect">
            <a:avLst/>
          </a:prstGeom>
        </p:spPr>
      </p:pic>
      <p:pic>
        <p:nvPicPr>
          <p:cNvPr id="21" name="Image 19" descr="preencoded.png"/>
          <p:cNvPicPr>
            <a:picLocks noChangeAspect="1"/>
          </p:cNvPicPr>
          <p:nvPr/>
        </p:nvPicPr>
        <p:blipFill>
          <a:blip r:embed="rId17"/>
          <a:stretch>
            <a:fillRect/>
          </a:stretch>
        </p:blipFill>
        <p:spPr>
          <a:xfrm>
            <a:off x="10439400" y="2476500"/>
            <a:ext cx="457200" cy="457200"/>
          </a:xfrm>
          <a:prstGeom prst="rect">
            <a:avLst/>
          </a:prstGeom>
        </p:spPr>
      </p:pic>
      <p:pic>
        <p:nvPicPr>
          <p:cNvPr id="22" name="Image 20" descr="preencoded.png"/>
          <p:cNvPicPr>
            <a:picLocks noChangeAspect="1"/>
          </p:cNvPicPr>
          <p:nvPr/>
        </p:nvPicPr>
        <p:blipFill>
          <a:blip r:embed="rId18"/>
          <a:stretch>
            <a:fillRect/>
          </a:stretch>
        </p:blipFill>
        <p:spPr>
          <a:xfrm>
            <a:off x="10572750" y="2571750"/>
            <a:ext cx="190500" cy="266700"/>
          </a:xfrm>
          <a:prstGeom prst="rect">
            <a:avLst/>
          </a:prstGeom>
        </p:spPr>
      </p:pic>
      <p:pic>
        <p:nvPicPr>
          <p:cNvPr id="23" name="Image 21" descr="preencoded.png"/>
          <p:cNvPicPr>
            <a:picLocks noChangeAspect="1"/>
          </p:cNvPicPr>
          <p:nvPr/>
        </p:nvPicPr>
        <p:blipFill>
          <a:blip r:embed="rId19"/>
          <a:stretch>
            <a:fillRect/>
          </a:stretch>
        </p:blipFill>
        <p:spPr>
          <a:xfrm>
            <a:off x="4953000" y="4391025"/>
            <a:ext cx="2286000" cy="1828800"/>
          </a:xfrm>
          <a:prstGeom prst="rect">
            <a:avLst/>
          </a:prstGeom>
        </p:spPr>
      </p:pic>
      <p:pic>
        <p:nvPicPr>
          <p:cNvPr id="24" name="Image 22" descr="preencoded.png"/>
          <p:cNvPicPr>
            <a:picLocks noChangeAspect="1"/>
          </p:cNvPicPr>
          <p:nvPr/>
        </p:nvPicPr>
        <p:blipFill>
          <a:blip r:embed="rId20"/>
          <a:stretch>
            <a:fillRect/>
          </a:stretch>
        </p:blipFill>
        <p:spPr>
          <a:xfrm>
            <a:off x="5867400" y="4543425"/>
            <a:ext cx="457200" cy="457200"/>
          </a:xfrm>
          <a:prstGeom prst="rect">
            <a:avLst/>
          </a:prstGeom>
        </p:spPr>
      </p:pic>
      <p:pic>
        <p:nvPicPr>
          <p:cNvPr id="25" name="Image 23" descr="preencoded.png"/>
          <p:cNvPicPr>
            <a:picLocks noChangeAspect="1"/>
          </p:cNvPicPr>
          <p:nvPr/>
        </p:nvPicPr>
        <p:blipFill>
          <a:blip r:embed="rId21"/>
          <a:stretch>
            <a:fillRect/>
          </a:stretch>
        </p:blipFill>
        <p:spPr>
          <a:xfrm>
            <a:off x="6000750" y="4638675"/>
            <a:ext cx="190500" cy="266700"/>
          </a:xfrm>
          <a:prstGeom prst="rect">
            <a:avLst/>
          </a:prstGeom>
        </p:spPr>
      </p:pic>
      <p:pic>
        <p:nvPicPr>
          <p:cNvPr id="26" name="Image 24" descr="preencoded.png"/>
          <p:cNvPicPr>
            <a:picLocks noChangeAspect="1"/>
          </p:cNvPicPr>
          <p:nvPr/>
        </p:nvPicPr>
        <p:blipFill>
          <a:blip r:embed="rId22"/>
          <a:stretch>
            <a:fillRect/>
          </a:stretch>
        </p:blipFill>
        <p:spPr>
          <a:xfrm>
            <a:off x="381000" y="6286500"/>
            <a:ext cx="11430000" cy="419100"/>
          </a:xfrm>
          <a:prstGeom prst="rect">
            <a:avLst/>
          </a:prstGeom>
        </p:spPr>
      </p:pic>
      <p:pic>
        <p:nvPicPr>
          <p:cNvPr id="27" name="Image 25" descr="preencoded.png"/>
          <p:cNvPicPr>
            <a:picLocks noChangeAspect="1"/>
          </p:cNvPicPr>
          <p:nvPr/>
        </p:nvPicPr>
        <p:blipFill>
          <a:blip r:embed="rId23"/>
          <a:stretch>
            <a:fillRect/>
          </a:stretch>
        </p:blipFill>
        <p:spPr>
          <a:xfrm>
            <a:off x="495300" y="6429375"/>
            <a:ext cx="104775" cy="133350"/>
          </a:xfrm>
          <a:prstGeom prst="rect">
            <a:avLst/>
          </a:prstGeom>
        </p:spPr>
      </p:pic>
      <p:sp>
        <p:nvSpPr>
          <p:cNvPr id="28" name="Text 0"/>
          <p:cNvSpPr/>
          <p:nvPr/>
        </p:nvSpPr>
        <p:spPr>
          <a:xfrm>
            <a:off x="381000" y="381000"/>
            <a:ext cx="13716000" cy="381000"/>
          </a:xfrm>
          <a:prstGeom prst="rect">
            <a:avLst/>
          </a:prstGeom>
          <a:noFill/>
          <a:ln/>
        </p:spPr>
        <p:txBody>
          <a:bodyPr wrap="square" lIns="0" tIns="0" rIns="0" bIns="0" rtlCol="0" anchor="t"/>
          <a:lstStyle/>
          <a:p>
            <a:pPr marL="0" indent="0">
              <a:lnSpc>
                <a:spcPts val="3000"/>
              </a:lnSpc>
              <a:buNone/>
            </a:pPr>
            <a:r>
              <a:rPr lang="en-US" sz="2700" b="1" dirty="0">
                <a:solidFill>
                  <a:srgbClr val="008080"/>
                </a:solidFill>
                <a:latin typeface="Roboto" pitchFamily="34" charset="0"/>
                <a:ea typeface="Roboto" pitchFamily="34" charset="-122"/>
                <a:cs typeface="Roboto" pitchFamily="34" charset="-120"/>
              </a:rPr>
              <a:t>State-of-the-Art Review (Focused Journey)</a:t>
            </a:r>
            <a:endParaRPr lang="en-US" sz="2700" dirty="0"/>
          </a:p>
        </p:txBody>
      </p:sp>
      <p:sp>
        <p:nvSpPr>
          <p:cNvPr id="29" name="Text 1"/>
          <p:cNvSpPr/>
          <p:nvPr/>
        </p:nvSpPr>
        <p:spPr>
          <a:xfrm>
            <a:off x="533400" y="1257300"/>
            <a:ext cx="13350240" cy="266700"/>
          </a:xfrm>
          <a:prstGeom prst="rect">
            <a:avLst/>
          </a:prstGeom>
          <a:noFill/>
          <a:ln/>
        </p:spPr>
        <p:txBody>
          <a:bodyPr wrap="square" lIns="0" tIns="0" rIns="0" bIns="0" rtlCol="0" anchor="t"/>
          <a:lstStyle/>
          <a:p>
            <a:pPr marL="0" indent="0">
              <a:lnSpc>
                <a:spcPts val="2100"/>
              </a:lnSpc>
              <a:buNone/>
            </a:pPr>
            <a:r>
              <a:rPr lang="en-US" sz="1350" b="1" dirty="0">
                <a:solidFill>
                  <a:srgbClr val="36454F"/>
                </a:solidFill>
                <a:latin typeface="Roboto" pitchFamily="34" charset="0"/>
                <a:ea typeface="Roboto" pitchFamily="34" charset="-122"/>
                <a:cs typeface="Roboto" pitchFamily="34" charset="-120"/>
              </a:rPr>
              <a:t>Objective:</a:t>
            </a:r>
            <a:r>
              <a:rPr lang="en-US" sz="1350" dirty="0">
                <a:solidFill>
                  <a:srgbClr val="36454F"/>
                </a:solidFill>
                <a:latin typeface="Roboto" pitchFamily="34" charset="0"/>
                <a:ea typeface="Roboto" pitchFamily="34" charset="-122"/>
                <a:cs typeface="Roboto" pitchFamily="34" charset="-120"/>
              </a:rPr>
              <a:t> To understand the architectural evolution that made modern Gen AI possible.</a:t>
            </a:r>
            <a:endParaRPr lang="en-US" sz="1350" dirty="0"/>
          </a:p>
        </p:txBody>
      </p:sp>
      <p:sp>
        <p:nvSpPr>
          <p:cNvPr id="30" name="Text 2"/>
          <p:cNvSpPr/>
          <p:nvPr/>
        </p:nvSpPr>
        <p:spPr>
          <a:xfrm>
            <a:off x="490984" y="1866900"/>
            <a:ext cx="304800" cy="30480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Roboto" pitchFamily="34" charset="0"/>
                <a:ea typeface="Roboto" pitchFamily="34" charset="-122"/>
                <a:cs typeface="Roboto" pitchFamily="34" charset="-120"/>
              </a:rPr>
              <a:t>1</a:t>
            </a:r>
            <a:endParaRPr lang="en-US" sz="1200" dirty="0"/>
          </a:p>
        </p:txBody>
      </p:sp>
      <p:sp>
        <p:nvSpPr>
          <p:cNvPr id="31" name="Text 3"/>
          <p:cNvSpPr/>
          <p:nvPr/>
        </p:nvSpPr>
        <p:spPr>
          <a:xfrm>
            <a:off x="762000" y="1866900"/>
            <a:ext cx="2820888" cy="304800"/>
          </a:xfrm>
          <a:prstGeom prst="rect">
            <a:avLst/>
          </a:prstGeom>
          <a:noFill/>
          <a:ln/>
        </p:spPr>
        <p:txBody>
          <a:bodyPr wrap="square" lIns="0" tIns="0" rIns="0" bIns="0" rtlCol="0" anchor="t"/>
          <a:lstStyle/>
          <a:p>
            <a:pPr marL="0" indent="0">
              <a:lnSpc>
                <a:spcPts val="2400"/>
              </a:lnSpc>
              <a:buNone/>
            </a:pPr>
            <a:r>
              <a:rPr lang="en-US" sz="1800" b="1" dirty="0">
                <a:solidFill>
                  <a:srgbClr val="0F766E"/>
                </a:solidFill>
                <a:latin typeface="Roboto" pitchFamily="34" charset="0"/>
                <a:ea typeface="Roboto" pitchFamily="34" charset="-122"/>
                <a:cs typeface="Roboto" pitchFamily="34" charset="-120"/>
              </a:rPr>
              <a:t>Key Historical Papers</a:t>
            </a:r>
            <a:endParaRPr lang="en-US" sz="1800" dirty="0"/>
          </a:p>
        </p:txBody>
      </p:sp>
      <p:sp>
        <p:nvSpPr>
          <p:cNvPr id="32" name="Text 4"/>
          <p:cNvSpPr/>
          <p:nvPr/>
        </p:nvSpPr>
        <p:spPr>
          <a:xfrm>
            <a:off x="335280" y="3009900"/>
            <a:ext cx="2377440" cy="266700"/>
          </a:xfrm>
          <a:prstGeom prst="rect">
            <a:avLst/>
          </a:prstGeom>
          <a:noFill/>
          <a:ln/>
        </p:spPr>
        <p:txBody>
          <a:bodyPr wrap="square" lIns="0" tIns="0" rIns="0" bIns="0" rtlCol="0" anchor="t"/>
          <a:lstStyle/>
          <a:p>
            <a:pPr marL="0" indent="0" algn="ctr">
              <a:lnSpc>
                <a:spcPts val="2100"/>
              </a:lnSpc>
              <a:buNone/>
            </a:pPr>
            <a:r>
              <a:rPr lang="en-US" sz="1350" b="1" dirty="0">
                <a:solidFill>
                  <a:srgbClr val="36454F"/>
                </a:solidFill>
                <a:latin typeface="Roboto" pitchFamily="34" charset="0"/>
                <a:ea typeface="Roboto" pitchFamily="34" charset="-122"/>
                <a:cs typeface="Roboto" pitchFamily="34" charset="-120"/>
              </a:rPr>
              <a:t>The Neuron</a:t>
            </a:r>
            <a:endParaRPr lang="en-US" sz="1350" dirty="0"/>
          </a:p>
        </p:txBody>
      </p:sp>
      <p:sp>
        <p:nvSpPr>
          <p:cNvPr id="33" name="Text 5"/>
          <p:cNvSpPr/>
          <p:nvPr/>
        </p:nvSpPr>
        <p:spPr>
          <a:xfrm>
            <a:off x="533400" y="3314700"/>
            <a:ext cx="1981200" cy="152400"/>
          </a:xfrm>
          <a:prstGeom prst="rect">
            <a:avLst/>
          </a:prstGeom>
          <a:noFill/>
          <a:ln/>
        </p:spPr>
        <p:txBody>
          <a:bodyPr wrap="square" lIns="0" tIns="0" rIns="0" bIns="0" rtlCol="0" anchor="t"/>
          <a:lstStyle/>
          <a:p>
            <a:pPr marL="0" indent="0" algn="ctr">
              <a:lnSpc>
                <a:spcPts val="1200"/>
              </a:lnSpc>
              <a:buNone/>
            </a:pPr>
            <a:r>
              <a:rPr lang="en-US" sz="900" b="1" dirty="0">
                <a:solidFill>
                  <a:srgbClr val="0D9488"/>
                </a:solidFill>
                <a:latin typeface="Roboto" pitchFamily="34" charset="0"/>
                <a:ea typeface="Roboto" pitchFamily="34" charset="-122"/>
                <a:cs typeface="Roboto" pitchFamily="34" charset="-120"/>
              </a:rPr>
              <a:t>1943</a:t>
            </a:r>
            <a:endParaRPr lang="en-US" sz="900" dirty="0"/>
          </a:p>
        </p:txBody>
      </p:sp>
      <p:sp>
        <p:nvSpPr>
          <p:cNvPr id="34" name="Text 6"/>
          <p:cNvSpPr/>
          <p:nvPr/>
        </p:nvSpPr>
        <p:spPr>
          <a:xfrm>
            <a:off x="533400" y="3505200"/>
            <a:ext cx="1981200" cy="304800"/>
          </a:xfrm>
          <a:prstGeom prst="rect">
            <a:avLst/>
          </a:prstGeom>
          <a:noFill/>
          <a:ln/>
        </p:spPr>
        <p:txBody>
          <a:bodyPr wrap="square" lIns="0" tIns="0" rIns="0" bIns="0" rtlCol="0" anchor="t"/>
          <a:lstStyle/>
          <a:p>
            <a:pPr marL="0" indent="0">
              <a:lnSpc>
                <a:spcPts val="1200"/>
              </a:lnSpc>
              <a:buNone/>
            </a:pPr>
            <a:r>
              <a:rPr lang="en-US" sz="900" dirty="0">
                <a:solidFill>
                  <a:srgbClr val="36454F"/>
                </a:solidFill>
                <a:latin typeface="Roboto" pitchFamily="34" charset="0"/>
                <a:ea typeface="Roboto" pitchFamily="34" charset="-122"/>
                <a:cs typeface="Roboto" pitchFamily="34" charset="-120"/>
              </a:rPr>
              <a:t>McCulloch &amp; Pitts: First mathematical model of a neuron</a:t>
            </a:r>
            <a:endParaRPr lang="en-US" sz="900" dirty="0"/>
          </a:p>
        </p:txBody>
      </p:sp>
      <p:sp>
        <p:nvSpPr>
          <p:cNvPr id="35" name="Text 7"/>
          <p:cNvSpPr/>
          <p:nvPr/>
        </p:nvSpPr>
        <p:spPr>
          <a:xfrm>
            <a:off x="2621280" y="3009900"/>
            <a:ext cx="2377440" cy="266700"/>
          </a:xfrm>
          <a:prstGeom prst="rect">
            <a:avLst/>
          </a:prstGeom>
          <a:noFill/>
          <a:ln/>
        </p:spPr>
        <p:txBody>
          <a:bodyPr wrap="square" lIns="0" tIns="0" rIns="0" bIns="0" rtlCol="0" anchor="t"/>
          <a:lstStyle/>
          <a:p>
            <a:pPr marL="0" indent="0" algn="ctr">
              <a:lnSpc>
                <a:spcPts val="2100"/>
              </a:lnSpc>
              <a:buNone/>
            </a:pPr>
            <a:r>
              <a:rPr lang="en-US" sz="1350" b="1" dirty="0">
                <a:solidFill>
                  <a:srgbClr val="36454F"/>
                </a:solidFill>
                <a:latin typeface="Roboto" pitchFamily="34" charset="0"/>
                <a:ea typeface="Roboto" pitchFamily="34" charset="-122"/>
                <a:cs typeface="Roboto" pitchFamily="34" charset="-120"/>
              </a:rPr>
              <a:t>Perceptron</a:t>
            </a:r>
            <a:endParaRPr lang="en-US" sz="1350" dirty="0"/>
          </a:p>
        </p:txBody>
      </p:sp>
      <p:sp>
        <p:nvSpPr>
          <p:cNvPr id="36" name="Text 8"/>
          <p:cNvSpPr/>
          <p:nvPr/>
        </p:nvSpPr>
        <p:spPr>
          <a:xfrm>
            <a:off x="2819400" y="3314700"/>
            <a:ext cx="1981200" cy="152400"/>
          </a:xfrm>
          <a:prstGeom prst="rect">
            <a:avLst/>
          </a:prstGeom>
          <a:noFill/>
          <a:ln/>
        </p:spPr>
        <p:txBody>
          <a:bodyPr wrap="square" lIns="0" tIns="0" rIns="0" bIns="0" rtlCol="0" anchor="t"/>
          <a:lstStyle/>
          <a:p>
            <a:pPr marL="0" indent="0" algn="ctr">
              <a:lnSpc>
                <a:spcPts val="1200"/>
              </a:lnSpc>
              <a:buNone/>
            </a:pPr>
            <a:r>
              <a:rPr lang="en-US" sz="900" b="1" dirty="0">
                <a:solidFill>
                  <a:srgbClr val="0D9488"/>
                </a:solidFill>
                <a:latin typeface="Roboto" pitchFamily="34" charset="0"/>
                <a:ea typeface="Roboto" pitchFamily="34" charset="-122"/>
                <a:cs typeface="Roboto" pitchFamily="34" charset="-120"/>
              </a:rPr>
              <a:t>1958</a:t>
            </a:r>
            <a:endParaRPr lang="en-US" sz="900" dirty="0"/>
          </a:p>
        </p:txBody>
      </p:sp>
      <p:sp>
        <p:nvSpPr>
          <p:cNvPr id="37" name="Text 9"/>
          <p:cNvSpPr/>
          <p:nvPr/>
        </p:nvSpPr>
        <p:spPr>
          <a:xfrm>
            <a:off x="2819400" y="3505200"/>
            <a:ext cx="1981200" cy="304800"/>
          </a:xfrm>
          <a:prstGeom prst="rect">
            <a:avLst/>
          </a:prstGeom>
          <a:noFill/>
          <a:ln/>
        </p:spPr>
        <p:txBody>
          <a:bodyPr wrap="square" lIns="0" tIns="0" rIns="0" bIns="0" rtlCol="0" anchor="t"/>
          <a:lstStyle/>
          <a:p>
            <a:pPr marL="0" indent="0">
              <a:lnSpc>
                <a:spcPts val="1200"/>
              </a:lnSpc>
              <a:buNone/>
            </a:pPr>
            <a:r>
              <a:rPr lang="en-US" sz="900" dirty="0">
                <a:solidFill>
                  <a:srgbClr val="36454F"/>
                </a:solidFill>
                <a:latin typeface="Roboto" pitchFamily="34" charset="0"/>
                <a:ea typeface="Roboto" pitchFamily="34" charset="-122"/>
                <a:cs typeface="Roboto" pitchFamily="34" charset="-120"/>
              </a:rPr>
              <a:t>Frank Rosenblatt: First learning algorithm for a single neuron</a:t>
            </a:r>
            <a:endParaRPr lang="en-US" sz="900" dirty="0"/>
          </a:p>
        </p:txBody>
      </p:sp>
      <p:sp>
        <p:nvSpPr>
          <p:cNvPr id="38" name="Text 10"/>
          <p:cNvSpPr/>
          <p:nvPr/>
        </p:nvSpPr>
        <p:spPr>
          <a:xfrm>
            <a:off x="5105400" y="3009900"/>
            <a:ext cx="1981200" cy="266700"/>
          </a:xfrm>
          <a:prstGeom prst="rect">
            <a:avLst/>
          </a:prstGeom>
          <a:noFill/>
          <a:ln/>
        </p:spPr>
        <p:txBody>
          <a:bodyPr wrap="square" lIns="0" tIns="0" rIns="0" bIns="0" rtlCol="0" anchor="t"/>
          <a:lstStyle/>
          <a:p>
            <a:pPr marL="0" indent="0" algn="ctr">
              <a:lnSpc>
                <a:spcPts val="2100"/>
              </a:lnSpc>
              <a:buNone/>
            </a:pPr>
            <a:r>
              <a:rPr lang="en-US" sz="1350" b="1" dirty="0">
                <a:solidFill>
                  <a:srgbClr val="36454F"/>
                </a:solidFill>
                <a:latin typeface="Roboto" pitchFamily="34" charset="0"/>
                <a:ea typeface="Roboto" pitchFamily="34" charset="-122"/>
                <a:cs typeface="Roboto" pitchFamily="34" charset="-120"/>
              </a:rPr>
              <a:t>ADALINE</a:t>
            </a:r>
            <a:endParaRPr lang="en-US" sz="1350" dirty="0"/>
          </a:p>
        </p:txBody>
      </p:sp>
      <p:sp>
        <p:nvSpPr>
          <p:cNvPr id="39" name="Text 11"/>
          <p:cNvSpPr/>
          <p:nvPr/>
        </p:nvSpPr>
        <p:spPr>
          <a:xfrm>
            <a:off x="5105400" y="3314700"/>
            <a:ext cx="1981200" cy="152400"/>
          </a:xfrm>
          <a:prstGeom prst="rect">
            <a:avLst/>
          </a:prstGeom>
          <a:noFill/>
          <a:ln/>
        </p:spPr>
        <p:txBody>
          <a:bodyPr wrap="square" lIns="0" tIns="0" rIns="0" bIns="0" rtlCol="0" anchor="t"/>
          <a:lstStyle/>
          <a:p>
            <a:pPr marL="0" indent="0" algn="ctr">
              <a:lnSpc>
                <a:spcPts val="1200"/>
              </a:lnSpc>
              <a:buNone/>
            </a:pPr>
            <a:r>
              <a:rPr lang="en-US" sz="900" b="1" dirty="0">
                <a:solidFill>
                  <a:srgbClr val="0D9488"/>
                </a:solidFill>
                <a:latin typeface="Roboto" pitchFamily="34" charset="0"/>
                <a:ea typeface="Roboto" pitchFamily="34" charset="-122"/>
                <a:cs typeface="Roboto" pitchFamily="34" charset="-120"/>
              </a:rPr>
              <a:t>1960</a:t>
            </a:r>
            <a:endParaRPr lang="en-US" sz="900" dirty="0"/>
          </a:p>
        </p:txBody>
      </p:sp>
      <p:sp>
        <p:nvSpPr>
          <p:cNvPr id="40" name="Text 12"/>
          <p:cNvSpPr/>
          <p:nvPr/>
        </p:nvSpPr>
        <p:spPr>
          <a:xfrm>
            <a:off x="5105400" y="3505200"/>
            <a:ext cx="1981200" cy="457200"/>
          </a:xfrm>
          <a:prstGeom prst="rect">
            <a:avLst/>
          </a:prstGeom>
          <a:noFill/>
          <a:ln/>
        </p:spPr>
        <p:txBody>
          <a:bodyPr wrap="square" lIns="0" tIns="0" rIns="0" bIns="0" rtlCol="0" anchor="t"/>
          <a:lstStyle/>
          <a:p>
            <a:pPr marL="0" indent="0">
              <a:lnSpc>
                <a:spcPts val="1200"/>
              </a:lnSpc>
              <a:buNone/>
            </a:pPr>
            <a:r>
              <a:rPr lang="en-US" sz="900" dirty="0">
                <a:solidFill>
                  <a:srgbClr val="36454F"/>
                </a:solidFill>
                <a:latin typeface="Roboto" pitchFamily="34" charset="0"/>
                <a:ea typeface="Roboto" pitchFamily="34" charset="-122"/>
                <a:cs typeface="Roboto" pitchFamily="34" charset="-120"/>
              </a:rPr>
              <a:t>Widrow &amp; Hoff: Used linear activation and least mean squares (LMS) learning</a:t>
            </a:r>
            <a:endParaRPr lang="en-US" sz="900" dirty="0"/>
          </a:p>
        </p:txBody>
      </p:sp>
      <p:sp>
        <p:nvSpPr>
          <p:cNvPr id="41" name="Text 13"/>
          <p:cNvSpPr/>
          <p:nvPr/>
        </p:nvSpPr>
        <p:spPr>
          <a:xfrm>
            <a:off x="7193280" y="3009900"/>
            <a:ext cx="2377440" cy="266700"/>
          </a:xfrm>
          <a:prstGeom prst="rect">
            <a:avLst/>
          </a:prstGeom>
          <a:noFill/>
          <a:ln/>
        </p:spPr>
        <p:txBody>
          <a:bodyPr wrap="square" lIns="0" tIns="0" rIns="0" bIns="0" rtlCol="0" anchor="t"/>
          <a:lstStyle/>
          <a:p>
            <a:pPr marL="0" indent="0" algn="ctr">
              <a:lnSpc>
                <a:spcPts val="2100"/>
              </a:lnSpc>
              <a:buNone/>
            </a:pPr>
            <a:r>
              <a:rPr lang="en-US" sz="1350" b="1" dirty="0">
                <a:solidFill>
                  <a:srgbClr val="36454F"/>
                </a:solidFill>
                <a:latin typeface="Roboto" pitchFamily="34" charset="0"/>
                <a:ea typeface="Roboto" pitchFamily="34" charset="-122"/>
                <a:cs typeface="Roboto" pitchFamily="34" charset="-120"/>
              </a:rPr>
              <a:t>Backpropagation</a:t>
            </a:r>
            <a:endParaRPr lang="en-US" sz="1350" dirty="0"/>
          </a:p>
        </p:txBody>
      </p:sp>
      <p:sp>
        <p:nvSpPr>
          <p:cNvPr id="42" name="Text 14"/>
          <p:cNvSpPr/>
          <p:nvPr/>
        </p:nvSpPr>
        <p:spPr>
          <a:xfrm>
            <a:off x="7391400" y="3314700"/>
            <a:ext cx="1981200" cy="152400"/>
          </a:xfrm>
          <a:prstGeom prst="rect">
            <a:avLst/>
          </a:prstGeom>
          <a:noFill/>
          <a:ln/>
        </p:spPr>
        <p:txBody>
          <a:bodyPr wrap="square" lIns="0" tIns="0" rIns="0" bIns="0" rtlCol="0" anchor="t"/>
          <a:lstStyle/>
          <a:p>
            <a:pPr marL="0" indent="0" algn="ctr">
              <a:lnSpc>
                <a:spcPts val="1200"/>
              </a:lnSpc>
              <a:buNone/>
            </a:pPr>
            <a:r>
              <a:rPr lang="en-US" sz="900" b="1" dirty="0">
                <a:solidFill>
                  <a:srgbClr val="0D9488"/>
                </a:solidFill>
                <a:latin typeface="Roboto" pitchFamily="34" charset="0"/>
                <a:ea typeface="Roboto" pitchFamily="34" charset="-122"/>
                <a:cs typeface="Roboto" pitchFamily="34" charset="-120"/>
              </a:rPr>
              <a:t>1986</a:t>
            </a:r>
            <a:endParaRPr lang="en-US" sz="900" dirty="0"/>
          </a:p>
        </p:txBody>
      </p:sp>
      <p:sp>
        <p:nvSpPr>
          <p:cNvPr id="43" name="Text 15"/>
          <p:cNvSpPr/>
          <p:nvPr/>
        </p:nvSpPr>
        <p:spPr>
          <a:xfrm>
            <a:off x="7391400" y="3505200"/>
            <a:ext cx="1981200" cy="457200"/>
          </a:xfrm>
          <a:prstGeom prst="rect">
            <a:avLst/>
          </a:prstGeom>
          <a:noFill/>
          <a:ln/>
        </p:spPr>
        <p:txBody>
          <a:bodyPr wrap="square" lIns="0" tIns="0" rIns="0" bIns="0" rtlCol="0" anchor="t"/>
          <a:lstStyle/>
          <a:p>
            <a:pPr marL="0" indent="0">
              <a:lnSpc>
                <a:spcPts val="1200"/>
              </a:lnSpc>
              <a:buNone/>
            </a:pPr>
            <a:r>
              <a:rPr lang="en-US" sz="900" dirty="0">
                <a:solidFill>
                  <a:srgbClr val="36454F"/>
                </a:solidFill>
                <a:latin typeface="Roboto" pitchFamily="34" charset="0"/>
                <a:ea typeface="Roboto" pitchFamily="34" charset="-122"/>
                <a:cs typeface="Roboto" pitchFamily="34" charset="-120"/>
              </a:rPr>
              <a:t>Rumelhart, Hinton &amp; Williams: Popularized backpropagation for training multi-layer networks</a:t>
            </a:r>
            <a:endParaRPr lang="en-US" sz="900" dirty="0"/>
          </a:p>
        </p:txBody>
      </p:sp>
      <p:sp>
        <p:nvSpPr>
          <p:cNvPr id="44" name="Text 16"/>
          <p:cNvSpPr/>
          <p:nvPr/>
        </p:nvSpPr>
        <p:spPr>
          <a:xfrm>
            <a:off x="9677400" y="3009900"/>
            <a:ext cx="1981200" cy="266700"/>
          </a:xfrm>
          <a:prstGeom prst="rect">
            <a:avLst/>
          </a:prstGeom>
          <a:noFill/>
          <a:ln/>
        </p:spPr>
        <p:txBody>
          <a:bodyPr wrap="square" lIns="0" tIns="0" rIns="0" bIns="0" rtlCol="0" anchor="t"/>
          <a:lstStyle/>
          <a:p>
            <a:pPr marL="0" indent="0" algn="ctr">
              <a:lnSpc>
                <a:spcPts val="2100"/>
              </a:lnSpc>
              <a:buNone/>
            </a:pPr>
            <a:r>
              <a:rPr lang="en-US" sz="1350" b="1" dirty="0">
                <a:solidFill>
                  <a:srgbClr val="36454F"/>
                </a:solidFill>
                <a:latin typeface="Roboto" pitchFamily="34" charset="0"/>
                <a:ea typeface="Roboto" pitchFamily="34" charset="-122"/>
                <a:cs typeface="Roboto" pitchFamily="34" charset="-120"/>
              </a:rPr>
              <a:t>LSTMs</a:t>
            </a:r>
            <a:endParaRPr lang="en-US" sz="1350" dirty="0"/>
          </a:p>
        </p:txBody>
      </p:sp>
      <p:sp>
        <p:nvSpPr>
          <p:cNvPr id="45" name="Text 17"/>
          <p:cNvSpPr/>
          <p:nvPr/>
        </p:nvSpPr>
        <p:spPr>
          <a:xfrm>
            <a:off x="9677400" y="3314700"/>
            <a:ext cx="1981200" cy="152400"/>
          </a:xfrm>
          <a:prstGeom prst="rect">
            <a:avLst/>
          </a:prstGeom>
          <a:noFill/>
          <a:ln/>
        </p:spPr>
        <p:txBody>
          <a:bodyPr wrap="square" lIns="0" tIns="0" rIns="0" bIns="0" rtlCol="0" anchor="t"/>
          <a:lstStyle/>
          <a:p>
            <a:pPr marL="0" indent="0" algn="ctr">
              <a:lnSpc>
                <a:spcPts val="1200"/>
              </a:lnSpc>
              <a:buNone/>
            </a:pPr>
            <a:r>
              <a:rPr lang="en-US" sz="900" b="1" dirty="0">
                <a:solidFill>
                  <a:srgbClr val="0D9488"/>
                </a:solidFill>
                <a:latin typeface="Roboto" pitchFamily="34" charset="0"/>
                <a:ea typeface="Roboto" pitchFamily="34" charset="-122"/>
                <a:cs typeface="Roboto" pitchFamily="34" charset="-120"/>
              </a:rPr>
              <a:t>1997</a:t>
            </a:r>
            <a:endParaRPr lang="en-US" sz="900" dirty="0"/>
          </a:p>
        </p:txBody>
      </p:sp>
      <p:sp>
        <p:nvSpPr>
          <p:cNvPr id="46" name="Text 18"/>
          <p:cNvSpPr/>
          <p:nvPr/>
        </p:nvSpPr>
        <p:spPr>
          <a:xfrm>
            <a:off x="9677400" y="3505200"/>
            <a:ext cx="1981200" cy="304800"/>
          </a:xfrm>
          <a:prstGeom prst="rect">
            <a:avLst/>
          </a:prstGeom>
          <a:noFill/>
          <a:ln/>
        </p:spPr>
        <p:txBody>
          <a:bodyPr wrap="square" lIns="0" tIns="0" rIns="0" bIns="0" rtlCol="0" anchor="t"/>
          <a:lstStyle/>
          <a:p>
            <a:pPr marL="0" indent="0">
              <a:lnSpc>
                <a:spcPts val="1200"/>
              </a:lnSpc>
              <a:buNone/>
            </a:pPr>
            <a:r>
              <a:rPr lang="en-US" sz="900" dirty="0">
                <a:solidFill>
                  <a:srgbClr val="36454F"/>
                </a:solidFill>
                <a:latin typeface="Roboto" pitchFamily="34" charset="0"/>
                <a:ea typeface="Roboto" pitchFamily="34" charset="-122"/>
                <a:cs typeface="Roboto" pitchFamily="34" charset="-120"/>
              </a:rPr>
              <a:t>Hochreiter &amp; Schmidhuber: Solved the vanishing gradient problem for RNNs</a:t>
            </a:r>
            <a:endParaRPr lang="en-US" sz="900" dirty="0"/>
          </a:p>
        </p:txBody>
      </p:sp>
      <p:sp>
        <p:nvSpPr>
          <p:cNvPr id="47" name="Text 19"/>
          <p:cNvSpPr/>
          <p:nvPr/>
        </p:nvSpPr>
        <p:spPr>
          <a:xfrm>
            <a:off x="4907280" y="5076825"/>
            <a:ext cx="2377440" cy="266700"/>
          </a:xfrm>
          <a:prstGeom prst="rect">
            <a:avLst/>
          </a:prstGeom>
          <a:noFill/>
          <a:ln/>
        </p:spPr>
        <p:txBody>
          <a:bodyPr wrap="square" lIns="0" tIns="0" rIns="0" bIns="0" rtlCol="0" anchor="t"/>
          <a:lstStyle/>
          <a:p>
            <a:pPr marL="0" indent="0" algn="ctr">
              <a:lnSpc>
                <a:spcPts val="2100"/>
              </a:lnSpc>
              <a:buNone/>
            </a:pPr>
            <a:r>
              <a:rPr lang="en-US" sz="1350" b="1" dirty="0">
                <a:solidFill>
                  <a:srgbClr val="36454F"/>
                </a:solidFill>
                <a:latin typeface="Roboto" pitchFamily="34" charset="0"/>
                <a:ea typeface="Roboto" pitchFamily="34" charset="-122"/>
                <a:cs typeface="Roboto" pitchFamily="34" charset="-120"/>
              </a:rPr>
              <a:t>The Transformer</a:t>
            </a:r>
            <a:endParaRPr lang="en-US" sz="1350" dirty="0"/>
          </a:p>
        </p:txBody>
      </p:sp>
      <p:sp>
        <p:nvSpPr>
          <p:cNvPr id="48" name="Text 20"/>
          <p:cNvSpPr/>
          <p:nvPr/>
        </p:nvSpPr>
        <p:spPr>
          <a:xfrm>
            <a:off x="5105400" y="5381625"/>
            <a:ext cx="1981200" cy="152400"/>
          </a:xfrm>
          <a:prstGeom prst="rect">
            <a:avLst/>
          </a:prstGeom>
          <a:noFill/>
          <a:ln/>
        </p:spPr>
        <p:txBody>
          <a:bodyPr wrap="square" lIns="0" tIns="0" rIns="0" bIns="0" rtlCol="0" anchor="t"/>
          <a:lstStyle/>
          <a:p>
            <a:pPr marL="0" indent="0" algn="ctr">
              <a:lnSpc>
                <a:spcPts val="1200"/>
              </a:lnSpc>
              <a:buNone/>
            </a:pPr>
            <a:r>
              <a:rPr lang="en-US" sz="900" b="1" dirty="0">
                <a:solidFill>
                  <a:srgbClr val="F97316"/>
                </a:solidFill>
                <a:latin typeface="Roboto" pitchFamily="34" charset="0"/>
                <a:ea typeface="Roboto" pitchFamily="34" charset="-122"/>
                <a:cs typeface="Roboto" pitchFamily="34" charset="-120"/>
              </a:rPr>
              <a:t>2017</a:t>
            </a:r>
            <a:endParaRPr lang="en-US" sz="900" dirty="0"/>
          </a:p>
        </p:txBody>
      </p:sp>
      <p:sp>
        <p:nvSpPr>
          <p:cNvPr id="49" name="Text 21"/>
          <p:cNvSpPr/>
          <p:nvPr/>
        </p:nvSpPr>
        <p:spPr>
          <a:xfrm>
            <a:off x="5105400" y="5572125"/>
            <a:ext cx="1981200" cy="304800"/>
          </a:xfrm>
          <a:prstGeom prst="rect">
            <a:avLst/>
          </a:prstGeom>
          <a:noFill/>
          <a:ln/>
        </p:spPr>
        <p:txBody>
          <a:bodyPr wrap="square" lIns="0" tIns="0" rIns="0" bIns="0" rtlCol="0" anchor="t"/>
          <a:lstStyle/>
          <a:p>
            <a:pPr marL="0" indent="0">
              <a:lnSpc>
                <a:spcPts val="1200"/>
              </a:lnSpc>
              <a:buNone/>
            </a:pPr>
            <a:r>
              <a:rPr lang="en-US" sz="900" dirty="0">
                <a:solidFill>
                  <a:srgbClr val="36454F"/>
                </a:solidFill>
                <a:latin typeface="Roboto" pitchFamily="34" charset="0"/>
                <a:ea typeface="Roboto" pitchFamily="34" charset="-122"/>
                <a:cs typeface="Roboto" pitchFamily="34" charset="-120"/>
              </a:rPr>
              <a:t>"Attention is All You Need": Introduced the Transformer architecture</a:t>
            </a:r>
            <a:endParaRPr lang="en-US" sz="900" dirty="0"/>
          </a:p>
        </p:txBody>
      </p:sp>
      <p:sp>
        <p:nvSpPr>
          <p:cNvPr id="50" name="Text 22"/>
          <p:cNvSpPr/>
          <p:nvPr/>
        </p:nvSpPr>
        <p:spPr>
          <a:xfrm>
            <a:off x="5105400" y="5915025"/>
            <a:ext cx="2377440" cy="152400"/>
          </a:xfrm>
          <a:prstGeom prst="rect">
            <a:avLst/>
          </a:prstGeom>
          <a:noFill/>
          <a:ln/>
        </p:spPr>
        <p:txBody>
          <a:bodyPr wrap="square" lIns="0" tIns="0" rIns="0" bIns="0" rtlCol="0" anchor="t"/>
          <a:lstStyle/>
          <a:p>
            <a:pPr marL="0" indent="0">
              <a:lnSpc>
                <a:spcPts val="1200"/>
              </a:lnSpc>
              <a:buNone/>
            </a:pPr>
            <a:r>
              <a:rPr lang="en-US" sz="900" dirty="0">
                <a:solidFill>
                  <a:srgbClr val="F97316"/>
                </a:solidFill>
                <a:latin typeface="Roboto" pitchFamily="34" charset="0"/>
                <a:ea typeface="Roboto" pitchFamily="34" charset="-122"/>
                <a:cs typeface="Roboto" pitchFamily="34" charset="-120"/>
              </a:rPr>
              <a:t>Core of all modern LLMs</a:t>
            </a:r>
            <a:endParaRPr lang="en-US" sz="900" dirty="0"/>
          </a:p>
        </p:txBody>
      </p:sp>
      <p:sp>
        <p:nvSpPr>
          <p:cNvPr id="51" name="Text 23"/>
          <p:cNvSpPr/>
          <p:nvPr/>
        </p:nvSpPr>
        <p:spPr>
          <a:xfrm>
            <a:off x="713333" y="6400800"/>
            <a:ext cx="13441680" cy="190500"/>
          </a:xfrm>
          <a:prstGeom prst="rect">
            <a:avLst/>
          </a:prstGeom>
          <a:noFill/>
          <a:ln/>
        </p:spPr>
        <p:txBody>
          <a:bodyPr wrap="square" lIns="0" tIns="0" rIns="0" bIns="0" rtlCol="0" anchor="t"/>
          <a:lstStyle/>
          <a:p>
            <a:pPr marL="0" indent="0">
              <a:lnSpc>
                <a:spcPts val="1500"/>
              </a:lnSpc>
              <a:buNone/>
            </a:pPr>
            <a:r>
              <a:rPr lang="en-US" sz="1050" b="1" dirty="0">
                <a:solidFill>
                  <a:srgbClr val="FFFFFF"/>
                </a:solidFill>
                <a:latin typeface="Roboto" pitchFamily="34" charset="0"/>
                <a:ea typeface="Roboto" pitchFamily="34" charset="-122"/>
                <a:cs typeface="Roboto" pitchFamily="34" charset="-120"/>
              </a:rPr>
              <a:t>Key Insight:</a:t>
            </a:r>
            <a:r>
              <a:rPr lang="en-US" sz="1050" dirty="0">
                <a:solidFill>
                  <a:srgbClr val="FFFFFF"/>
                </a:solidFill>
                <a:latin typeface="Roboto" pitchFamily="34" charset="0"/>
                <a:ea typeface="Roboto" pitchFamily="34" charset="-122"/>
                <a:cs typeface="Roboto" pitchFamily="34" charset="-120"/>
              </a:rPr>
              <a:t> Each architectural advancement enabled the next, building toward today's powerful generative AI systems.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27771"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6"/>
          <a:stretch>
            <a:fillRect/>
          </a:stretch>
        </p:blipFill>
        <p:spPr>
          <a:xfrm>
            <a:off x="68908" y="1085850"/>
            <a:ext cx="3695903" cy="1080000"/>
          </a:xfrm>
          <a:prstGeom prst="rect">
            <a:avLst/>
          </a:prstGeom>
        </p:spPr>
      </p:pic>
      <p:pic>
        <p:nvPicPr>
          <p:cNvPr id="6" name="Image 4" descr="preencoded.png"/>
          <p:cNvPicPr>
            <a:picLocks noChangeAspect="1"/>
          </p:cNvPicPr>
          <p:nvPr/>
        </p:nvPicPr>
        <p:blipFill>
          <a:blip r:embed="rId7"/>
          <a:stretch>
            <a:fillRect/>
          </a:stretch>
        </p:blipFill>
        <p:spPr>
          <a:xfrm>
            <a:off x="221308" y="1271589"/>
            <a:ext cx="324000" cy="405000"/>
          </a:xfrm>
          <a:prstGeom prst="rect">
            <a:avLst/>
          </a:prstGeom>
        </p:spPr>
      </p:pic>
      <p:pic>
        <p:nvPicPr>
          <p:cNvPr id="7" name="Image 5" descr="preencoded.png"/>
          <p:cNvPicPr>
            <a:picLocks noChangeAspect="1"/>
          </p:cNvPicPr>
          <p:nvPr/>
        </p:nvPicPr>
        <p:blipFill>
          <a:blip r:embed="rId8"/>
          <a:stretch>
            <a:fillRect/>
          </a:stretch>
        </p:blipFill>
        <p:spPr>
          <a:xfrm>
            <a:off x="297508" y="1347788"/>
            <a:ext cx="180000" cy="252000"/>
          </a:xfrm>
          <a:prstGeom prst="rect">
            <a:avLst/>
          </a:prstGeom>
        </p:spPr>
      </p:pic>
      <p:pic>
        <p:nvPicPr>
          <p:cNvPr id="8" name="Image 6" descr="preencoded.png"/>
          <p:cNvPicPr>
            <a:picLocks noChangeAspect="1"/>
          </p:cNvPicPr>
          <p:nvPr/>
        </p:nvPicPr>
        <p:blipFill>
          <a:blip r:embed="rId9"/>
          <a:stretch>
            <a:fillRect/>
          </a:stretch>
        </p:blipFill>
        <p:spPr>
          <a:xfrm>
            <a:off x="381000" y="2305050"/>
            <a:ext cx="2857500" cy="1419225"/>
          </a:xfrm>
          <a:prstGeom prst="rect">
            <a:avLst/>
          </a:prstGeom>
        </p:spPr>
      </p:pic>
      <p:pic>
        <p:nvPicPr>
          <p:cNvPr id="9" name="Image 7" descr="preencoded.png"/>
          <p:cNvPicPr>
            <a:picLocks noChangeAspect="1"/>
          </p:cNvPicPr>
          <p:nvPr/>
        </p:nvPicPr>
        <p:blipFill>
          <a:blip r:embed="rId10"/>
          <a:stretch>
            <a:fillRect/>
          </a:stretch>
        </p:blipFill>
        <p:spPr>
          <a:xfrm>
            <a:off x="1567994" y="2432396"/>
            <a:ext cx="466725" cy="504825"/>
          </a:xfrm>
          <a:prstGeom prst="rect">
            <a:avLst/>
          </a:prstGeom>
        </p:spPr>
      </p:pic>
      <p:pic>
        <p:nvPicPr>
          <p:cNvPr id="10" name="Image 8" descr="preencoded.png"/>
          <p:cNvPicPr>
            <a:picLocks noChangeAspect="1"/>
          </p:cNvPicPr>
          <p:nvPr/>
        </p:nvPicPr>
        <p:blipFill>
          <a:blip r:embed="rId11"/>
          <a:stretch>
            <a:fillRect/>
          </a:stretch>
        </p:blipFill>
        <p:spPr>
          <a:xfrm>
            <a:off x="1697831" y="2538413"/>
            <a:ext cx="238125" cy="266700"/>
          </a:xfrm>
          <a:prstGeom prst="rect">
            <a:avLst/>
          </a:prstGeom>
        </p:spPr>
      </p:pic>
      <p:pic>
        <p:nvPicPr>
          <p:cNvPr id="11" name="Image 9" descr="preencoded.png"/>
          <p:cNvPicPr>
            <a:picLocks noChangeAspect="1"/>
          </p:cNvPicPr>
          <p:nvPr/>
        </p:nvPicPr>
        <p:blipFill>
          <a:blip r:embed="rId12"/>
          <a:stretch>
            <a:fillRect/>
          </a:stretch>
        </p:blipFill>
        <p:spPr>
          <a:xfrm>
            <a:off x="3852863" y="2881313"/>
            <a:ext cx="200025" cy="228600"/>
          </a:xfrm>
          <a:prstGeom prst="rect">
            <a:avLst/>
          </a:prstGeom>
        </p:spPr>
      </p:pic>
      <p:pic>
        <p:nvPicPr>
          <p:cNvPr id="12" name="Image 10" descr="preencoded.png"/>
          <p:cNvPicPr>
            <a:picLocks noChangeAspect="1"/>
          </p:cNvPicPr>
          <p:nvPr/>
        </p:nvPicPr>
        <p:blipFill>
          <a:blip r:embed="rId13"/>
          <a:stretch>
            <a:fillRect/>
          </a:stretch>
        </p:blipFill>
        <p:spPr>
          <a:xfrm>
            <a:off x="4667250" y="2305050"/>
            <a:ext cx="2857500" cy="1419225"/>
          </a:xfrm>
          <a:prstGeom prst="rect">
            <a:avLst/>
          </a:prstGeom>
        </p:spPr>
      </p:pic>
      <p:pic>
        <p:nvPicPr>
          <p:cNvPr id="13" name="Image 11" descr="preencoded.png"/>
          <p:cNvPicPr>
            <a:picLocks noChangeAspect="1"/>
          </p:cNvPicPr>
          <p:nvPr/>
        </p:nvPicPr>
        <p:blipFill>
          <a:blip r:embed="rId14"/>
          <a:stretch>
            <a:fillRect/>
          </a:stretch>
        </p:blipFill>
        <p:spPr>
          <a:xfrm>
            <a:off x="5895975" y="2457450"/>
            <a:ext cx="400050" cy="504825"/>
          </a:xfrm>
          <a:prstGeom prst="rect">
            <a:avLst/>
          </a:prstGeom>
        </p:spPr>
      </p:pic>
      <p:pic>
        <p:nvPicPr>
          <p:cNvPr id="14" name="Image 12" descr="preencoded.png"/>
          <p:cNvPicPr>
            <a:picLocks noChangeAspect="1"/>
          </p:cNvPicPr>
          <p:nvPr/>
        </p:nvPicPr>
        <p:blipFill>
          <a:blip r:embed="rId15"/>
          <a:stretch>
            <a:fillRect/>
          </a:stretch>
        </p:blipFill>
        <p:spPr>
          <a:xfrm>
            <a:off x="6010275" y="2571750"/>
            <a:ext cx="171450" cy="266700"/>
          </a:xfrm>
          <a:prstGeom prst="rect">
            <a:avLst/>
          </a:prstGeom>
        </p:spPr>
      </p:pic>
      <p:pic>
        <p:nvPicPr>
          <p:cNvPr id="15" name="Image 13" descr="preencoded.png"/>
          <p:cNvPicPr>
            <a:picLocks noChangeAspect="1"/>
          </p:cNvPicPr>
          <p:nvPr/>
        </p:nvPicPr>
        <p:blipFill>
          <a:blip r:embed="rId12"/>
          <a:stretch>
            <a:fillRect/>
          </a:stretch>
        </p:blipFill>
        <p:spPr>
          <a:xfrm>
            <a:off x="8139112" y="2881313"/>
            <a:ext cx="200025" cy="228600"/>
          </a:xfrm>
          <a:prstGeom prst="rect">
            <a:avLst/>
          </a:prstGeom>
        </p:spPr>
      </p:pic>
      <p:pic>
        <p:nvPicPr>
          <p:cNvPr id="16" name="Image 14" descr="preencoded.png"/>
          <p:cNvPicPr>
            <a:picLocks noChangeAspect="1"/>
          </p:cNvPicPr>
          <p:nvPr/>
        </p:nvPicPr>
        <p:blipFill>
          <a:blip r:embed="rId13"/>
          <a:stretch>
            <a:fillRect/>
          </a:stretch>
        </p:blipFill>
        <p:spPr>
          <a:xfrm>
            <a:off x="8953500" y="2305050"/>
            <a:ext cx="2857500" cy="1419225"/>
          </a:xfrm>
          <a:prstGeom prst="rect">
            <a:avLst/>
          </a:prstGeom>
        </p:spPr>
      </p:pic>
      <p:pic>
        <p:nvPicPr>
          <p:cNvPr id="17" name="Image 15" descr="preencoded.png"/>
          <p:cNvPicPr>
            <a:picLocks noChangeAspect="1"/>
          </p:cNvPicPr>
          <p:nvPr/>
        </p:nvPicPr>
        <p:blipFill>
          <a:blip r:embed="rId16"/>
          <a:stretch>
            <a:fillRect/>
          </a:stretch>
        </p:blipFill>
        <p:spPr>
          <a:xfrm>
            <a:off x="10158413" y="2457450"/>
            <a:ext cx="447675" cy="504825"/>
          </a:xfrm>
          <a:prstGeom prst="rect">
            <a:avLst/>
          </a:prstGeom>
        </p:spPr>
      </p:pic>
      <p:pic>
        <p:nvPicPr>
          <p:cNvPr id="18" name="Image 16" descr="preencoded.png"/>
          <p:cNvPicPr>
            <a:picLocks noChangeAspect="1"/>
          </p:cNvPicPr>
          <p:nvPr/>
        </p:nvPicPr>
        <p:blipFill>
          <a:blip r:embed="rId17"/>
          <a:stretch>
            <a:fillRect/>
          </a:stretch>
        </p:blipFill>
        <p:spPr>
          <a:xfrm>
            <a:off x="10272713" y="2571750"/>
            <a:ext cx="219075" cy="266700"/>
          </a:xfrm>
          <a:prstGeom prst="rect">
            <a:avLst/>
          </a:prstGeom>
        </p:spPr>
      </p:pic>
      <p:pic>
        <p:nvPicPr>
          <p:cNvPr id="19" name="Image 17" descr="preencoded.png"/>
          <p:cNvPicPr>
            <a:picLocks noChangeAspect="1"/>
          </p:cNvPicPr>
          <p:nvPr/>
        </p:nvPicPr>
        <p:blipFill>
          <a:blip r:embed="rId18"/>
          <a:stretch>
            <a:fillRect/>
          </a:stretch>
        </p:blipFill>
        <p:spPr>
          <a:xfrm>
            <a:off x="381000" y="3781425"/>
            <a:ext cx="11430000" cy="1752600"/>
          </a:xfrm>
          <a:prstGeom prst="rect">
            <a:avLst/>
          </a:prstGeom>
        </p:spPr>
      </p:pic>
      <p:pic>
        <p:nvPicPr>
          <p:cNvPr id="20" name="Image 18" descr="preencoded.png"/>
          <p:cNvPicPr>
            <a:picLocks noChangeAspect="1"/>
          </p:cNvPicPr>
          <p:nvPr/>
        </p:nvPicPr>
        <p:blipFill>
          <a:blip r:embed="rId19"/>
          <a:stretch>
            <a:fillRect/>
          </a:stretch>
        </p:blipFill>
        <p:spPr>
          <a:xfrm>
            <a:off x="533400" y="4314825"/>
            <a:ext cx="3606701" cy="1066800"/>
          </a:xfrm>
          <a:prstGeom prst="rect">
            <a:avLst/>
          </a:prstGeom>
        </p:spPr>
      </p:pic>
      <p:pic>
        <p:nvPicPr>
          <p:cNvPr id="21" name="Image 19" descr="preencoded.png"/>
          <p:cNvPicPr>
            <a:picLocks noChangeAspect="1"/>
          </p:cNvPicPr>
          <p:nvPr/>
        </p:nvPicPr>
        <p:blipFill>
          <a:blip r:embed="rId20"/>
          <a:stretch>
            <a:fillRect/>
          </a:stretch>
        </p:blipFill>
        <p:spPr>
          <a:xfrm>
            <a:off x="647700" y="4467225"/>
            <a:ext cx="114300" cy="152400"/>
          </a:xfrm>
          <a:prstGeom prst="rect">
            <a:avLst/>
          </a:prstGeom>
        </p:spPr>
      </p:pic>
      <p:pic>
        <p:nvPicPr>
          <p:cNvPr id="22" name="Image 20" descr="preencoded.png"/>
          <p:cNvPicPr>
            <a:picLocks noChangeAspect="1"/>
          </p:cNvPicPr>
          <p:nvPr/>
        </p:nvPicPr>
        <p:blipFill>
          <a:blip r:embed="rId21"/>
          <a:stretch>
            <a:fillRect/>
          </a:stretch>
        </p:blipFill>
        <p:spPr>
          <a:xfrm>
            <a:off x="4292501" y="4314825"/>
            <a:ext cx="3606850" cy="1066800"/>
          </a:xfrm>
          <a:prstGeom prst="rect">
            <a:avLst/>
          </a:prstGeom>
        </p:spPr>
      </p:pic>
      <p:pic>
        <p:nvPicPr>
          <p:cNvPr id="23" name="Image 21" descr="preencoded.png"/>
          <p:cNvPicPr>
            <a:picLocks noChangeAspect="1"/>
          </p:cNvPicPr>
          <p:nvPr/>
        </p:nvPicPr>
        <p:blipFill>
          <a:blip r:embed="rId22"/>
          <a:stretch>
            <a:fillRect/>
          </a:stretch>
        </p:blipFill>
        <p:spPr>
          <a:xfrm>
            <a:off x="4406801" y="4467225"/>
            <a:ext cx="171450" cy="152400"/>
          </a:xfrm>
          <a:prstGeom prst="rect">
            <a:avLst/>
          </a:prstGeom>
        </p:spPr>
      </p:pic>
      <p:pic>
        <p:nvPicPr>
          <p:cNvPr id="24" name="Image 22" descr="preencoded.png"/>
          <p:cNvPicPr>
            <a:picLocks noChangeAspect="1"/>
          </p:cNvPicPr>
          <p:nvPr/>
        </p:nvPicPr>
        <p:blipFill>
          <a:blip r:embed="rId23"/>
          <a:stretch>
            <a:fillRect/>
          </a:stretch>
        </p:blipFill>
        <p:spPr>
          <a:xfrm>
            <a:off x="8051750" y="4314825"/>
            <a:ext cx="3606701" cy="1066800"/>
          </a:xfrm>
          <a:prstGeom prst="rect">
            <a:avLst/>
          </a:prstGeom>
        </p:spPr>
      </p:pic>
      <p:pic>
        <p:nvPicPr>
          <p:cNvPr id="25" name="Image 23" descr="preencoded.png"/>
          <p:cNvPicPr>
            <a:picLocks noChangeAspect="1"/>
          </p:cNvPicPr>
          <p:nvPr/>
        </p:nvPicPr>
        <p:blipFill>
          <a:blip r:embed="rId24"/>
          <a:stretch>
            <a:fillRect/>
          </a:stretch>
        </p:blipFill>
        <p:spPr>
          <a:xfrm>
            <a:off x="8166050" y="4467225"/>
            <a:ext cx="152400" cy="152400"/>
          </a:xfrm>
          <a:prstGeom prst="rect">
            <a:avLst/>
          </a:prstGeom>
        </p:spPr>
      </p:pic>
      <p:pic>
        <p:nvPicPr>
          <p:cNvPr id="26" name="Image 24" descr="preencoded.png"/>
          <p:cNvPicPr>
            <a:picLocks noChangeAspect="1"/>
          </p:cNvPicPr>
          <p:nvPr/>
        </p:nvPicPr>
        <p:blipFill>
          <a:blip r:embed="rId25"/>
          <a:stretch>
            <a:fillRect/>
          </a:stretch>
        </p:blipFill>
        <p:spPr>
          <a:xfrm>
            <a:off x="381000" y="5686425"/>
            <a:ext cx="11430000" cy="571500"/>
          </a:xfrm>
          <a:prstGeom prst="rect">
            <a:avLst/>
          </a:prstGeom>
        </p:spPr>
      </p:pic>
      <p:pic>
        <p:nvPicPr>
          <p:cNvPr id="27" name="Image 25" descr="preencoded.png"/>
          <p:cNvPicPr>
            <a:picLocks noChangeAspect="1"/>
          </p:cNvPicPr>
          <p:nvPr/>
        </p:nvPicPr>
        <p:blipFill>
          <a:blip r:embed="rId26"/>
          <a:stretch>
            <a:fillRect/>
          </a:stretch>
        </p:blipFill>
        <p:spPr>
          <a:xfrm>
            <a:off x="533400" y="5876925"/>
            <a:ext cx="133350" cy="171450"/>
          </a:xfrm>
          <a:prstGeom prst="rect">
            <a:avLst/>
          </a:prstGeom>
        </p:spPr>
      </p:pic>
      <p:sp>
        <p:nvSpPr>
          <p:cNvPr id="28" name="Text 0"/>
          <p:cNvSpPr/>
          <p:nvPr/>
        </p:nvSpPr>
        <p:spPr>
          <a:xfrm>
            <a:off x="381000" y="381000"/>
            <a:ext cx="13716000" cy="381000"/>
          </a:xfrm>
          <a:prstGeom prst="rect">
            <a:avLst/>
          </a:prstGeom>
          <a:noFill/>
          <a:ln/>
        </p:spPr>
        <p:txBody>
          <a:bodyPr wrap="square" lIns="0" tIns="0" rIns="0" bIns="0" rtlCol="0" anchor="t"/>
          <a:lstStyle/>
          <a:p>
            <a:pPr marL="0" indent="0">
              <a:lnSpc>
                <a:spcPts val="3000"/>
              </a:lnSpc>
              <a:buNone/>
            </a:pPr>
            <a:r>
              <a:rPr lang="en-US" sz="2700" b="1" dirty="0">
                <a:solidFill>
                  <a:srgbClr val="008080"/>
                </a:solidFill>
                <a:latin typeface="Roboto" pitchFamily="34" charset="0"/>
                <a:ea typeface="Roboto" pitchFamily="34" charset="-122"/>
                <a:cs typeface="Roboto" pitchFamily="34" charset="-120"/>
              </a:rPr>
              <a:t>Proposed ML Application &amp; ECE Relevance</a:t>
            </a:r>
            <a:endParaRPr lang="en-US" sz="2700" dirty="0"/>
          </a:p>
        </p:txBody>
      </p:sp>
      <p:sp>
        <p:nvSpPr>
          <p:cNvPr id="29" name="Text 1"/>
          <p:cNvSpPr/>
          <p:nvPr/>
        </p:nvSpPr>
        <p:spPr>
          <a:xfrm>
            <a:off x="716608" y="1238251"/>
            <a:ext cx="1536243" cy="225000"/>
          </a:xfrm>
          <a:prstGeom prst="rect">
            <a:avLst/>
          </a:prstGeom>
          <a:noFill/>
          <a:ln/>
        </p:spPr>
        <p:txBody>
          <a:bodyPr wrap="square" lIns="0" tIns="0" rIns="0" bIns="0" rtlCol="0" anchor="t"/>
          <a:lstStyle/>
          <a:p>
            <a:pPr marL="0" indent="0">
              <a:lnSpc>
                <a:spcPts val="2100"/>
              </a:lnSpc>
              <a:buNone/>
            </a:pPr>
            <a:r>
              <a:rPr lang="en-US" sz="1500" b="1" dirty="0">
                <a:solidFill>
                  <a:srgbClr val="36454F"/>
                </a:solidFill>
                <a:latin typeface="Roboto" pitchFamily="34" charset="0"/>
                <a:ea typeface="Roboto" pitchFamily="34" charset="-122"/>
                <a:cs typeface="Roboto" pitchFamily="34" charset="-120"/>
              </a:rPr>
              <a:t>Application Goal</a:t>
            </a:r>
            <a:endParaRPr lang="en-US" sz="1500" dirty="0"/>
          </a:p>
        </p:txBody>
      </p:sp>
      <p:sp>
        <p:nvSpPr>
          <p:cNvPr id="30" name="Text 2"/>
          <p:cNvSpPr/>
          <p:nvPr/>
        </p:nvSpPr>
        <p:spPr>
          <a:xfrm>
            <a:off x="716608" y="1504950"/>
            <a:ext cx="2857500" cy="571500"/>
          </a:xfrm>
          <a:prstGeom prst="rect">
            <a:avLst/>
          </a:prstGeom>
          <a:noFill/>
          <a:ln/>
        </p:spPr>
        <p:txBody>
          <a:bodyPr wrap="square" lIns="0" tIns="0" rIns="0" bIns="0" rtlCol="0" anchor="t"/>
          <a:lstStyle/>
          <a:p>
            <a:pPr marL="0" indent="0">
              <a:lnSpc>
                <a:spcPts val="1800"/>
              </a:lnSpc>
              <a:buNone/>
            </a:pPr>
            <a:r>
              <a:rPr lang="en-US" sz="1200" dirty="0">
                <a:solidFill>
                  <a:srgbClr val="374151"/>
                </a:solidFill>
                <a:latin typeface="Roboto" pitchFamily="34" charset="0"/>
                <a:ea typeface="Roboto" pitchFamily="34" charset="-122"/>
                <a:cs typeface="Roboto" pitchFamily="34" charset="-120"/>
              </a:rPr>
              <a:t>Implement a Topic Classification</a:t>
            </a:r>
          </a:p>
          <a:p>
            <a:pPr marL="0" indent="0">
              <a:lnSpc>
                <a:spcPts val="1800"/>
              </a:lnSpc>
              <a:buNone/>
            </a:pPr>
            <a:r>
              <a:rPr lang="en-US" sz="1200" b="1" dirty="0">
                <a:solidFill>
                  <a:srgbClr val="374151"/>
                </a:solidFill>
                <a:latin typeface="Roboto" pitchFamily="34" charset="0"/>
                <a:ea typeface="Roboto" pitchFamily="34" charset="-122"/>
                <a:cs typeface="Roboto" pitchFamily="34" charset="-120"/>
              </a:rPr>
              <a:t>Dataset: </a:t>
            </a:r>
            <a:r>
              <a:rPr lang="en-US" sz="1200" dirty="0">
                <a:solidFill>
                  <a:srgbClr val="374151"/>
                </a:solidFill>
                <a:latin typeface="Roboto" pitchFamily="34" charset="0"/>
                <a:ea typeface="Roboto" pitchFamily="34" charset="-122"/>
                <a:cs typeface="Roboto" pitchFamily="34" charset="-120"/>
              </a:rPr>
              <a:t> AG News Data (7600 Articles)</a:t>
            </a:r>
            <a:endParaRPr lang="en-US" sz="1200" b="1" dirty="0">
              <a:solidFill>
                <a:srgbClr val="FFA07A"/>
              </a:solidFill>
              <a:latin typeface="Roboto" pitchFamily="34" charset="0"/>
              <a:ea typeface="Roboto" pitchFamily="34" charset="-122"/>
              <a:cs typeface="Roboto" pitchFamily="34" charset="-120"/>
            </a:endParaRPr>
          </a:p>
          <a:p>
            <a:pPr>
              <a:lnSpc>
                <a:spcPts val="1800"/>
              </a:lnSpc>
            </a:pPr>
            <a:endParaRPr lang="en-US" sz="1200" dirty="0"/>
          </a:p>
        </p:txBody>
      </p:sp>
      <p:sp>
        <p:nvSpPr>
          <p:cNvPr id="31" name="Text 3"/>
          <p:cNvSpPr/>
          <p:nvPr/>
        </p:nvSpPr>
        <p:spPr>
          <a:xfrm>
            <a:off x="278130" y="3076575"/>
            <a:ext cx="3063240" cy="228600"/>
          </a:xfrm>
          <a:prstGeom prst="rect">
            <a:avLst/>
          </a:prstGeom>
          <a:noFill/>
          <a:ln/>
        </p:spPr>
        <p:txBody>
          <a:bodyPr wrap="square" lIns="0" tIns="0" rIns="0" bIns="0" rtlCol="0" anchor="t"/>
          <a:lstStyle/>
          <a:p>
            <a:pPr marL="0" indent="0" algn="ctr">
              <a:lnSpc>
                <a:spcPts val="1800"/>
              </a:lnSpc>
              <a:buNone/>
            </a:pPr>
            <a:r>
              <a:rPr lang="en-US" sz="1200" b="1" dirty="0">
                <a:solidFill>
                  <a:srgbClr val="36454F"/>
                </a:solidFill>
                <a:latin typeface="Roboto" pitchFamily="34" charset="0"/>
                <a:ea typeface="Roboto" pitchFamily="34" charset="-122"/>
                <a:cs typeface="Roboto" pitchFamily="34" charset="-120"/>
              </a:rPr>
              <a:t>Multilayer Perceptron</a:t>
            </a:r>
            <a:endParaRPr lang="en-US" sz="1200" dirty="0"/>
          </a:p>
        </p:txBody>
      </p:sp>
      <p:sp>
        <p:nvSpPr>
          <p:cNvPr id="32" name="Text 4"/>
          <p:cNvSpPr/>
          <p:nvPr/>
        </p:nvSpPr>
        <p:spPr>
          <a:xfrm>
            <a:off x="278130" y="3381375"/>
            <a:ext cx="3063240" cy="190500"/>
          </a:xfrm>
          <a:prstGeom prst="rect">
            <a:avLst/>
          </a:prstGeom>
          <a:noFill/>
          <a:ln/>
        </p:spPr>
        <p:txBody>
          <a:bodyPr wrap="square" lIns="0" tIns="0" rIns="0" bIns="0" rtlCol="0" anchor="t"/>
          <a:lstStyle/>
          <a:p>
            <a:pPr marL="0" indent="0" algn="ctr">
              <a:lnSpc>
                <a:spcPts val="1500"/>
              </a:lnSpc>
              <a:buNone/>
            </a:pPr>
            <a:r>
              <a:rPr lang="en-US" sz="1050" dirty="0">
                <a:solidFill>
                  <a:srgbClr val="4B5563"/>
                </a:solidFill>
                <a:latin typeface="Roboto" pitchFamily="34" charset="0"/>
                <a:ea typeface="Roboto" pitchFamily="34" charset="-122"/>
                <a:cs typeface="Roboto" pitchFamily="34" charset="-120"/>
              </a:rPr>
              <a:t>Build from neuron level</a:t>
            </a:r>
            <a:endParaRPr lang="en-US" sz="1050" dirty="0"/>
          </a:p>
        </p:txBody>
      </p:sp>
      <p:sp>
        <p:nvSpPr>
          <p:cNvPr id="33" name="Text 5"/>
          <p:cNvSpPr/>
          <p:nvPr/>
        </p:nvSpPr>
        <p:spPr>
          <a:xfrm>
            <a:off x="4564380" y="3076575"/>
            <a:ext cx="3063240" cy="228600"/>
          </a:xfrm>
          <a:prstGeom prst="rect">
            <a:avLst/>
          </a:prstGeom>
          <a:noFill/>
          <a:ln/>
        </p:spPr>
        <p:txBody>
          <a:bodyPr wrap="square" lIns="0" tIns="0" rIns="0" bIns="0" rtlCol="0" anchor="t"/>
          <a:lstStyle/>
          <a:p>
            <a:pPr marL="0" indent="0" algn="ctr">
              <a:lnSpc>
                <a:spcPts val="1800"/>
              </a:lnSpc>
              <a:buNone/>
            </a:pPr>
            <a:r>
              <a:rPr lang="en-US" sz="1200" b="1" dirty="0">
                <a:solidFill>
                  <a:srgbClr val="36454F"/>
                </a:solidFill>
                <a:latin typeface="Roboto" pitchFamily="34" charset="0"/>
                <a:ea typeface="Roboto" pitchFamily="34" charset="-122"/>
                <a:cs typeface="Roboto" pitchFamily="34" charset="-120"/>
              </a:rPr>
              <a:t>Convolutional Neural Network</a:t>
            </a:r>
            <a:endParaRPr lang="en-US" sz="1200" dirty="0"/>
          </a:p>
        </p:txBody>
      </p:sp>
      <p:sp>
        <p:nvSpPr>
          <p:cNvPr id="34" name="Text 6"/>
          <p:cNvSpPr/>
          <p:nvPr/>
        </p:nvSpPr>
        <p:spPr>
          <a:xfrm>
            <a:off x="4564380" y="3381375"/>
            <a:ext cx="3063240" cy="190500"/>
          </a:xfrm>
          <a:prstGeom prst="rect">
            <a:avLst/>
          </a:prstGeom>
          <a:noFill/>
          <a:ln/>
        </p:spPr>
        <p:txBody>
          <a:bodyPr wrap="square" lIns="0" tIns="0" rIns="0" bIns="0" rtlCol="0" anchor="t"/>
          <a:lstStyle/>
          <a:p>
            <a:pPr marL="0" indent="0" algn="ctr">
              <a:lnSpc>
                <a:spcPts val="1500"/>
              </a:lnSpc>
              <a:buNone/>
            </a:pPr>
            <a:r>
              <a:rPr lang="en-US" sz="1050" dirty="0">
                <a:solidFill>
                  <a:srgbClr val="4B5563"/>
                </a:solidFill>
                <a:latin typeface="Roboto" pitchFamily="34" charset="0"/>
                <a:ea typeface="Roboto" pitchFamily="34" charset="-122"/>
                <a:cs typeface="Roboto" pitchFamily="34" charset="-120"/>
              </a:rPr>
              <a:t>For text processing</a:t>
            </a:r>
            <a:endParaRPr lang="en-US" sz="1050" dirty="0"/>
          </a:p>
        </p:txBody>
      </p:sp>
      <p:sp>
        <p:nvSpPr>
          <p:cNvPr id="35" name="Text 7"/>
          <p:cNvSpPr/>
          <p:nvPr/>
        </p:nvSpPr>
        <p:spPr>
          <a:xfrm>
            <a:off x="8850630" y="3076575"/>
            <a:ext cx="3063240" cy="228600"/>
          </a:xfrm>
          <a:prstGeom prst="rect">
            <a:avLst/>
          </a:prstGeom>
          <a:noFill/>
          <a:ln/>
        </p:spPr>
        <p:txBody>
          <a:bodyPr wrap="square" lIns="0" tIns="0" rIns="0" bIns="0" rtlCol="0" anchor="t"/>
          <a:lstStyle/>
          <a:p>
            <a:pPr marL="0" indent="0" algn="ctr">
              <a:lnSpc>
                <a:spcPts val="1800"/>
              </a:lnSpc>
              <a:buNone/>
            </a:pPr>
            <a:r>
              <a:rPr lang="en-US" sz="1200" b="1" dirty="0">
                <a:solidFill>
                  <a:srgbClr val="36454F"/>
                </a:solidFill>
                <a:latin typeface="Roboto" pitchFamily="34" charset="0"/>
                <a:ea typeface="Roboto" pitchFamily="34" charset="-122"/>
                <a:cs typeface="Roboto" pitchFamily="34" charset="-120"/>
              </a:rPr>
              <a:t>Self-Attention &amp; Transformer</a:t>
            </a:r>
            <a:endParaRPr lang="en-US" sz="1200" dirty="0"/>
          </a:p>
        </p:txBody>
      </p:sp>
      <p:sp>
        <p:nvSpPr>
          <p:cNvPr id="36" name="Text 8"/>
          <p:cNvSpPr/>
          <p:nvPr/>
        </p:nvSpPr>
        <p:spPr>
          <a:xfrm>
            <a:off x="8850630" y="3381375"/>
            <a:ext cx="3063240" cy="190500"/>
          </a:xfrm>
          <a:prstGeom prst="rect">
            <a:avLst/>
          </a:prstGeom>
          <a:noFill/>
          <a:ln/>
        </p:spPr>
        <p:txBody>
          <a:bodyPr wrap="square" lIns="0" tIns="0" rIns="0" bIns="0" rtlCol="0" anchor="t"/>
          <a:lstStyle/>
          <a:p>
            <a:pPr marL="0" indent="0" algn="ctr">
              <a:lnSpc>
                <a:spcPts val="1500"/>
              </a:lnSpc>
              <a:buNone/>
            </a:pPr>
            <a:r>
              <a:rPr lang="en-US" sz="1050" dirty="0">
                <a:solidFill>
                  <a:srgbClr val="4B5563"/>
                </a:solidFill>
                <a:latin typeface="Roboto" pitchFamily="34" charset="0"/>
                <a:ea typeface="Roboto" pitchFamily="34" charset="-122"/>
                <a:cs typeface="Roboto" pitchFamily="34" charset="-120"/>
              </a:rPr>
              <a:t>Mini-Transformer implementation</a:t>
            </a:r>
            <a:endParaRPr lang="en-US" sz="1050" dirty="0"/>
          </a:p>
        </p:txBody>
      </p:sp>
      <p:sp>
        <p:nvSpPr>
          <p:cNvPr id="37" name="Text 9"/>
          <p:cNvSpPr/>
          <p:nvPr/>
        </p:nvSpPr>
        <p:spPr>
          <a:xfrm>
            <a:off x="533400" y="3933825"/>
            <a:ext cx="11125200" cy="266700"/>
          </a:xfrm>
          <a:prstGeom prst="rect">
            <a:avLst/>
          </a:prstGeom>
          <a:noFill/>
          <a:ln/>
        </p:spPr>
        <p:txBody>
          <a:bodyPr wrap="square" lIns="0" tIns="0" rIns="0" bIns="0" rtlCol="0" anchor="t"/>
          <a:lstStyle/>
          <a:p>
            <a:pPr marL="0" indent="0">
              <a:lnSpc>
                <a:spcPts val="2100"/>
              </a:lnSpc>
              <a:buNone/>
            </a:pPr>
            <a:r>
              <a:rPr lang="en-US" sz="1500" b="1" dirty="0">
                <a:solidFill>
                  <a:srgbClr val="36454F"/>
                </a:solidFill>
                <a:latin typeface="Roboto" pitchFamily="34" charset="0"/>
                <a:ea typeface="Roboto" pitchFamily="34" charset="-122"/>
                <a:cs typeface="Roboto" pitchFamily="34" charset="-120"/>
              </a:rPr>
              <a:t>ECE Relevance - Engineering Considerations</a:t>
            </a:r>
            <a:endParaRPr lang="en-US" sz="1500" dirty="0"/>
          </a:p>
        </p:txBody>
      </p:sp>
      <p:sp>
        <p:nvSpPr>
          <p:cNvPr id="38" name="Text 10"/>
          <p:cNvSpPr/>
          <p:nvPr/>
        </p:nvSpPr>
        <p:spPr>
          <a:xfrm>
            <a:off x="838200" y="4429125"/>
            <a:ext cx="4053721" cy="228600"/>
          </a:xfrm>
          <a:prstGeom prst="rect">
            <a:avLst/>
          </a:prstGeom>
          <a:noFill/>
          <a:ln/>
        </p:spPr>
        <p:txBody>
          <a:bodyPr wrap="square" lIns="0" tIns="0" rIns="0" bIns="0" rtlCol="0" anchor="t"/>
          <a:lstStyle/>
          <a:p>
            <a:pPr marL="0" indent="0">
              <a:lnSpc>
                <a:spcPts val="1800"/>
              </a:lnSpc>
              <a:buNone/>
            </a:pPr>
            <a:r>
              <a:rPr lang="en-US" sz="1200" b="1" dirty="0">
                <a:solidFill>
                  <a:srgbClr val="36454F"/>
                </a:solidFill>
                <a:latin typeface="Roboto" pitchFamily="34" charset="0"/>
                <a:ea typeface="Roboto" pitchFamily="34" charset="-122"/>
                <a:cs typeface="Roboto" pitchFamily="34" charset="-120"/>
              </a:rPr>
              <a:t>Computational Complexity</a:t>
            </a:r>
            <a:endParaRPr lang="en-US" sz="1200" dirty="0"/>
          </a:p>
        </p:txBody>
      </p:sp>
      <p:sp>
        <p:nvSpPr>
          <p:cNvPr id="39" name="Text 11"/>
          <p:cNvSpPr/>
          <p:nvPr/>
        </p:nvSpPr>
        <p:spPr>
          <a:xfrm>
            <a:off x="647700" y="4695825"/>
            <a:ext cx="4053721"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6454F"/>
                </a:solidFill>
                <a:latin typeface="Roboto" pitchFamily="34" charset="0"/>
                <a:ea typeface="Roboto" pitchFamily="34" charset="-122"/>
                <a:cs typeface="Roboto" pitchFamily="34" charset="-120"/>
              </a:rPr>
              <a:t>MLP:</a:t>
            </a:r>
            <a:r>
              <a:rPr lang="en-US" sz="1050" dirty="0">
                <a:solidFill>
                  <a:srgbClr val="36454F"/>
                </a:solidFill>
                <a:latin typeface="Roboto" pitchFamily="34" charset="0"/>
                <a:ea typeface="Roboto" pitchFamily="34" charset="-122"/>
                <a:cs typeface="Roboto" pitchFamily="34" charset="-120"/>
              </a:rPr>
              <a:t> O(layers×neurons)</a:t>
            </a:r>
            <a:endParaRPr lang="en-US" sz="1050" dirty="0"/>
          </a:p>
        </p:txBody>
      </p:sp>
      <p:sp>
        <p:nvSpPr>
          <p:cNvPr id="40" name="Text 12"/>
          <p:cNvSpPr/>
          <p:nvPr/>
        </p:nvSpPr>
        <p:spPr>
          <a:xfrm>
            <a:off x="647700" y="4886325"/>
            <a:ext cx="3378101"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6454F"/>
                </a:solidFill>
                <a:latin typeface="Roboto" pitchFamily="34" charset="0"/>
                <a:ea typeface="Roboto" pitchFamily="34" charset="-122"/>
                <a:cs typeface="Roboto" pitchFamily="34" charset="-120"/>
              </a:rPr>
              <a:t>CNN:</a:t>
            </a:r>
            <a:r>
              <a:rPr lang="en-US" sz="1050" dirty="0">
                <a:solidFill>
                  <a:srgbClr val="36454F"/>
                </a:solidFill>
                <a:latin typeface="Roboto" pitchFamily="34" charset="0"/>
                <a:ea typeface="Roboto" pitchFamily="34" charset="-122"/>
                <a:cs typeface="Roboto" pitchFamily="34" charset="-120"/>
              </a:rPr>
              <a:t> O(N×K)</a:t>
            </a:r>
            <a:endParaRPr lang="en-US" sz="1050" dirty="0"/>
          </a:p>
        </p:txBody>
      </p:sp>
      <p:sp>
        <p:nvSpPr>
          <p:cNvPr id="41" name="Text 13"/>
          <p:cNvSpPr/>
          <p:nvPr/>
        </p:nvSpPr>
        <p:spPr>
          <a:xfrm>
            <a:off x="838200" y="5095875"/>
            <a:ext cx="987088" cy="152400"/>
          </a:xfrm>
          <a:prstGeom prst="rect">
            <a:avLst/>
          </a:prstGeom>
          <a:noFill/>
          <a:ln/>
        </p:spPr>
        <p:txBody>
          <a:bodyPr wrap="square" lIns="0" tIns="0" rIns="0" bIns="0" rtlCol="0" anchor="t"/>
          <a:lstStyle/>
          <a:p>
            <a:pPr marL="0" indent="0" algn="l">
              <a:lnSpc>
                <a:spcPts val="1500"/>
              </a:lnSpc>
              <a:buNone/>
            </a:pPr>
            <a:r>
              <a:rPr lang="en-US" sz="1050" b="1" dirty="0">
                <a:solidFill>
                  <a:srgbClr val="36454F"/>
                </a:solidFill>
                <a:latin typeface="Roboto" pitchFamily="34" charset="0"/>
                <a:ea typeface="Roboto" pitchFamily="34" charset="-122"/>
                <a:cs typeface="Roboto" pitchFamily="34" charset="-120"/>
              </a:rPr>
              <a:t>Transformer:</a:t>
            </a:r>
            <a:endParaRPr lang="en-US" sz="1050" dirty="0"/>
          </a:p>
        </p:txBody>
      </p:sp>
      <p:sp>
        <p:nvSpPr>
          <p:cNvPr id="42" name="Text 14"/>
          <p:cNvSpPr/>
          <p:nvPr/>
        </p:nvSpPr>
        <p:spPr>
          <a:xfrm>
            <a:off x="1697831" y="5095875"/>
            <a:ext cx="573286" cy="152400"/>
          </a:xfrm>
          <a:prstGeom prst="rect">
            <a:avLst/>
          </a:prstGeom>
          <a:noFill/>
          <a:ln/>
        </p:spPr>
        <p:txBody>
          <a:bodyPr wrap="square" lIns="0" tIns="0" rIns="0" bIns="0" rtlCol="0" anchor="t"/>
          <a:lstStyle/>
          <a:p>
            <a:pPr marL="0" indent="0" algn="l">
              <a:lnSpc>
                <a:spcPts val="1500"/>
              </a:lnSpc>
              <a:buNone/>
            </a:pPr>
            <a:r>
              <a:rPr lang="en-US" sz="1050" b="1" dirty="0">
                <a:solidFill>
                  <a:srgbClr val="EA580C"/>
                </a:solidFill>
                <a:latin typeface="Roboto" pitchFamily="34" charset="0"/>
                <a:ea typeface="Roboto" pitchFamily="34" charset="-122"/>
                <a:cs typeface="Roboto" pitchFamily="34" charset="-120"/>
              </a:rPr>
              <a:t>O(n²×d)</a:t>
            </a:r>
            <a:endParaRPr lang="en-US" sz="1050" dirty="0"/>
          </a:p>
        </p:txBody>
      </p:sp>
      <p:sp>
        <p:nvSpPr>
          <p:cNvPr id="43" name="Text 15"/>
          <p:cNvSpPr/>
          <p:nvPr/>
        </p:nvSpPr>
        <p:spPr>
          <a:xfrm>
            <a:off x="4654451" y="4429125"/>
            <a:ext cx="3378250" cy="228600"/>
          </a:xfrm>
          <a:prstGeom prst="rect">
            <a:avLst/>
          </a:prstGeom>
          <a:noFill/>
          <a:ln/>
        </p:spPr>
        <p:txBody>
          <a:bodyPr wrap="square" lIns="0" tIns="0" rIns="0" bIns="0" rtlCol="0" anchor="t"/>
          <a:lstStyle/>
          <a:p>
            <a:pPr marL="0" indent="0">
              <a:lnSpc>
                <a:spcPts val="1800"/>
              </a:lnSpc>
              <a:buNone/>
            </a:pPr>
            <a:r>
              <a:rPr lang="en-US" sz="1200" b="1" dirty="0">
                <a:solidFill>
                  <a:srgbClr val="36454F"/>
                </a:solidFill>
                <a:latin typeface="Roboto" pitchFamily="34" charset="0"/>
                <a:ea typeface="Roboto" pitchFamily="34" charset="-122"/>
                <a:cs typeface="Roboto" pitchFamily="34" charset="-120"/>
              </a:rPr>
              <a:t>System Performance</a:t>
            </a:r>
            <a:endParaRPr lang="en-US" sz="1200" dirty="0"/>
          </a:p>
        </p:txBody>
      </p:sp>
      <p:sp>
        <p:nvSpPr>
          <p:cNvPr id="44" name="Text 16"/>
          <p:cNvSpPr/>
          <p:nvPr/>
        </p:nvSpPr>
        <p:spPr>
          <a:xfrm>
            <a:off x="4406801" y="4695825"/>
            <a:ext cx="4053900"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6454F"/>
                </a:solidFill>
                <a:latin typeface="Roboto" pitchFamily="34" charset="0"/>
                <a:ea typeface="Roboto" pitchFamily="34" charset="-122"/>
                <a:cs typeface="Roboto" pitchFamily="34" charset="-120"/>
              </a:rPr>
              <a:t>MLP:</a:t>
            </a:r>
            <a:r>
              <a:rPr lang="en-US" sz="1050" dirty="0">
                <a:solidFill>
                  <a:srgbClr val="36454F"/>
                </a:solidFill>
                <a:latin typeface="Roboto" pitchFamily="34" charset="0"/>
                <a:ea typeface="Roboto" pitchFamily="34" charset="-122"/>
                <a:cs typeface="Roboto" pitchFamily="34" charset="-120"/>
              </a:rPr>
              <a:t> Fast training/inference</a:t>
            </a:r>
            <a:endParaRPr lang="en-US" sz="1050" dirty="0"/>
          </a:p>
        </p:txBody>
      </p:sp>
      <p:sp>
        <p:nvSpPr>
          <p:cNvPr id="45" name="Text 17"/>
          <p:cNvSpPr/>
          <p:nvPr/>
        </p:nvSpPr>
        <p:spPr>
          <a:xfrm>
            <a:off x="4406801" y="4886325"/>
            <a:ext cx="4053900"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6454F"/>
                </a:solidFill>
                <a:latin typeface="Roboto" pitchFamily="34" charset="0"/>
                <a:ea typeface="Roboto" pitchFamily="34" charset="-122"/>
                <a:cs typeface="Roboto" pitchFamily="34" charset="-120"/>
              </a:rPr>
              <a:t>CNN:</a:t>
            </a:r>
            <a:r>
              <a:rPr lang="en-US" sz="1050" dirty="0">
                <a:solidFill>
                  <a:srgbClr val="36454F"/>
                </a:solidFill>
                <a:latin typeface="Roboto" pitchFamily="34" charset="0"/>
                <a:ea typeface="Roboto" pitchFamily="34" charset="-122"/>
                <a:cs typeface="Roboto" pitchFamily="34" charset="-120"/>
              </a:rPr>
              <a:t> Good local feature extraction</a:t>
            </a:r>
            <a:endParaRPr lang="en-US" sz="1050" dirty="0"/>
          </a:p>
        </p:txBody>
      </p:sp>
      <p:sp>
        <p:nvSpPr>
          <p:cNvPr id="46" name="Text 18"/>
          <p:cNvSpPr/>
          <p:nvPr/>
        </p:nvSpPr>
        <p:spPr>
          <a:xfrm>
            <a:off x="4406801" y="5076825"/>
            <a:ext cx="4053900"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6454F"/>
                </a:solidFill>
                <a:latin typeface="Roboto" pitchFamily="34" charset="0"/>
                <a:ea typeface="Roboto" pitchFamily="34" charset="-122"/>
                <a:cs typeface="Roboto" pitchFamily="34" charset="-120"/>
              </a:rPr>
              <a:t>Transformer:</a:t>
            </a:r>
            <a:r>
              <a:rPr lang="en-US" sz="1050" dirty="0">
                <a:solidFill>
                  <a:srgbClr val="36454F"/>
                </a:solidFill>
                <a:latin typeface="Roboto" pitchFamily="34" charset="0"/>
                <a:ea typeface="Roboto" pitchFamily="34" charset="-122"/>
                <a:cs typeface="Roboto" pitchFamily="34" charset="-120"/>
              </a:rPr>
              <a:t> Parallel computation</a:t>
            </a:r>
            <a:endParaRPr lang="en-US" sz="1050" dirty="0"/>
          </a:p>
        </p:txBody>
      </p:sp>
      <p:sp>
        <p:nvSpPr>
          <p:cNvPr id="47" name="Text 19"/>
          <p:cNvSpPr/>
          <p:nvPr/>
        </p:nvSpPr>
        <p:spPr>
          <a:xfrm>
            <a:off x="8394650" y="4429125"/>
            <a:ext cx="4053721" cy="228600"/>
          </a:xfrm>
          <a:prstGeom prst="rect">
            <a:avLst/>
          </a:prstGeom>
          <a:noFill/>
          <a:ln/>
        </p:spPr>
        <p:txBody>
          <a:bodyPr wrap="square" lIns="0" tIns="0" rIns="0" bIns="0" rtlCol="0" anchor="t"/>
          <a:lstStyle/>
          <a:p>
            <a:pPr marL="0" indent="0">
              <a:lnSpc>
                <a:spcPts val="1800"/>
              </a:lnSpc>
              <a:buNone/>
            </a:pPr>
            <a:r>
              <a:rPr lang="en-US" sz="1200" b="1" dirty="0">
                <a:solidFill>
                  <a:srgbClr val="36454F"/>
                </a:solidFill>
                <a:latin typeface="Roboto" pitchFamily="34" charset="0"/>
                <a:ea typeface="Roboto" pitchFamily="34" charset="-122"/>
                <a:cs typeface="Roboto" pitchFamily="34" charset="-120"/>
              </a:rPr>
              <a:t>Hardware-Software Co-design</a:t>
            </a:r>
            <a:endParaRPr lang="en-US" sz="1200" dirty="0"/>
          </a:p>
        </p:txBody>
      </p:sp>
      <p:sp>
        <p:nvSpPr>
          <p:cNvPr id="48" name="Text 20"/>
          <p:cNvSpPr/>
          <p:nvPr/>
        </p:nvSpPr>
        <p:spPr>
          <a:xfrm>
            <a:off x="8166050" y="4695825"/>
            <a:ext cx="4053721"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6454F"/>
                </a:solidFill>
                <a:latin typeface="Roboto" pitchFamily="34" charset="0"/>
                <a:ea typeface="Roboto" pitchFamily="34" charset="-122"/>
                <a:cs typeface="Roboto" pitchFamily="34" charset="-120"/>
              </a:rPr>
              <a:t>MLP:</a:t>
            </a:r>
            <a:r>
              <a:rPr lang="en-US" sz="1050" dirty="0">
                <a:solidFill>
                  <a:srgbClr val="36454F"/>
                </a:solidFill>
                <a:latin typeface="Roboto" pitchFamily="34" charset="0"/>
                <a:ea typeface="Roboto" pitchFamily="34" charset="-122"/>
                <a:cs typeface="Roboto" pitchFamily="34" charset="-120"/>
              </a:rPr>
              <a:t> Simple, low optimization</a:t>
            </a:r>
            <a:endParaRPr lang="en-US" sz="1050" dirty="0"/>
          </a:p>
        </p:txBody>
      </p:sp>
      <p:sp>
        <p:nvSpPr>
          <p:cNvPr id="49" name="Text 21"/>
          <p:cNvSpPr/>
          <p:nvPr/>
        </p:nvSpPr>
        <p:spPr>
          <a:xfrm>
            <a:off x="8166050" y="4886325"/>
            <a:ext cx="4053721"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6454F"/>
                </a:solidFill>
                <a:latin typeface="Roboto" pitchFamily="34" charset="0"/>
                <a:ea typeface="Roboto" pitchFamily="34" charset="-122"/>
                <a:cs typeface="Roboto" pitchFamily="34" charset="-120"/>
              </a:rPr>
              <a:t>CNN:</a:t>
            </a:r>
            <a:r>
              <a:rPr lang="en-US" sz="1050" dirty="0">
                <a:solidFill>
                  <a:srgbClr val="36454F"/>
                </a:solidFill>
                <a:latin typeface="Roboto" pitchFamily="34" charset="0"/>
                <a:ea typeface="Roboto" pitchFamily="34" charset="-122"/>
                <a:cs typeface="Roboto" pitchFamily="34" charset="-120"/>
              </a:rPr>
              <a:t> Maps to parallel hardware</a:t>
            </a:r>
            <a:endParaRPr lang="en-US" sz="1050" dirty="0"/>
          </a:p>
        </p:txBody>
      </p:sp>
      <p:sp>
        <p:nvSpPr>
          <p:cNvPr id="50" name="Text 22"/>
          <p:cNvSpPr/>
          <p:nvPr/>
        </p:nvSpPr>
        <p:spPr>
          <a:xfrm>
            <a:off x="8166050" y="5076825"/>
            <a:ext cx="4053721"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6454F"/>
                </a:solidFill>
                <a:latin typeface="Roboto" pitchFamily="34" charset="0"/>
                <a:ea typeface="Roboto" pitchFamily="34" charset="-122"/>
                <a:cs typeface="Roboto" pitchFamily="34" charset="-120"/>
              </a:rPr>
              <a:t>Transformer:</a:t>
            </a:r>
            <a:r>
              <a:rPr lang="en-US" sz="1050" dirty="0">
                <a:solidFill>
                  <a:srgbClr val="36454F"/>
                </a:solidFill>
                <a:latin typeface="Roboto" pitchFamily="34" charset="0"/>
                <a:ea typeface="Roboto" pitchFamily="34" charset="-122"/>
                <a:cs typeface="Roboto" pitchFamily="34" charset="-120"/>
              </a:rPr>
              <a:t> Requires GPU/TPU acceleration</a:t>
            </a:r>
            <a:endParaRPr lang="en-US" sz="1050" dirty="0"/>
          </a:p>
        </p:txBody>
      </p:sp>
      <p:sp>
        <p:nvSpPr>
          <p:cNvPr id="51" name="Text 23"/>
          <p:cNvSpPr/>
          <p:nvPr/>
        </p:nvSpPr>
        <p:spPr>
          <a:xfrm>
            <a:off x="790724" y="5838825"/>
            <a:ext cx="13350240" cy="266700"/>
          </a:xfrm>
          <a:prstGeom prst="rect">
            <a:avLst/>
          </a:prstGeom>
          <a:noFill/>
          <a:ln/>
        </p:spPr>
        <p:txBody>
          <a:bodyPr wrap="square" lIns="0" tIns="0" rIns="0" bIns="0" rtlCol="0" anchor="t"/>
          <a:lstStyle/>
          <a:p>
            <a:pPr marL="0" indent="0">
              <a:lnSpc>
                <a:spcPts val="2100"/>
              </a:lnSpc>
              <a:buNone/>
            </a:pPr>
            <a:r>
              <a:rPr lang="en-US" sz="1350" b="1" dirty="0">
                <a:solidFill>
                  <a:srgbClr val="FFFFFF"/>
                </a:solidFill>
                <a:latin typeface="Roboto" pitchFamily="34" charset="0"/>
                <a:ea typeface="Roboto" pitchFamily="34" charset="-122"/>
                <a:cs typeface="Roboto" pitchFamily="34" charset="-120"/>
              </a:rPr>
              <a:t>Key Insight:</a:t>
            </a:r>
            <a:r>
              <a:rPr lang="en-US" sz="1350" dirty="0">
                <a:solidFill>
                  <a:srgbClr val="FFFFFF"/>
                </a:solidFill>
                <a:latin typeface="Roboto" pitchFamily="34" charset="0"/>
                <a:ea typeface="Roboto" pitchFamily="34" charset="-122"/>
                <a:cs typeface="Roboto" pitchFamily="34" charset="-120"/>
              </a:rPr>
              <a:t> Understanding NLP systems from first principles is essential for optimizing performance and efficiency in real-world applications.</a:t>
            </a:r>
            <a:endParaRPr lang="en-US" sz="1350" dirty="0"/>
          </a:p>
        </p:txBody>
      </p:sp>
      <p:pic>
        <p:nvPicPr>
          <p:cNvPr id="68" name="Image 3" descr="preencoded.png">
            <a:extLst>
              <a:ext uri="{FF2B5EF4-FFF2-40B4-BE49-F238E27FC236}">
                <a16:creationId xmlns:a16="http://schemas.microsoft.com/office/drawing/2014/main" id="{C89ED354-48EE-E3AC-77AD-AAA32059380A}"/>
              </a:ext>
            </a:extLst>
          </p:cNvPr>
          <p:cNvPicPr>
            <a:picLocks noChangeAspect="1"/>
          </p:cNvPicPr>
          <p:nvPr/>
        </p:nvPicPr>
        <p:blipFill>
          <a:blip r:embed="rId6"/>
          <a:stretch>
            <a:fillRect/>
          </a:stretch>
        </p:blipFill>
        <p:spPr>
          <a:xfrm>
            <a:off x="3852863" y="1108913"/>
            <a:ext cx="7958137" cy="1080000"/>
          </a:xfrm>
          <a:prstGeom prst="rect">
            <a:avLst/>
          </a:prstGeom>
        </p:spPr>
      </p:pic>
      <p:sp>
        <p:nvSpPr>
          <p:cNvPr id="71" name="Text 2">
            <a:extLst>
              <a:ext uri="{FF2B5EF4-FFF2-40B4-BE49-F238E27FC236}">
                <a16:creationId xmlns:a16="http://schemas.microsoft.com/office/drawing/2014/main" id="{0F64C238-D427-59CE-6A61-8751235B3AD3}"/>
              </a:ext>
            </a:extLst>
          </p:cNvPr>
          <p:cNvSpPr/>
          <p:nvPr/>
        </p:nvSpPr>
        <p:spPr>
          <a:xfrm>
            <a:off x="3917211" y="1168650"/>
            <a:ext cx="7821708" cy="869700"/>
          </a:xfrm>
          <a:prstGeom prst="rect">
            <a:avLst/>
          </a:prstGeom>
          <a:noFill/>
          <a:ln/>
        </p:spPr>
        <p:txBody>
          <a:bodyPr wrap="square" lIns="0" tIns="0" rIns="0" bIns="0" rtlCol="0" anchor="t"/>
          <a:lstStyle/>
          <a:p>
            <a:pPr marL="0" indent="0">
              <a:lnSpc>
                <a:spcPts val="1800"/>
              </a:lnSpc>
              <a:buNone/>
            </a:pPr>
            <a:r>
              <a:rPr lang="en-US" sz="1200" b="1" dirty="0">
                <a:solidFill>
                  <a:srgbClr val="374151"/>
                </a:solidFill>
                <a:latin typeface="Roboto" pitchFamily="34" charset="0"/>
                <a:ea typeface="Roboto" pitchFamily="34" charset="-122"/>
                <a:cs typeface="Roboto" pitchFamily="34" charset="-120"/>
              </a:rPr>
              <a:t>Focus : </a:t>
            </a:r>
            <a:r>
              <a:rPr lang="en-US" sz="1200" dirty="0">
                <a:solidFill>
                  <a:srgbClr val="374151"/>
                </a:solidFill>
                <a:latin typeface="Roboto" pitchFamily="34" charset="0"/>
                <a:ea typeface="Roboto" pitchFamily="34" charset="-122"/>
                <a:cs typeface="Roboto" pitchFamily="34" charset="-120"/>
              </a:rPr>
              <a:t> Efficiency of model implementation, edge devices will be our devices of interest.</a:t>
            </a:r>
          </a:p>
          <a:p>
            <a:pPr marL="0" indent="0">
              <a:lnSpc>
                <a:spcPts val="1800"/>
              </a:lnSpc>
              <a:buNone/>
            </a:pPr>
            <a:r>
              <a:rPr lang="en-US" sz="1200" b="1" dirty="0">
                <a:solidFill>
                  <a:srgbClr val="374151"/>
                </a:solidFill>
                <a:latin typeface="Roboto" pitchFamily="34" charset="0"/>
                <a:ea typeface="Roboto" pitchFamily="34" charset="-122"/>
                <a:cs typeface="Roboto" pitchFamily="34" charset="-120"/>
              </a:rPr>
              <a:t>Factors : </a:t>
            </a:r>
            <a:r>
              <a:rPr lang="en-US" sz="1200" dirty="0">
                <a:solidFill>
                  <a:srgbClr val="374151"/>
                </a:solidFill>
                <a:latin typeface="Roboto" pitchFamily="34" charset="0"/>
                <a:ea typeface="Roboto" pitchFamily="34" charset="-122"/>
                <a:cs typeface="Roboto" pitchFamily="34" charset="-120"/>
              </a:rPr>
              <a:t>FLOPs , Memory Usage, Response Time</a:t>
            </a:r>
          </a:p>
          <a:p>
            <a:pPr marL="0" indent="0">
              <a:lnSpc>
                <a:spcPts val="1800"/>
              </a:lnSpc>
              <a:buNone/>
            </a:pPr>
            <a:r>
              <a:rPr lang="en-US" sz="1200" b="1" dirty="0">
                <a:solidFill>
                  <a:srgbClr val="374151"/>
                </a:solidFill>
                <a:latin typeface="Roboto" pitchFamily="34" charset="0"/>
                <a:ea typeface="Roboto" pitchFamily="34" charset="-122"/>
                <a:cs typeface="Roboto" pitchFamily="34" charset="-120"/>
              </a:rPr>
              <a:t>Metrics : </a:t>
            </a:r>
            <a:r>
              <a:rPr lang="en-US" sz="1200" dirty="0">
                <a:solidFill>
                  <a:srgbClr val="374151"/>
                </a:solidFill>
                <a:latin typeface="Roboto" pitchFamily="34" charset="0"/>
                <a:ea typeface="Roboto" pitchFamily="34" charset="-122"/>
                <a:cs typeface="Roboto" pitchFamily="34" charset="-120"/>
              </a:rPr>
              <a:t>Accuracy, F1-score, Training Time, Model Size, Inference</a:t>
            </a:r>
            <a:r>
              <a:rPr lang="en-US" sz="1200" b="1" dirty="0">
                <a:solidFill>
                  <a:srgbClr val="374151"/>
                </a:solidFill>
                <a:latin typeface="Roboto" pitchFamily="34" charset="0"/>
                <a:ea typeface="Roboto" pitchFamily="34" charset="-122"/>
                <a:cs typeface="Roboto" pitchFamily="34" charset="-120"/>
              </a:rPr>
              <a:t>   </a:t>
            </a:r>
            <a:endParaRPr lang="en-US" sz="1200" b="1" dirty="0">
              <a:solidFill>
                <a:srgbClr val="FFA07A"/>
              </a:solidFill>
              <a:latin typeface="Roboto" pitchFamily="34" charset="0"/>
              <a:ea typeface="Roboto" pitchFamily="34" charset="-122"/>
              <a:cs typeface="Roboto" pitchFamily="34" charset="-120"/>
            </a:endParaRPr>
          </a:p>
          <a:p>
            <a:pPr>
              <a:lnSpc>
                <a:spcPts val="1800"/>
              </a:lnSpc>
            </a:pP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838200"/>
            <a:ext cx="914400" cy="38100"/>
          </a:xfrm>
          <a:prstGeom prst="rect">
            <a:avLst/>
          </a:prstGeom>
        </p:spPr>
      </p:pic>
      <p:pic>
        <p:nvPicPr>
          <p:cNvPr id="5" name="Image 3" descr="preencoded.png"/>
          <p:cNvPicPr>
            <a:picLocks noChangeAspect="1"/>
          </p:cNvPicPr>
          <p:nvPr/>
        </p:nvPicPr>
        <p:blipFill>
          <a:blip r:embed="rId6"/>
          <a:stretch>
            <a:fillRect/>
          </a:stretch>
        </p:blipFill>
        <p:spPr>
          <a:xfrm>
            <a:off x="381000" y="1333500"/>
            <a:ext cx="11430000" cy="38100"/>
          </a:xfrm>
          <a:prstGeom prst="rect">
            <a:avLst/>
          </a:prstGeom>
        </p:spPr>
      </p:pic>
      <p:pic>
        <p:nvPicPr>
          <p:cNvPr id="6" name="Image 4" descr="preencoded.png"/>
          <p:cNvPicPr>
            <a:picLocks noChangeAspect="1"/>
          </p:cNvPicPr>
          <p:nvPr/>
        </p:nvPicPr>
        <p:blipFill>
          <a:blip r:embed="rId7"/>
          <a:stretch>
            <a:fillRect/>
          </a:stretch>
        </p:blipFill>
        <p:spPr>
          <a:xfrm>
            <a:off x="2209800" y="1104900"/>
            <a:ext cx="152400" cy="152400"/>
          </a:xfrm>
          <a:prstGeom prst="rect">
            <a:avLst/>
          </a:prstGeom>
        </p:spPr>
      </p:pic>
      <p:pic>
        <p:nvPicPr>
          <p:cNvPr id="7" name="Image 5" descr="preencoded.png"/>
          <p:cNvPicPr>
            <a:picLocks noChangeAspect="1"/>
          </p:cNvPicPr>
          <p:nvPr/>
        </p:nvPicPr>
        <p:blipFill>
          <a:blip r:embed="rId7"/>
          <a:stretch>
            <a:fillRect/>
          </a:stretch>
        </p:blipFill>
        <p:spPr>
          <a:xfrm>
            <a:off x="6019800" y="1104900"/>
            <a:ext cx="152400" cy="152400"/>
          </a:xfrm>
          <a:prstGeom prst="rect">
            <a:avLst/>
          </a:prstGeom>
        </p:spPr>
      </p:pic>
      <p:pic>
        <p:nvPicPr>
          <p:cNvPr id="8" name="Image 6" descr="preencoded.png"/>
          <p:cNvPicPr>
            <a:picLocks noChangeAspect="1"/>
          </p:cNvPicPr>
          <p:nvPr/>
        </p:nvPicPr>
        <p:blipFill>
          <a:blip r:embed="rId7"/>
          <a:stretch>
            <a:fillRect/>
          </a:stretch>
        </p:blipFill>
        <p:spPr>
          <a:xfrm>
            <a:off x="9829800" y="1104900"/>
            <a:ext cx="152400" cy="152400"/>
          </a:xfrm>
          <a:prstGeom prst="rect">
            <a:avLst/>
          </a:prstGeom>
        </p:spPr>
      </p:pic>
      <p:pic>
        <p:nvPicPr>
          <p:cNvPr id="9" name="Image 7" descr="preencoded.png"/>
          <p:cNvPicPr>
            <a:picLocks noChangeAspect="1"/>
          </p:cNvPicPr>
          <p:nvPr/>
        </p:nvPicPr>
        <p:blipFill>
          <a:blip r:embed="rId8"/>
          <a:stretch>
            <a:fillRect/>
          </a:stretch>
        </p:blipFill>
        <p:spPr>
          <a:xfrm>
            <a:off x="381000" y="1828800"/>
            <a:ext cx="3657600" cy="1905000"/>
          </a:xfrm>
          <a:prstGeom prst="rect">
            <a:avLst/>
          </a:prstGeom>
        </p:spPr>
      </p:pic>
      <p:pic>
        <p:nvPicPr>
          <p:cNvPr id="10" name="Image 8" descr="preencoded.png"/>
          <p:cNvPicPr>
            <a:picLocks noChangeAspect="1"/>
          </p:cNvPicPr>
          <p:nvPr/>
        </p:nvPicPr>
        <p:blipFill>
          <a:blip r:embed="rId9"/>
          <a:stretch>
            <a:fillRect/>
          </a:stretch>
        </p:blipFill>
        <p:spPr>
          <a:xfrm>
            <a:off x="571500" y="2019300"/>
            <a:ext cx="457200" cy="457200"/>
          </a:xfrm>
          <a:prstGeom prst="rect">
            <a:avLst/>
          </a:prstGeom>
        </p:spPr>
      </p:pic>
      <p:pic>
        <p:nvPicPr>
          <p:cNvPr id="11" name="Image 9" descr="preencoded.png"/>
          <p:cNvPicPr>
            <a:picLocks noChangeAspect="1"/>
          </p:cNvPicPr>
          <p:nvPr/>
        </p:nvPicPr>
        <p:blipFill>
          <a:blip r:embed="rId10"/>
          <a:stretch>
            <a:fillRect/>
          </a:stretch>
        </p:blipFill>
        <p:spPr>
          <a:xfrm>
            <a:off x="690563" y="2114550"/>
            <a:ext cx="219075" cy="266700"/>
          </a:xfrm>
          <a:prstGeom prst="rect">
            <a:avLst/>
          </a:prstGeom>
        </p:spPr>
      </p:pic>
      <p:pic>
        <p:nvPicPr>
          <p:cNvPr id="12" name="Image 10" descr="preencoded.png"/>
          <p:cNvPicPr>
            <a:picLocks noChangeAspect="1"/>
          </p:cNvPicPr>
          <p:nvPr/>
        </p:nvPicPr>
        <p:blipFill>
          <a:blip r:embed="rId11"/>
          <a:stretch>
            <a:fillRect/>
          </a:stretch>
        </p:blipFill>
        <p:spPr>
          <a:xfrm>
            <a:off x="571500" y="3152775"/>
            <a:ext cx="133350" cy="133350"/>
          </a:xfrm>
          <a:prstGeom prst="rect">
            <a:avLst/>
          </a:prstGeom>
        </p:spPr>
      </p:pic>
      <p:pic>
        <p:nvPicPr>
          <p:cNvPr id="13" name="Image 11" descr="preencoded.png"/>
          <p:cNvPicPr>
            <a:picLocks noChangeAspect="1"/>
          </p:cNvPicPr>
          <p:nvPr/>
        </p:nvPicPr>
        <p:blipFill>
          <a:blip r:embed="rId8"/>
          <a:stretch>
            <a:fillRect/>
          </a:stretch>
        </p:blipFill>
        <p:spPr>
          <a:xfrm>
            <a:off x="4267200" y="1828800"/>
            <a:ext cx="3657600" cy="1905000"/>
          </a:xfrm>
          <a:prstGeom prst="rect">
            <a:avLst/>
          </a:prstGeom>
        </p:spPr>
      </p:pic>
      <p:pic>
        <p:nvPicPr>
          <p:cNvPr id="14" name="Image 12" descr="preencoded.png"/>
          <p:cNvPicPr>
            <a:picLocks noChangeAspect="1"/>
          </p:cNvPicPr>
          <p:nvPr/>
        </p:nvPicPr>
        <p:blipFill>
          <a:blip r:embed="rId12"/>
          <a:stretch>
            <a:fillRect/>
          </a:stretch>
        </p:blipFill>
        <p:spPr>
          <a:xfrm>
            <a:off x="4457700" y="2019300"/>
            <a:ext cx="457200" cy="457200"/>
          </a:xfrm>
          <a:prstGeom prst="rect">
            <a:avLst/>
          </a:prstGeom>
        </p:spPr>
      </p:pic>
      <p:pic>
        <p:nvPicPr>
          <p:cNvPr id="15" name="Image 13" descr="preencoded.png"/>
          <p:cNvPicPr>
            <a:picLocks noChangeAspect="1"/>
          </p:cNvPicPr>
          <p:nvPr/>
        </p:nvPicPr>
        <p:blipFill>
          <a:blip r:embed="rId13"/>
          <a:stretch>
            <a:fillRect/>
          </a:stretch>
        </p:blipFill>
        <p:spPr>
          <a:xfrm>
            <a:off x="4567238" y="2114550"/>
            <a:ext cx="238125" cy="266700"/>
          </a:xfrm>
          <a:prstGeom prst="rect">
            <a:avLst/>
          </a:prstGeom>
        </p:spPr>
      </p:pic>
      <p:pic>
        <p:nvPicPr>
          <p:cNvPr id="16" name="Image 14" descr="preencoded.png"/>
          <p:cNvPicPr>
            <a:picLocks noChangeAspect="1"/>
          </p:cNvPicPr>
          <p:nvPr/>
        </p:nvPicPr>
        <p:blipFill>
          <a:blip r:embed="rId11"/>
          <a:stretch>
            <a:fillRect/>
          </a:stretch>
        </p:blipFill>
        <p:spPr>
          <a:xfrm>
            <a:off x="4398645" y="3381375"/>
            <a:ext cx="133350" cy="133350"/>
          </a:xfrm>
          <a:prstGeom prst="rect">
            <a:avLst/>
          </a:prstGeom>
        </p:spPr>
      </p:pic>
      <p:pic>
        <p:nvPicPr>
          <p:cNvPr id="17" name="Image 15" descr="preencoded.png"/>
          <p:cNvPicPr>
            <a:picLocks noChangeAspect="1"/>
          </p:cNvPicPr>
          <p:nvPr/>
        </p:nvPicPr>
        <p:blipFill>
          <a:blip r:embed="rId8"/>
          <a:stretch>
            <a:fillRect/>
          </a:stretch>
        </p:blipFill>
        <p:spPr>
          <a:xfrm>
            <a:off x="8127623" y="1821180"/>
            <a:ext cx="3657600" cy="1905000"/>
          </a:xfrm>
          <a:prstGeom prst="rect">
            <a:avLst/>
          </a:prstGeom>
        </p:spPr>
      </p:pic>
      <p:pic>
        <p:nvPicPr>
          <p:cNvPr id="18" name="Image 16" descr="preencoded.png"/>
          <p:cNvPicPr>
            <a:picLocks noChangeAspect="1"/>
          </p:cNvPicPr>
          <p:nvPr/>
        </p:nvPicPr>
        <p:blipFill>
          <a:blip r:embed="rId14"/>
          <a:stretch>
            <a:fillRect/>
          </a:stretch>
        </p:blipFill>
        <p:spPr>
          <a:xfrm>
            <a:off x="8343900" y="2019300"/>
            <a:ext cx="457200" cy="457200"/>
          </a:xfrm>
          <a:prstGeom prst="rect">
            <a:avLst/>
          </a:prstGeom>
        </p:spPr>
      </p:pic>
      <p:pic>
        <p:nvPicPr>
          <p:cNvPr id="19" name="Image 17" descr="preencoded.png"/>
          <p:cNvPicPr>
            <a:picLocks noChangeAspect="1"/>
          </p:cNvPicPr>
          <p:nvPr/>
        </p:nvPicPr>
        <p:blipFill>
          <a:blip r:embed="rId15"/>
          <a:stretch>
            <a:fillRect/>
          </a:stretch>
        </p:blipFill>
        <p:spPr>
          <a:xfrm>
            <a:off x="8477250" y="2114550"/>
            <a:ext cx="190500" cy="266700"/>
          </a:xfrm>
          <a:prstGeom prst="rect">
            <a:avLst/>
          </a:prstGeom>
        </p:spPr>
      </p:pic>
      <p:pic>
        <p:nvPicPr>
          <p:cNvPr id="20" name="Image 18" descr="preencoded.png"/>
          <p:cNvPicPr>
            <a:picLocks noChangeAspect="1"/>
          </p:cNvPicPr>
          <p:nvPr/>
        </p:nvPicPr>
        <p:blipFill>
          <a:blip r:embed="rId11"/>
          <a:stretch>
            <a:fillRect/>
          </a:stretch>
        </p:blipFill>
        <p:spPr>
          <a:xfrm>
            <a:off x="8335387" y="3404235"/>
            <a:ext cx="133350" cy="133350"/>
          </a:xfrm>
          <a:prstGeom prst="rect">
            <a:avLst/>
          </a:prstGeom>
        </p:spPr>
      </p:pic>
      <p:pic>
        <p:nvPicPr>
          <p:cNvPr id="21" name="Image 19" descr="preencoded.png"/>
          <p:cNvPicPr>
            <a:picLocks noChangeAspect="1"/>
          </p:cNvPicPr>
          <p:nvPr/>
        </p:nvPicPr>
        <p:blipFill>
          <a:blip r:embed="rId16"/>
          <a:stretch>
            <a:fillRect/>
          </a:stretch>
        </p:blipFill>
        <p:spPr>
          <a:xfrm>
            <a:off x="381000" y="4038600"/>
            <a:ext cx="11430000" cy="1790700"/>
          </a:xfrm>
          <a:prstGeom prst="rect">
            <a:avLst/>
          </a:prstGeom>
        </p:spPr>
      </p:pic>
      <p:sp>
        <p:nvSpPr>
          <p:cNvPr id="22" name="Text 0"/>
          <p:cNvSpPr/>
          <p:nvPr/>
        </p:nvSpPr>
        <p:spPr>
          <a:xfrm>
            <a:off x="381000" y="381000"/>
            <a:ext cx="13716000" cy="381000"/>
          </a:xfrm>
          <a:prstGeom prst="rect">
            <a:avLst/>
          </a:prstGeom>
          <a:noFill/>
          <a:ln/>
        </p:spPr>
        <p:txBody>
          <a:bodyPr wrap="square" lIns="0" tIns="0" rIns="0" bIns="0" rtlCol="0" anchor="t"/>
          <a:lstStyle/>
          <a:p>
            <a:pPr marL="0" indent="0">
              <a:lnSpc>
                <a:spcPts val="3000"/>
              </a:lnSpc>
              <a:buNone/>
            </a:pPr>
            <a:r>
              <a:rPr lang="en-US" sz="2700" b="1" dirty="0">
                <a:solidFill>
                  <a:srgbClr val="008080"/>
                </a:solidFill>
                <a:latin typeface="Roboto" pitchFamily="34" charset="0"/>
                <a:ea typeface="Roboto" pitchFamily="34" charset="-122"/>
                <a:cs typeface="Roboto" pitchFamily="34" charset="-120"/>
              </a:rPr>
              <a:t>Timeline, Deliverables &amp; Conclusion</a:t>
            </a:r>
            <a:endParaRPr lang="en-US" sz="2700" dirty="0"/>
          </a:p>
        </p:txBody>
      </p:sp>
      <p:sp>
        <p:nvSpPr>
          <p:cNvPr id="23" name="Text 1"/>
          <p:cNvSpPr/>
          <p:nvPr/>
        </p:nvSpPr>
        <p:spPr>
          <a:xfrm>
            <a:off x="2033885" y="1333500"/>
            <a:ext cx="605076" cy="190500"/>
          </a:xfrm>
          <a:prstGeom prst="rect">
            <a:avLst/>
          </a:prstGeom>
          <a:noFill/>
          <a:ln/>
        </p:spPr>
        <p:txBody>
          <a:bodyPr wrap="square" lIns="0" tIns="0" rIns="0" bIns="0" rtlCol="0" anchor="t"/>
          <a:lstStyle/>
          <a:p>
            <a:pPr marL="0" indent="0">
              <a:lnSpc>
                <a:spcPts val="1500"/>
              </a:lnSpc>
              <a:buNone/>
            </a:pPr>
            <a:r>
              <a:rPr lang="en-US" sz="1050" b="1" dirty="0">
                <a:solidFill>
                  <a:srgbClr val="0F766E"/>
                </a:solidFill>
                <a:latin typeface="Roboto" pitchFamily="34" charset="0"/>
                <a:ea typeface="Roboto" pitchFamily="34" charset="-122"/>
                <a:cs typeface="Roboto" pitchFamily="34" charset="-120"/>
              </a:rPr>
              <a:t>Phase 1</a:t>
            </a:r>
            <a:endParaRPr lang="en-US" sz="1050" dirty="0"/>
          </a:p>
        </p:txBody>
      </p:sp>
      <p:sp>
        <p:nvSpPr>
          <p:cNvPr id="24" name="Text 2"/>
          <p:cNvSpPr/>
          <p:nvPr/>
        </p:nvSpPr>
        <p:spPr>
          <a:xfrm>
            <a:off x="5843885" y="1333500"/>
            <a:ext cx="605076" cy="190500"/>
          </a:xfrm>
          <a:prstGeom prst="rect">
            <a:avLst/>
          </a:prstGeom>
          <a:noFill/>
          <a:ln/>
        </p:spPr>
        <p:txBody>
          <a:bodyPr wrap="square" lIns="0" tIns="0" rIns="0" bIns="0" rtlCol="0" anchor="t"/>
          <a:lstStyle/>
          <a:p>
            <a:pPr marL="0" indent="0">
              <a:lnSpc>
                <a:spcPts val="1500"/>
              </a:lnSpc>
              <a:buNone/>
            </a:pPr>
            <a:r>
              <a:rPr lang="en-US" sz="1050" b="1" dirty="0">
                <a:solidFill>
                  <a:srgbClr val="0F766E"/>
                </a:solidFill>
                <a:latin typeface="Roboto" pitchFamily="34" charset="0"/>
                <a:ea typeface="Roboto" pitchFamily="34" charset="-122"/>
                <a:cs typeface="Roboto" pitchFamily="34" charset="-120"/>
              </a:rPr>
              <a:t>Phase 2</a:t>
            </a:r>
            <a:endParaRPr lang="en-US" sz="1050" dirty="0"/>
          </a:p>
        </p:txBody>
      </p:sp>
      <p:sp>
        <p:nvSpPr>
          <p:cNvPr id="25" name="Text 3"/>
          <p:cNvSpPr/>
          <p:nvPr/>
        </p:nvSpPr>
        <p:spPr>
          <a:xfrm>
            <a:off x="9653885" y="1333500"/>
            <a:ext cx="605076" cy="190500"/>
          </a:xfrm>
          <a:prstGeom prst="rect">
            <a:avLst/>
          </a:prstGeom>
          <a:noFill/>
          <a:ln/>
        </p:spPr>
        <p:txBody>
          <a:bodyPr wrap="square" lIns="0" tIns="0" rIns="0" bIns="0" rtlCol="0" anchor="t"/>
          <a:lstStyle/>
          <a:p>
            <a:pPr marL="0" indent="0">
              <a:lnSpc>
                <a:spcPts val="1500"/>
              </a:lnSpc>
              <a:buNone/>
            </a:pPr>
            <a:r>
              <a:rPr lang="en-US" sz="1050" b="1" dirty="0">
                <a:solidFill>
                  <a:srgbClr val="0F766E"/>
                </a:solidFill>
                <a:latin typeface="Roboto" pitchFamily="34" charset="0"/>
                <a:ea typeface="Roboto" pitchFamily="34" charset="-122"/>
                <a:cs typeface="Roboto" pitchFamily="34" charset="-120"/>
              </a:rPr>
              <a:t>Phase 3</a:t>
            </a:r>
            <a:endParaRPr lang="en-US" sz="1050" dirty="0"/>
          </a:p>
        </p:txBody>
      </p:sp>
      <p:sp>
        <p:nvSpPr>
          <p:cNvPr id="26" name="Text 4"/>
          <p:cNvSpPr/>
          <p:nvPr/>
        </p:nvSpPr>
        <p:spPr>
          <a:xfrm>
            <a:off x="1143000" y="2114550"/>
            <a:ext cx="2103656" cy="266700"/>
          </a:xfrm>
          <a:prstGeom prst="rect">
            <a:avLst/>
          </a:prstGeom>
          <a:noFill/>
          <a:ln/>
        </p:spPr>
        <p:txBody>
          <a:bodyPr wrap="square" lIns="0" tIns="0" rIns="0" bIns="0" rtlCol="0" anchor="t"/>
          <a:lstStyle/>
          <a:p>
            <a:pPr marL="0" indent="0">
              <a:lnSpc>
                <a:spcPts val="2100"/>
              </a:lnSpc>
              <a:buNone/>
            </a:pPr>
            <a:r>
              <a:rPr lang="en-US" sz="1350" b="1" dirty="0">
                <a:solidFill>
                  <a:srgbClr val="36454F"/>
                </a:solidFill>
                <a:latin typeface="Roboto" pitchFamily="34" charset="0"/>
                <a:ea typeface="Roboto" pitchFamily="34" charset="-122"/>
                <a:cs typeface="Roboto" pitchFamily="34" charset="-120"/>
              </a:rPr>
              <a:t>Phase 1 (Now - Oct 7)</a:t>
            </a:r>
            <a:endParaRPr lang="en-US" sz="1350" dirty="0"/>
          </a:p>
        </p:txBody>
      </p:sp>
      <p:sp>
        <p:nvSpPr>
          <p:cNvPr id="27" name="Text 5"/>
          <p:cNvSpPr/>
          <p:nvPr/>
        </p:nvSpPr>
        <p:spPr>
          <a:xfrm>
            <a:off x="571500" y="2590800"/>
            <a:ext cx="3276600" cy="457200"/>
          </a:xfrm>
          <a:prstGeom prst="rect">
            <a:avLst/>
          </a:prstGeom>
          <a:noFill/>
          <a:ln/>
        </p:spPr>
        <p:txBody>
          <a:bodyPr wrap="square" lIns="0" tIns="0" rIns="0" bIns="0" rtlCol="0" anchor="t"/>
          <a:lstStyle/>
          <a:p>
            <a:pPr marL="0" indent="0">
              <a:lnSpc>
                <a:spcPts val="1800"/>
              </a:lnSpc>
              <a:buNone/>
            </a:pPr>
            <a:r>
              <a:rPr lang="en-US" sz="1200" dirty="0">
                <a:solidFill>
                  <a:srgbClr val="374151"/>
                </a:solidFill>
                <a:latin typeface="Roboto" pitchFamily="34" charset="0"/>
                <a:ea typeface="Roboto" pitchFamily="34" charset="-122"/>
                <a:cs typeface="Roboto" pitchFamily="34" charset="-120"/>
              </a:rPr>
              <a:t>Deep-dive SOTA literature review &amp; detailed project planning.</a:t>
            </a:r>
            <a:endParaRPr lang="en-US" sz="1200" dirty="0"/>
          </a:p>
        </p:txBody>
      </p:sp>
      <p:sp>
        <p:nvSpPr>
          <p:cNvPr id="28" name="Text 6"/>
          <p:cNvSpPr/>
          <p:nvPr/>
        </p:nvSpPr>
        <p:spPr>
          <a:xfrm>
            <a:off x="742950" y="3124200"/>
            <a:ext cx="3276600" cy="381000"/>
          </a:xfrm>
          <a:prstGeom prst="rect">
            <a:avLst/>
          </a:prstGeom>
          <a:noFill/>
          <a:ln/>
        </p:spPr>
        <p:txBody>
          <a:bodyPr wrap="square" lIns="0" tIns="0" rIns="0" bIns="0" rtlCol="0" anchor="t"/>
          <a:lstStyle/>
          <a:p>
            <a:pPr marL="0" indent="0">
              <a:lnSpc>
                <a:spcPts val="1500"/>
              </a:lnSpc>
              <a:buNone/>
            </a:pPr>
            <a:r>
              <a:rPr lang="en-US" sz="1050" dirty="0">
                <a:solidFill>
                  <a:srgbClr val="4B5563"/>
                </a:solidFill>
                <a:latin typeface="Roboto" pitchFamily="34" charset="0"/>
                <a:ea typeface="Roboto" pitchFamily="34" charset="-122"/>
                <a:cs typeface="Roboto" pitchFamily="34" charset="-120"/>
              </a:rPr>
              <a:t> This presentation serves as a key deliverable for this phase.</a:t>
            </a:r>
            <a:endParaRPr lang="en-US" sz="1050" dirty="0"/>
          </a:p>
        </p:txBody>
      </p:sp>
      <p:sp>
        <p:nvSpPr>
          <p:cNvPr id="29" name="Text 7"/>
          <p:cNvSpPr/>
          <p:nvPr/>
        </p:nvSpPr>
        <p:spPr>
          <a:xfrm>
            <a:off x="5029200" y="2114550"/>
            <a:ext cx="1886486" cy="266700"/>
          </a:xfrm>
          <a:prstGeom prst="rect">
            <a:avLst/>
          </a:prstGeom>
          <a:noFill/>
          <a:ln/>
        </p:spPr>
        <p:txBody>
          <a:bodyPr wrap="square" lIns="0" tIns="0" rIns="0" bIns="0" rtlCol="0" anchor="t"/>
          <a:lstStyle/>
          <a:p>
            <a:pPr marL="0" indent="0">
              <a:lnSpc>
                <a:spcPts val="2100"/>
              </a:lnSpc>
              <a:buNone/>
            </a:pPr>
            <a:r>
              <a:rPr lang="en-US" sz="1350" b="1" dirty="0">
                <a:solidFill>
                  <a:srgbClr val="36454F"/>
                </a:solidFill>
                <a:latin typeface="Roboto" pitchFamily="34" charset="0"/>
                <a:ea typeface="Roboto" pitchFamily="34" charset="-122"/>
                <a:cs typeface="Roboto" pitchFamily="34" charset="-120"/>
              </a:rPr>
              <a:t>Phase 2 (Dec 2)</a:t>
            </a:r>
            <a:endParaRPr lang="en-US" sz="1350" dirty="0"/>
          </a:p>
        </p:txBody>
      </p:sp>
      <p:sp>
        <p:nvSpPr>
          <p:cNvPr id="30" name="Text 8"/>
          <p:cNvSpPr/>
          <p:nvPr/>
        </p:nvSpPr>
        <p:spPr>
          <a:xfrm>
            <a:off x="4457700" y="2590800"/>
            <a:ext cx="3276600" cy="685800"/>
          </a:xfrm>
          <a:prstGeom prst="rect">
            <a:avLst/>
          </a:prstGeom>
          <a:noFill/>
          <a:ln/>
        </p:spPr>
        <p:txBody>
          <a:bodyPr wrap="square" lIns="0" tIns="0" rIns="0" bIns="0" rtlCol="0" anchor="t"/>
          <a:lstStyle/>
          <a:p>
            <a:pPr marL="0" indent="0">
              <a:lnSpc>
                <a:spcPts val="1800"/>
              </a:lnSpc>
              <a:buNone/>
            </a:pPr>
            <a:r>
              <a:rPr lang="en-US" sz="1200" dirty="0">
                <a:solidFill>
                  <a:srgbClr val="374151"/>
                </a:solidFill>
                <a:latin typeface="Roboto" pitchFamily="34" charset="0"/>
                <a:ea typeface="Roboto" pitchFamily="34" charset="-122"/>
                <a:cs typeface="Roboto" pitchFamily="34" charset="-120"/>
              </a:rPr>
              <a:t>Core implementation: MLP → CNN → Transformer on a dataset (e.g., AG News, IMDb Reviews).</a:t>
            </a:r>
            <a:endParaRPr lang="en-US" sz="1200" dirty="0"/>
          </a:p>
        </p:txBody>
      </p:sp>
      <p:sp>
        <p:nvSpPr>
          <p:cNvPr id="31" name="Text 9"/>
          <p:cNvSpPr/>
          <p:nvPr/>
        </p:nvSpPr>
        <p:spPr>
          <a:xfrm>
            <a:off x="4629150" y="3352800"/>
            <a:ext cx="3931920" cy="190500"/>
          </a:xfrm>
          <a:prstGeom prst="rect">
            <a:avLst/>
          </a:prstGeom>
          <a:noFill/>
          <a:ln/>
        </p:spPr>
        <p:txBody>
          <a:bodyPr wrap="square" lIns="0" tIns="0" rIns="0" bIns="0" rtlCol="0" anchor="t"/>
          <a:lstStyle/>
          <a:p>
            <a:pPr marL="0" indent="0">
              <a:lnSpc>
                <a:spcPts val="1500"/>
              </a:lnSpc>
              <a:buNone/>
            </a:pPr>
            <a:r>
              <a:rPr lang="en-US" sz="1050" dirty="0">
                <a:solidFill>
                  <a:srgbClr val="4B5563"/>
                </a:solidFill>
                <a:latin typeface="Roboto" pitchFamily="34" charset="0"/>
                <a:ea typeface="Roboto" pitchFamily="34" charset="-122"/>
                <a:cs typeface="Roboto" pitchFamily="34" charset="-120"/>
              </a:rPr>
              <a:t> Hands-on implementation of NLP architectures.</a:t>
            </a:r>
            <a:endParaRPr lang="en-US" sz="1050" dirty="0"/>
          </a:p>
        </p:txBody>
      </p:sp>
      <p:sp>
        <p:nvSpPr>
          <p:cNvPr id="32" name="Text 10"/>
          <p:cNvSpPr/>
          <p:nvPr/>
        </p:nvSpPr>
        <p:spPr>
          <a:xfrm>
            <a:off x="8915400" y="2114550"/>
            <a:ext cx="1349454" cy="266700"/>
          </a:xfrm>
          <a:prstGeom prst="rect">
            <a:avLst/>
          </a:prstGeom>
          <a:noFill/>
          <a:ln/>
        </p:spPr>
        <p:txBody>
          <a:bodyPr wrap="square" lIns="0" tIns="0" rIns="0" bIns="0" rtlCol="0" anchor="t"/>
          <a:lstStyle/>
          <a:p>
            <a:pPr marL="0" indent="0">
              <a:lnSpc>
                <a:spcPts val="2100"/>
              </a:lnSpc>
              <a:buNone/>
            </a:pPr>
            <a:r>
              <a:rPr lang="en-US" sz="1350" b="1" dirty="0">
                <a:solidFill>
                  <a:srgbClr val="36454F"/>
                </a:solidFill>
                <a:latin typeface="Roboto" pitchFamily="34" charset="0"/>
                <a:ea typeface="Roboto" pitchFamily="34" charset="-122"/>
                <a:cs typeface="Roboto" pitchFamily="34" charset="-120"/>
              </a:rPr>
              <a:t>Phase 3 (TBA)</a:t>
            </a:r>
            <a:endParaRPr lang="en-US" sz="1350" dirty="0"/>
          </a:p>
        </p:txBody>
      </p:sp>
      <p:sp>
        <p:nvSpPr>
          <p:cNvPr id="33" name="Text 11"/>
          <p:cNvSpPr/>
          <p:nvPr/>
        </p:nvSpPr>
        <p:spPr>
          <a:xfrm>
            <a:off x="8343900" y="2514600"/>
            <a:ext cx="3276600" cy="457200"/>
          </a:xfrm>
          <a:prstGeom prst="rect">
            <a:avLst/>
          </a:prstGeom>
          <a:noFill/>
          <a:ln/>
        </p:spPr>
        <p:txBody>
          <a:bodyPr wrap="square" lIns="0" tIns="0" rIns="0" bIns="0" rtlCol="0" anchor="t"/>
          <a:lstStyle/>
          <a:p>
            <a:pPr marL="0" indent="0">
              <a:lnSpc>
                <a:spcPts val="1800"/>
              </a:lnSpc>
              <a:buNone/>
            </a:pPr>
            <a:r>
              <a:rPr lang="en-US" sz="1200" dirty="0">
                <a:solidFill>
                  <a:srgbClr val="374151"/>
                </a:solidFill>
                <a:latin typeface="Roboto" pitchFamily="34" charset="0"/>
                <a:ea typeface="Roboto" pitchFamily="34" charset="-122"/>
                <a:cs typeface="Roboto" pitchFamily="34" charset="-120"/>
              </a:rPr>
              <a:t>Final analysis, report(IEEE Format), and presentation on performance, efficiency, and learnings.</a:t>
            </a:r>
          </a:p>
        </p:txBody>
      </p:sp>
      <p:sp>
        <p:nvSpPr>
          <p:cNvPr id="34" name="Text 12"/>
          <p:cNvSpPr/>
          <p:nvPr/>
        </p:nvSpPr>
        <p:spPr>
          <a:xfrm>
            <a:off x="8488680" y="3352800"/>
            <a:ext cx="3931920" cy="190500"/>
          </a:xfrm>
          <a:prstGeom prst="rect">
            <a:avLst/>
          </a:prstGeom>
          <a:noFill/>
          <a:ln/>
        </p:spPr>
        <p:txBody>
          <a:bodyPr wrap="square" lIns="0" tIns="0" rIns="0" bIns="0" rtlCol="0" anchor="t"/>
          <a:lstStyle/>
          <a:p>
            <a:pPr marL="0" indent="0">
              <a:lnSpc>
                <a:spcPts val="1500"/>
              </a:lnSpc>
              <a:buNone/>
            </a:pPr>
            <a:r>
              <a:rPr lang="en-US" sz="1050" dirty="0">
                <a:solidFill>
                  <a:srgbClr val="4B5563"/>
                </a:solidFill>
                <a:latin typeface="Roboto" pitchFamily="34" charset="0"/>
                <a:ea typeface="Roboto" pitchFamily="34" charset="-122"/>
                <a:cs typeface="Roboto" pitchFamily="34" charset="-120"/>
              </a:rPr>
              <a:t> Comprehensive evaluation of implemented models.</a:t>
            </a:r>
            <a:endParaRPr lang="en-US" sz="1050" dirty="0"/>
          </a:p>
        </p:txBody>
      </p:sp>
      <p:sp>
        <p:nvSpPr>
          <p:cNvPr id="35" name="Text 13"/>
          <p:cNvSpPr/>
          <p:nvPr/>
        </p:nvSpPr>
        <p:spPr>
          <a:xfrm>
            <a:off x="609600" y="4267200"/>
            <a:ext cx="10972800"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Roboto" pitchFamily="34" charset="0"/>
                <a:ea typeface="Roboto" pitchFamily="34" charset="-122"/>
                <a:cs typeface="Roboto" pitchFamily="34" charset="-120"/>
              </a:rPr>
              <a:t>Project Conclusion</a:t>
            </a:r>
            <a:endParaRPr lang="en-US" sz="1800" dirty="0"/>
          </a:p>
        </p:txBody>
      </p:sp>
      <p:sp>
        <p:nvSpPr>
          <p:cNvPr id="36" name="Text 14"/>
          <p:cNvSpPr/>
          <p:nvPr/>
        </p:nvSpPr>
        <p:spPr>
          <a:xfrm>
            <a:off x="609600" y="4686300"/>
            <a:ext cx="13167360" cy="2667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Roboto" pitchFamily="34" charset="0"/>
                <a:ea typeface="Roboto" pitchFamily="34" charset="-122"/>
                <a:cs typeface="Roboto" pitchFamily="34" charset="-120"/>
              </a:rPr>
              <a:t>This project provides the </a:t>
            </a:r>
            <a:r>
              <a:rPr lang="en-US" sz="1350" b="1" dirty="0">
                <a:solidFill>
                  <a:srgbClr val="FFA07A"/>
                </a:solidFill>
                <a:latin typeface="Roboto" pitchFamily="34" charset="0"/>
                <a:ea typeface="Roboto" pitchFamily="34" charset="-122"/>
                <a:cs typeface="Roboto" pitchFamily="34" charset="-120"/>
              </a:rPr>
              <a:t>foundational understanding</a:t>
            </a:r>
            <a:r>
              <a:rPr lang="en-US" sz="1350" dirty="0">
                <a:solidFill>
                  <a:srgbClr val="FFFFFF"/>
                </a:solidFill>
                <a:latin typeface="Roboto" pitchFamily="34" charset="0"/>
                <a:ea typeface="Roboto" pitchFamily="34" charset="-122"/>
                <a:cs typeface="Roboto" pitchFamily="34" charset="-120"/>
              </a:rPr>
              <a:t> required to be a competent engineer in an AI-driven world.</a:t>
            </a:r>
            <a:endParaRPr lang="en-US" sz="1350" dirty="0"/>
          </a:p>
        </p:txBody>
      </p:sp>
      <p:sp>
        <p:nvSpPr>
          <p:cNvPr id="37" name="Text 15"/>
          <p:cNvSpPr/>
          <p:nvPr/>
        </p:nvSpPr>
        <p:spPr>
          <a:xfrm>
            <a:off x="609600" y="5067300"/>
            <a:ext cx="10972800" cy="533400"/>
          </a:xfrm>
          <a:prstGeom prst="rect">
            <a:avLst/>
          </a:prstGeom>
          <a:noFill/>
          <a:ln/>
        </p:spPr>
        <p:txBody>
          <a:bodyPr wrap="square" lIns="0" tIns="0" rIns="0" bIns="0" rtlCol="0" anchor="t"/>
          <a:lstStyle/>
          <a:p>
            <a:pPr marL="0" indent="0">
              <a:lnSpc>
                <a:spcPts val="2100"/>
              </a:lnSpc>
              <a:buNone/>
            </a:pPr>
            <a:r>
              <a:rPr lang="en-US" sz="1350" dirty="0">
                <a:solidFill>
                  <a:srgbClr val="FFFFFF"/>
                </a:solidFill>
                <a:latin typeface="Roboto" pitchFamily="34" charset="0"/>
                <a:ea typeface="Roboto" pitchFamily="34" charset="-122"/>
                <a:cs typeface="Roboto" pitchFamily="34" charset="-120"/>
              </a:rPr>
              <a:t>By building NLP architectures from first principles, participant gain the deep insights necessary to competently deploy, optimize, and integrate AI-driven solutions beyond mere API utilization.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636</Words>
  <Application>Microsoft Office PowerPoint</Application>
  <PresentationFormat>Widescreen</PresentationFormat>
  <Paragraphs>94</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ui-sans-serif</vt:lpstr>
      <vt:lpstr>Arial</vt:lpstr>
      <vt:lpstr>Roboto</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Mohammad .</cp:lastModifiedBy>
  <cp:revision>3</cp:revision>
  <dcterms:created xsi:type="dcterms:W3CDTF">2025-10-06T04:09:07Z</dcterms:created>
  <dcterms:modified xsi:type="dcterms:W3CDTF">2025-10-06T20:42:05Z</dcterms:modified>
</cp:coreProperties>
</file>