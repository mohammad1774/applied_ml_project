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545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5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23.png"/><Relationship Id="rId24" Type="http://schemas.openxmlformats.org/officeDocument/2006/relationships/image" Target="../media/image18.png"/><Relationship Id="rId5" Type="http://schemas.openxmlformats.org/officeDocument/2006/relationships/image" Target="../media/image4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image" Target="../media/image1.png"/><Relationship Id="rId21" Type="http://schemas.openxmlformats.org/officeDocument/2006/relationships/image" Target="../media/image49.png"/><Relationship Id="rId7" Type="http://schemas.openxmlformats.org/officeDocument/2006/relationships/image" Target="../media/image36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39.png"/><Relationship Id="rId5" Type="http://schemas.openxmlformats.org/officeDocument/2006/relationships/image" Target="../media/image4.png"/><Relationship Id="rId15" Type="http://schemas.openxmlformats.org/officeDocument/2006/relationships/image" Target="../media/image43.png"/><Relationship Id="rId23" Type="http://schemas.openxmlformats.org/officeDocument/2006/relationships/image" Target="../media/image18.png"/><Relationship Id="rId10" Type="http://schemas.openxmlformats.org/officeDocument/2006/relationships/image" Target="../media/image26.png"/><Relationship Id="rId19" Type="http://schemas.openxmlformats.org/officeDocument/2006/relationships/image" Target="../media/image47.png"/><Relationship Id="rId4" Type="http://schemas.openxmlformats.org/officeDocument/2006/relationships/image" Target="../media/image3.png"/><Relationship Id="rId9" Type="http://schemas.openxmlformats.org/officeDocument/2006/relationships/image" Target="../media/image38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26" Type="http://schemas.openxmlformats.org/officeDocument/2006/relationships/image" Target="../media/image70.png"/><Relationship Id="rId3" Type="http://schemas.openxmlformats.org/officeDocument/2006/relationships/image" Target="../media/image1.png"/><Relationship Id="rId21" Type="http://schemas.openxmlformats.org/officeDocument/2006/relationships/image" Target="../media/image65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5" Type="http://schemas.openxmlformats.org/officeDocument/2006/relationships/image" Target="../media/image6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55.png"/><Relationship Id="rId24" Type="http://schemas.openxmlformats.org/officeDocument/2006/relationships/image" Target="../media/image68.png"/><Relationship Id="rId5" Type="http://schemas.openxmlformats.org/officeDocument/2006/relationships/image" Target="../media/image4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4" Type="http://schemas.openxmlformats.org/officeDocument/2006/relationships/image" Target="../media/image3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Relationship Id="rId27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26" Type="http://schemas.openxmlformats.org/officeDocument/2006/relationships/image" Target="../media/image18.png"/><Relationship Id="rId3" Type="http://schemas.openxmlformats.org/officeDocument/2006/relationships/image" Target="../media/image71.png"/><Relationship Id="rId21" Type="http://schemas.openxmlformats.org/officeDocument/2006/relationships/image" Target="../media/image87.png"/><Relationship Id="rId7" Type="http://schemas.openxmlformats.org/officeDocument/2006/relationships/image" Target="../media/image74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5" Type="http://schemas.openxmlformats.org/officeDocument/2006/relationships/image" Target="../media/image9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7.png"/><Relationship Id="rId24" Type="http://schemas.openxmlformats.org/officeDocument/2006/relationships/image" Target="../media/image90.png"/><Relationship Id="rId5" Type="http://schemas.openxmlformats.org/officeDocument/2006/relationships/image" Target="../media/image72.png"/><Relationship Id="rId15" Type="http://schemas.openxmlformats.org/officeDocument/2006/relationships/image" Target="../media/image81.png"/><Relationship Id="rId23" Type="http://schemas.openxmlformats.org/officeDocument/2006/relationships/image" Target="../media/image89.png"/><Relationship Id="rId10" Type="http://schemas.openxmlformats.org/officeDocument/2006/relationships/image" Target="../media/image63.png"/><Relationship Id="rId19" Type="http://schemas.openxmlformats.org/officeDocument/2006/relationships/image" Target="../media/image85.png"/><Relationship Id="rId4" Type="http://schemas.openxmlformats.org/officeDocument/2006/relationships/image" Target="../media/image3.png"/><Relationship Id="rId9" Type="http://schemas.openxmlformats.org/officeDocument/2006/relationships/image" Target="../media/image76.png"/><Relationship Id="rId14" Type="http://schemas.openxmlformats.org/officeDocument/2006/relationships/image" Target="../media/image80.png"/><Relationship Id="rId22" Type="http://schemas.openxmlformats.org/officeDocument/2006/relationships/image" Target="../media/image8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7.png"/><Relationship Id="rId3" Type="http://schemas.openxmlformats.org/officeDocument/2006/relationships/image" Target="../media/image1.png"/><Relationship Id="rId7" Type="http://schemas.openxmlformats.org/officeDocument/2006/relationships/image" Target="../media/image92.png"/><Relationship Id="rId12" Type="http://schemas.openxmlformats.org/officeDocument/2006/relationships/image" Target="../media/image96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29.png"/><Relationship Id="rId5" Type="http://schemas.openxmlformats.org/officeDocument/2006/relationships/image" Target="../media/image4.png"/><Relationship Id="rId15" Type="http://schemas.openxmlformats.org/officeDocument/2006/relationships/image" Target="../media/image99.png"/><Relationship Id="rId10" Type="http://schemas.openxmlformats.org/officeDocument/2006/relationships/image" Target="../media/image95.png"/><Relationship Id="rId4" Type="http://schemas.openxmlformats.org/officeDocument/2006/relationships/image" Target="../media/image3.png"/><Relationship Id="rId9" Type="http://schemas.openxmlformats.org/officeDocument/2006/relationships/image" Target="../media/image94.png"/><Relationship Id="rId14" Type="http://schemas.openxmlformats.org/officeDocument/2006/relationships/image" Target="../media/image9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png"/><Relationship Id="rId1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5.png"/><Relationship Id="rId5" Type="http://schemas.openxmlformats.org/officeDocument/2006/relationships/image" Target="../media/image4.png"/><Relationship Id="rId15" Type="http://schemas.openxmlformats.org/officeDocument/2006/relationships/image" Target="../media/image109.png"/><Relationship Id="rId10" Type="http://schemas.openxmlformats.org/officeDocument/2006/relationships/image" Target="../media/image104.png"/><Relationship Id="rId4" Type="http://schemas.openxmlformats.org/officeDocument/2006/relationships/image" Target="../media/image3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6.png"/><Relationship Id="rId1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15.png"/><Relationship Id="rId17" Type="http://schemas.openxmlformats.org/officeDocument/2006/relationships/image" Target="../media/image12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4.png"/><Relationship Id="rId5" Type="http://schemas.openxmlformats.org/officeDocument/2006/relationships/image" Target="../media/image3.png"/><Relationship Id="rId15" Type="http://schemas.openxmlformats.org/officeDocument/2006/relationships/image" Target="../media/image118.png"/><Relationship Id="rId10" Type="http://schemas.openxmlformats.org/officeDocument/2006/relationships/image" Target="../media/image113.png"/><Relationship Id="rId4" Type="http://schemas.openxmlformats.org/officeDocument/2006/relationships/image" Target="../media/image111.png"/><Relationship Id="rId9" Type="http://schemas.openxmlformats.org/officeDocument/2006/relationships/image" Target="../media/image104.png"/><Relationship Id="rId14" Type="http://schemas.openxmlformats.org/officeDocument/2006/relationships/image" Target="../media/image1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18" Type="http://schemas.openxmlformats.org/officeDocument/2006/relationships/image" Target="../media/image82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26.png"/><Relationship Id="rId17" Type="http://schemas.openxmlformats.org/officeDocument/2006/relationships/image" Target="../media/image13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30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25.png"/><Relationship Id="rId5" Type="http://schemas.openxmlformats.org/officeDocument/2006/relationships/image" Target="../media/image3.png"/><Relationship Id="rId15" Type="http://schemas.openxmlformats.org/officeDocument/2006/relationships/image" Target="../media/image129.png"/><Relationship Id="rId10" Type="http://schemas.openxmlformats.org/officeDocument/2006/relationships/image" Target="../media/image124.png"/><Relationship Id="rId19" Type="http://schemas.openxmlformats.org/officeDocument/2006/relationships/image" Target="../media/image132.png"/><Relationship Id="rId4" Type="http://schemas.openxmlformats.org/officeDocument/2006/relationships/image" Target="../media/image121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7.png"/><Relationship Id="rId18" Type="http://schemas.openxmlformats.org/officeDocument/2006/relationships/image" Target="../media/image142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63.png"/><Relationship Id="rId17" Type="http://schemas.openxmlformats.org/officeDocument/2006/relationships/image" Target="../media/image141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36.png"/><Relationship Id="rId5" Type="http://schemas.openxmlformats.org/officeDocument/2006/relationships/image" Target="../media/image3.png"/><Relationship Id="rId15" Type="http://schemas.openxmlformats.org/officeDocument/2006/relationships/image" Target="../media/image139.png"/><Relationship Id="rId10" Type="http://schemas.openxmlformats.org/officeDocument/2006/relationships/image" Target="../media/image135.png"/><Relationship Id="rId19" Type="http://schemas.openxmlformats.org/officeDocument/2006/relationships/image" Target="../media/image18.png"/><Relationship Id="rId4" Type="http://schemas.openxmlformats.org/officeDocument/2006/relationships/image" Target="../media/image121.png"/><Relationship Id="rId9" Type="http://schemas.openxmlformats.org/officeDocument/2006/relationships/image" Target="../media/image134.png"/><Relationship Id="rId14" Type="http://schemas.openxmlformats.org/officeDocument/2006/relationships/image" Target="../media/image1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5.png"/><Relationship Id="rId1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5.png"/><Relationship Id="rId17" Type="http://schemas.openxmlformats.org/officeDocument/2006/relationships/image" Target="../media/image57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44.png"/><Relationship Id="rId5" Type="http://schemas.openxmlformats.org/officeDocument/2006/relationships/image" Target="../media/image3.png"/><Relationship Id="rId15" Type="http://schemas.openxmlformats.org/officeDocument/2006/relationships/image" Target="../media/image82.png"/><Relationship Id="rId10" Type="http://schemas.openxmlformats.org/officeDocument/2006/relationships/image" Target="../media/image143.png"/><Relationship Id="rId4" Type="http://schemas.openxmlformats.org/officeDocument/2006/relationships/image" Target="../media/image121.png"/><Relationship Id="rId9" Type="http://schemas.openxmlformats.org/officeDocument/2006/relationships/image" Target="../media/image10.png"/><Relationship Id="rId14" Type="http://schemas.openxmlformats.org/officeDocument/2006/relationships/image" Target="../media/image1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png"/><Relationship Id="rId18" Type="http://schemas.openxmlformats.org/officeDocument/2006/relationships/image" Target="../media/image15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51.png"/><Relationship Id="rId17" Type="http://schemas.openxmlformats.org/officeDocument/2006/relationships/image" Target="../media/image156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50.png"/><Relationship Id="rId5" Type="http://schemas.openxmlformats.org/officeDocument/2006/relationships/image" Target="../media/image3.png"/><Relationship Id="rId15" Type="http://schemas.openxmlformats.org/officeDocument/2006/relationships/image" Target="../media/image154.png"/><Relationship Id="rId10" Type="http://schemas.openxmlformats.org/officeDocument/2006/relationships/image" Target="../media/image149.png"/><Relationship Id="rId19" Type="http://schemas.openxmlformats.org/officeDocument/2006/relationships/image" Target="../media/image18.png"/><Relationship Id="rId4" Type="http://schemas.openxmlformats.org/officeDocument/2006/relationships/image" Target="../media/image121.png"/><Relationship Id="rId9" Type="http://schemas.openxmlformats.org/officeDocument/2006/relationships/image" Target="../media/image148.png"/><Relationship Id="rId14" Type="http://schemas.openxmlformats.org/officeDocument/2006/relationships/image" Target="../media/image1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905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19475"/>
            <a:ext cx="121920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3429000"/>
            <a:ext cx="114300" cy="114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429000"/>
            <a:ext cx="114300" cy="114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34290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342900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5438" y="43815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14963" y="5105400"/>
            <a:ext cx="1333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7450" y="6438900"/>
            <a:ext cx="114300" cy="1143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1706880" y="1581150"/>
            <a:ext cx="87782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 Analysis</a:t>
            </a:r>
            <a:endParaRPr lang="en-US" sz="3600" dirty="0"/>
          </a:p>
        </p:txBody>
      </p:sp>
      <p:sp>
        <p:nvSpPr>
          <p:cNvPr id="15" name="Text 1"/>
          <p:cNvSpPr/>
          <p:nvPr/>
        </p:nvSpPr>
        <p:spPr>
          <a:xfrm>
            <a:off x="1706880" y="2190750"/>
            <a:ext cx="877824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A8D8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First Principles to Transformers</a:t>
            </a:r>
            <a:endParaRPr lang="en-US" sz="2700" dirty="0"/>
          </a:p>
        </p:txBody>
      </p:sp>
      <p:sp>
        <p:nvSpPr>
          <p:cNvPr id="16" name="Text 2"/>
          <p:cNvSpPr/>
          <p:nvPr/>
        </p:nvSpPr>
        <p:spPr>
          <a:xfrm>
            <a:off x="2438400" y="2876550"/>
            <a:ext cx="7315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comprehensive engineering-driven evaluation of NLP systems comparing classical ML approaches to modern Transformer architectures</a:t>
            </a:r>
            <a:endParaRPr lang="en-US" sz="1500" dirty="0"/>
          </a:p>
        </p:txBody>
      </p:sp>
      <p:sp>
        <p:nvSpPr>
          <p:cNvPr id="17" name="Text 3"/>
          <p:cNvSpPr/>
          <p:nvPr/>
        </p:nvSpPr>
        <p:spPr>
          <a:xfrm>
            <a:off x="5672138" y="4095750"/>
            <a:ext cx="13373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Mohammad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ID: 300480272</a:t>
            </a:r>
          </a:p>
        </p:txBody>
      </p:sp>
      <p:sp>
        <p:nvSpPr>
          <p:cNvPr id="18" name="Text 4"/>
          <p:cNvSpPr/>
          <p:nvPr/>
        </p:nvSpPr>
        <p:spPr>
          <a:xfrm>
            <a:off x="4259580" y="4838700"/>
            <a:ext cx="43319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Master's of Engineering, University of Ottawa</a:t>
            </a:r>
            <a:endParaRPr lang="en-US" sz="1350" dirty="0"/>
          </a:p>
        </p:txBody>
      </p:sp>
      <p:sp>
        <p:nvSpPr>
          <p:cNvPr id="19" name="Text 5"/>
          <p:cNvSpPr/>
          <p:nvPr/>
        </p:nvSpPr>
        <p:spPr>
          <a:xfrm>
            <a:off x="5624513" y="5086350"/>
            <a:ext cx="13830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December 2,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170" y="1369219"/>
            <a:ext cx="5334000" cy="4838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6383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" y="1724025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3293269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3598069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3902869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5085" y="1369219"/>
            <a:ext cx="5334000" cy="4838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1638300"/>
            <a:ext cx="476250" cy="4762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00825" y="1724025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2976563"/>
            <a:ext cx="762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3281363"/>
            <a:ext cx="762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3586163"/>
            <a:ext cx="762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Goal &amp; Problem Statement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1466850" y="1724025"/>
            <a:ext cx="17602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Goal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838200" y="2266950"/>
            <a:ext cx="4876800" cy="8358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Conduct a comprehensive, engineering-driven evaluation of NLP systems, comparing methodologies from classical ML to modern Transformer architectures.</a:t>
            </a:r>
            <a:endParaRPr lang="en-US" sz="1350" dirty="0"/>
          </a:p>
        </p:txBody>
      </p:sp>
      <p:sp>
        <p:nvSpPr>
          <p:cNvPr id="28" name="Text 3"/>
          <p:cNvSpPr/>
          <p:nvPr/>
        </p:nvSpPr>
        <p:spPr>
          <a:xfrm>
            <a:off x="1181100" y="3255169"/>
            <a:ext cx="48806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trade-offs between performance and efficiency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1219200" y="3559969"/>
            <a:ext cx="4114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Systematic comparison of diverse architectures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1181100" y="3864769"/>
            <a:ext cx="4297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Analysis under real-world engineering constraints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7105650" y="1724025"/>
            <a:ext cx="282321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32" name="Text 7"/>
          <p:cNvSpPr/>
          <p:nvPr/>
        </p:nvSpPr>
        <p:spPr>
          <a:xfrm>
            <a:off x="6477000" y="2266950"/>
            <a:ext cx="4876800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Despite widespread adoption of models like BERT and GPT, there's a significant gap in understanding:</a:t>
            </a:r>
            <a:endParaRPr lang="en-US" sz="1350" dirty="0"/>
          </a:p>
        </p:txBody>
      </p:sp>
      <p:sp>
        <p:nvSpPr>
          <p:cNvPr id="33" name="Text 8"/>
          <p:cNvSpPr/>
          <p:nvPr/>
        </p:nvSpPr>
        <p:spPr>
          <a:xfrm>
            <a:off x="6743700" y="2938463"/>
            <a:ext cx="32804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Underlying mechanics of NLP systems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6743700" y="3243263"/>
            <a:ext cx="49263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Comparison between classical and modern architectures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6743700" y="3548063"/>
            <a:ext cx="51549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Engineer challenges in optimizing for constrained hardware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6477000" y="3929063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"Addresses this with end-to-end empirical analysis of NLP architectures"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2/13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34290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42900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101" y="1333500"/>
            <a:ext cx="5334000" cy="4914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981200"/>
            <a:ext cx="4953000" cy="838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1981200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9650" y="203835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417" y="2924175"/>
            <a:ext cx="4953000" cy="876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293370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9175" y="299085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71600" y="33909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71600" y="36195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3924300"/>
            <a:ext cx="4953000" cy="647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" y="3924300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5838" y="3981450"/>
            <a:ext cx="238125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4686300"/>
            <a:ext cx="4953000" cy="647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4400" y="4686300"/>
            <a:ext cx="3810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3462" y="4743450"/>
            <a:ext cx="142875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48400" y="1333500"/>
            <a:ext cx="5334000" cy="49149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2152650"/>
            <a:ext cx="4876800" cy="3048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5524500"/>
            <a:ext cx="4953000" cy="533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15100" y="5629275"/>
            <a:ext cx="133350" cy="1333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Overview - AG News Corpus</a:t>
            </a:r>
            <a:endParaRPr lang="en-US" sz="2700" dirty="0"/>
          </a:p>
        </p:txBody>
      </p:sp>
      <p:sp>
        <p:nvSpPr>
          <p:cNvPr id="33" name="Text 1"/>
          <p:cNvSpPr/>
          <p:nvPr/>
        </p:nvSpPr>
        <p:spPr>
          <a:xfrm>
            <a:off x="800100" y="1524000"/>
            <a:ext cx="5943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Dataset Characteristics</a:t>
            </a:r>
            <a:endParaRPr lang="en-US" sz="1800" dirty="0"/>
          </a:p>
        </p:txBody>
      </p:sp>
      <p:sp>
        <p:nvSpPr>
          <p:cNvPr id="34" name="Text 2"/>
          <p:cNvSpPr/>
          <p:nvPr/>
        </p:nvSpPr>
        <p:spPr>
          <a:xfrm>
            <a:off x="1409700" y="2038350"/>
            <a:ext cx="5372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Task</a:t>
            </a:r>
            <a:endParaRPr lang="en-US" sz="1500" dirty="0"/>
          </a:p>
        </p:txBody>
      </p:sp>
      <p:sp>
        <p:nvSpPr>
          <p:cNvPr id="35" name="Text 3"/>
          <p:cNvSpPr/>
          <p:nvPr/>
        </p:nvSpPr>
        <p:spPr>
          <a:xfrm>
            <a:off x="1371600" y="2400300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4-class topic classification</a:t>
            </a:r>
            <a:endParaRPr lang="en-US" sz="1200" dirty="0"/>
          </a:p>
        </p:txBody>
      </p:sp>
      <p:sp>
        <p:nvSpPr>
          <p:cNvPr id="36" name="Text 4"/>
          <p:cNvSpPr/>
          <p:nvPr/>
        </p:nvSpPr>
        <p:spPr>
          <a:xfrm>
            <a:off x="1371600" y="2628900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World, Sports, Business, Sci/Tech</a:t>
            </a:r>
            <a:endParaRPr lang="en-US" sz="1050" dirty="0"/>
          </a:p>
        </p:txBody>
      </p:sp>
      <p:sp>
        <p:nvSpPr>
          <p:cNvPr id="37" name="Text 5"/>
          <p:cNvSpPr/>
          <p:nvPr/>
        </p:nvSpPr>
        <p:spPr>
          <a:xfrm>
            <a:off x="1409700" y="2990850"/>
            <a:ext cx="4914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Size</a:t>
            </a:r>
            <a:endParaRPr lang="en-US" sz="1500" dirty="0"/>
          </a:p>
        </p:txBody>
      </p:sp>
      <p:sp>
        <p:nvSpPr>
          <p:cNvPr id="38" name="Text 6"/>
          <p:cNvSpPr/>
          <p:nvPr/>
        </p:nvSpPr>
        <p:spPr>
          <a:xfrm>
            <a:off x="1600200" y="3352800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120,000 training samples</a:t>
            </a:r>
            <a:endParaRPr lang="en-US" sz="1200" dirty="0"/>
          </a:p>
        </p:txBody>
      </p:sp>
      <p:sp>
        <p:nvSpPr>
          <p:cNvPr id="39" name="Text 7"/>
          <p:cNvSpPr/>
          <p:nvPr/>
        </p:nvSpPr>
        <p:spPr>
          <a:xfrm>
            <a:off x="1600200" y="3581400"/>
            <a:ext cx="438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7,600 test samples</a:t>
            </a:r>
            <a:endParaRPr lang="en-US" sz="1200" dirty="0"/>
          </a:p>
        </p:txBody>
      </p:sp>
      <p:sp>
        <p:nvSpPr>
          <p:cNvPr id="40" name="Text 8"/>
          <p:cNvSpPr/>
          <p:nvPr/>
        </p:nvSpPr>
        <p:spPr>
          <a:xfrm>
            <a:off x="1409700" y="3981450"/>
            <a:ext cx="960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</a:t>
            </a:r>
            <a:endParaRPr lang="en-US" sz="1500" dirty="0"/>
          </a:p>
        </p:txBody>
      </p:sp>
      <p:sp>
        <p:nvSpPr>
          <p:cNvPr id="41" name="Text 9"/>
          <p:cNvSpPr/>
          <p:nvPr/>
        </p:nvSpPr>
        <p:spPr>
          <a:xfrm>
            <a:off x="1371600" y="4343400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Equal number of documents per class</a:t>
            </a:r>
            <a:endParaRPr lang="en-US" sz="1200" dirty="0"/>
          </a:p>
        </p:txBody>
      </p:sp>
      <p:sp>
        <p:nvSpPr>
          <p:cNvPr id="42" name="Text 10"/>
          <p:cNvSpPr/>
          <p:nvPr/>
        </p:nvSpPr>
        <p:spPr>
          <a:xfrm>
            <a:off x="1409700" y="4743450"/>
            <a:ext cx="22288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Length</a:t>
            </a:r>
            <a:endParaRPr lang="en-US" sz="1500" dirty="0"/>
          </a:p>
        </p:txBody>
      </p:sp>
      <p:sp>
        <p:nvSpPr>
          <p:cNvPr id="43" name="Text 11"/>
          <p:cNvSpPr/>
          <p:nvPr/>
        </p:nvSpPr>
        <p:spPr>
          <a:xfrm>
            <a:off x="1371600" y="5105400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of 37.85 words</a:t>
            </a:r>
            <a:endParaRPr lang="en-US" sz="1200" dirty="0"/>
          </a:p>
        </p:txBody>
      </p:sp>
      <p:sp>
        <p:nvSpPr>
          <p:cNvPr id="44" name="Text 12"/>
          <p:cNvSpPr/>
          <p:nvPr/>
        </p:nvSpPr>
        <p:spPr>
          <a:xfrm>
            <a:off x="6438900" y="1524000"/>
            <a:ext cx="4953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Distribution</a:t>
            </a:r>
            <a:endParaRPr lang="en-US" sz="1800" dirty="0"/>
          </a:p>
        </p:txBody>
      </p:sp>
      <p:sp>
        <p:nvSpPr>
          <p:cNvPr id="45" name="Text 13"/>
          <p:cNvSpPr/>
          <p:nvPr/>
        </p:nvSpPr>
        <p:spPr>
          <a:xfrm>
            <a:off x="6724650" y="5600700"/>
            <a:ext cx="4800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AG News dataset contains 4 classes: World, Sports, Business, and Science/Technology.</a:t>
            </a:r>
            <a:endParaRPr lang="en-US" sz="1050" dirty="0"/>
          </a:p>
        </p:txBody>
      </p:sp>
      <p:sp>
        <p:nvSpPr>
          <p:cNvPr id="46" name="Text 14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3/13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34290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42900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219200"/>
            <a:ext cx="200025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638300"/>
            <a:ext cx="3606850" cy="1485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828800"/>
            <a:ext cx="17145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1717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4765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7813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050" y="3352800"/>
            <a:ext cx="3606850" cy="1485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467100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8100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1148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4196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92650" y="1219200"/>
            <a:ext cx="228600" cy="228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92650" y="1638300"/>
            <a:ext cx="3606850" cy="1143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45050" y="1828800"/>
            <a:ext cx="190500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1250" y="2171700"/>
            <a:ext cx="762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1250" y="2438400"/>
            <a:ext cx="762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70400" y="2940685"/>
            <a:ext cx="3606850" cy="1143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45050" y="3124200"/>
            <a:ext cx="171450" cy="1905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1250" y="3467100"/>
            <a:ext cx="762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1250" y="3733800"/>
            <a:ext cx="762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92650" y="4229100"/>
            <a:ext cx="3606850" cy="13716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45050" y="4419600"/>
            <a:ext cx="190500" cy="1905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1250" y="4762500"/>
            <a:ext cx="762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1250" y="5029200"/>
            <a:ext cx="762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28099" y="1219200"/>
            <a:ext cx="257175" cy="2286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28099" y="1638300"/>
            <a:ext cx="3606850" cy="47625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42399" y="2416820"/>
            <a:ext cx="3378250" cy="271016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40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Classical Machine Learning Approaches</a:t>
            </a:r>
            <a:endParaRPr lang="en-US" sz="2700" dirty="0"/>
          </a:p>
        </p:txBody>
      </p:sp>
      <p:sp>
        <p:nvSpPr>
          <p:cNvPr id="41" name="Text 1"/>
          <p:cNvSpPr/>
          <p:nvPr/>
        </p:nvSpPr>
        <p:spPr>
          <a:xfrm>
            <a:off x="771525" y="1181100"/>
            <a:ext cx="43282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Extraction</a:t>
            </a:r>
            <a:endParaRPr lang="en-US" sz="1800" dirty="0"/>
          </a:p>
        </p:txBody>
      </p:sp>
      <p:sp>
        <p:nvSpPr>
          <p:cNvPr id="42" name="Text 2"/>
          <p:cNvSpPr/>
          <p:nvPr/>
        </p:nvSpPr>
        <p:spPr>
          <a:xfrm>
            <a:off x="857250" y="1790700"/>
            <a:ext cx="39624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Bag-of-Words (BoW)</a:t>
            </a:r>
            <a:endParaRPr lang="en-US" sz="1500" dirty="0"/>
          </a:p>
        </p:txBody>
      </p:sp>
      <p:sp>
        <p:nvSpPr>
          <p:cNvPr id="43" name="Text 3"/>
          <p:cNvSpPr/>
          <p:nvPr/>
        </p:nvSpPr>
        <p:spPr>
          <a:xfrm>
            <a:off x="914400" y="2133600"/>
            <a:ext cx="3086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CountVectorizer for 5,000 unigrams</a:t>
            </a:r>
            <a:endParaRPr lang="en-US" sz="1200" dirty="0"/>
          </a:p>
        </p:txBody>
      </p:sp>
      <p:sp>
        <p:nvSpPr>
          <p:cNvPr id="44" name="Text 4"/>
          <p:cNvSpPr/>
          <p:nvPr/>
        </p:nvSpPr>
        <p:spPr>
          <a:xfrm>
            <a:off x="914400" y="2438400"/>
            <a:ext cx="30518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Foundation of information retrieval</a:t>
            </a:r>
            <a:endParaRPr lang="en-US" sz="1200" dirty="0"/>
          </a:p>
        </p:txBody>
      </p:sp>
      <p:sp>
        <p:nvSpPr>
          <p:cNvPr id="45" name="Text 5"/>
          <p:cNvSpPr/>
          <p:nvPr/>
        </p:nvSpPr>
        <p:spPr>
          <a:xfrm>
            <a:off x="914400" y="2743200"/>
            <a:ext cx="2537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Sparse vector representation</a:t>
            </a:r>
            <a:endParaRPr lang="en-US" sz="1200" dirty="0"/>
          </a:p>
        </p:txBody>
      </p:sp>
      <p:sp>
        <p:nvSpPr>
          <p:cNvPr id="46" name="Text 6"/>
          <p:cNvSpPr/>
          <p:nvPr/>
        </p:nvSpPr>
        <p:spPr>
          <a:xfrm>
            <a:off x="882015" y="3434715"/>
            <a:ext cx="3302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TF-IDF</a:t>
            </a:r>
            <a:endParaRPr lang="en-US" sz="1500" dirty="0"/>
          </a:p>
        </p:txBody>
      </p:sp>
      <p:sp>
        <p:nvSpPr>
          <p:cNvPr id="47" name="Text 7"/>
          <p:cNvSpPr/>
          <p:nvPr/>
        </p:nvSpPr>
        <p:spPr>
          <a:xfrm>
            <a:off x="914400" y="3771900"/>
            <a:ext cx="2754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TF-IDF vectorizer with 1-2 grams</a:t>
            </a:r>
            <a:endParaRPr lang="en-US" sz="1200" dirty="0"/>
          </a:p>
        </p:txBody>
      </p:sp>
      <p:sp>
        <p:nvSpPr>
          <p:cNvPr id="48" name="Text 8"/>
          <p:cNvSpPr/>
          <p:nvPr/>
        </p:nvSpPr>
        <p:spPr>
          <a:xfrm>
            <a:off x="914400" y="4076700"/>
            <a:ext cx="16230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Max 5,000 features</a:t>
            </a:r>
            <a:endParaRPr lang="en-US" sz="1200" dirty="0"/>
          </a:p>
        </p:txBody>
      </p:sp>
      <p:sp>
        <p:nvSpPr>
          <p:cNvPr id="49" name="Text 9"/>
          <p:cNvSpPr/>
          <p:nvPr/>
        </p:nvSpPr>
        <p:spPr>
          <a:xfrm>
            <a:off x="914400" y="4381500"/>
            <a:ext cx="24460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Weighted document vectors</a:t>
            </a:r>
            <a:endParaRPr lang="en-US" sz="1200" dirty="0"/>
          </a:p>
        </p:txBody>
      </p:sp>
      <p:sp>
        <p:nvSpPr>
          <p:cNvPr id="50" name="Text 10"/>
          <p:cNvSpPr/>
          <p:nvPr/>
        </p:nvSpPr>
        <p:spPr>
          <a:xfrm>
            <a:off x="4635550" y="1181100"/>
            <a:ext cx="43282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Classical Models</a:t>
            </a:r>
            <a:endParaRPr lang="en-US" sz="1800" dirty="0"/>
          </a:p>
        </p:txBody>
      </p:sp>
      <p:sp>
        <p:nvSpPr>
          <p:cNvPr id="51" name="Text 11"/>
          <p:cNvSpPr/>
          <p:nvPr/>
        </p:nvSpPr>
        <p:spPr>
          <a:xfrm>
            <a:off x="4711750" y="1790700"/>
            <a:ext cx="39624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52" name="Text 12"/>
          <p:cNvSpPr/>
          <p:nvPr/>
        </p:nvSpPr>
        <p:spPr>
          <a:xfrm>
            <a:off x="4673650" y="2133600"/>
            <a:ext cx="13373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Linear classifier</a:t>
            </a:r>
            <a:endParaRPr lang="en-US" sz="1200" dirty="0"/>
          </a:p>
        </p:txBody>
      </p:sp>
      <p:sp>
        <p:nvSpPr>
          <p:cNvPr id="53" name="Text 13"/>
          <p:cNvSpPr/>
          <p:nvPr/>
        </p:nvSpPr>
        <p:spPr>
          <a:xfrm>
            <a:off x="4673650" y="2400300"/>
            <a:ext cx="29832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 on linearly separable data</a:t>
            </a:r>
            <a:endParaRPr lang="en-US" sz="1200" dirty="0"/>
          </a:p>
        </p:txBody>
      </p:sp>
      <p:sp>
        <p:nvSpPr>
          <p:cNvPr id="54" name="Text 14"/>
          <p:cNvSpPr/>
          <p:nvPr/>
        </p:nvSpPr>
        <p:spPr>
          <a:xfrm>
            <a:off x="4692700" y="3086100"/>
            <a:ext cx="3302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55" name="Text 15"/>
          <p:cNvSpPr/>
          <p:nvPr/>
        </p:nvSpPr>
        <p:spPr>
          <a:xfrm>
            <a:off x="4643854" y="3434715"/>
            <a:ext cx="23202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Ensemble of decision trees</a:t>
            </a:r>
            <a:endParaRPr lang="en-US" sz="1200" dirty="0"/>
          </a:p>
        </p:txBody>
      </p:sp>
      <p:sp>
        <p:nvSpPr>
          <p:cNvPr id="56" name="Text 16"/>
          <p:cNvSpPr/>
          <p:nvPr/>
        </p:nvSpPr>
        <p:spPr>
          <a:xfrm>
            <a:off x="4673650" y="3695700"/>
            <a:ext cx="29032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Captures non-linear relationships</a:t>
            </a:r>
            <a:endParaRPr lang="en-US" sz="1200" dirty="0"/>
          </a:p>
        </p:txBody>
      </p:sp>
      <p:sp>
        <p:nvSpPr>
          <p:cNvPr id="57" name="Text 17"/>
          <p:cNvSpPr/>
          <p:nvPr/>
        </p:nvSpPr>
        <p:spPr>
          <a:xfrm>
            <a:off x="4711750" y="4381500"/>
            <a:ext cx="3302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</a:t>
            </a:r>
            <a:endParaRPr lang="en-US" sz="1500" dirty="0"/>
          </a:p>
        </p:txBody>
      </p:sp>
      <p:sp>
        <p:nvSpPr>
          <p:cNvPr id="58" name="Text 18"/>
          <p:cNvSpPr/>
          <p:nvPr/>
        </p:nvSpPr>
        <p:spPr>
          <a:xfrm>
            <a:off x="4673650" y="4724400"/>
            <a:ext cx="2800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Gradient-boosted decision trees</a:t>
            </a:r>
            <a:endParaRPr lang="en-US" sz="1200" dirty="0"/>
          </a:p>
        </p:txBody>
      </p:sp>
      <p:sp>
        <p:nvSpPr>
          <p:cNvPr id="59" name="Text 19"/>
          <p:cNvSpPr/>
          <p:nvPr/>
        </p:nvSpPr>
        <p:spPr>
          <a:xfrm>
            <a:off x="4673650" y="4991100"/>
            <a:ext cx="3073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Enhanced performance over Random Forests</a:t>
            </a:r>
            <a:endParaRPr lang="en-US" sz="1200" dirty="0"/>
          </a:p>
        </p:txBody>
      </p:sp>
      <p:sp>
        <p:nvSpPr>
          <p:cNvPr id="60" name="Text 20"/>
          <p:cNvSpPr/>
          <p:nvPr/>
        </p:nvSpPr>
        <p:spPr>
          <a:xfrm>
            <a:off x="8499574" y="1181100"/>
            <a:ext cx="3606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</a:t>
            </a:r>
            <a:endParaRPr lang="en-US" sz="1800" dirty="0"/>
          </a:p>
        </p:txBody>
      </p:sp>
      <p:sp>
        <p:nvSpPr>
          <p:cNvPr id="61" name="Text 21"/>
          <p:cNvSpPr/>
          <p:nvPr/>
        </p:nvSpPr>
        <p:spPr>
          <a:xfrm>
            <a:off x="8242399" y="5241280"/>
            <a:ext cx="3378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Figure: TF-IDF Vectorizer Workflow for Classical Models</a:t>
            </a:r>
            <a:endParaRPr lang="en-US" sz="1050" dirty="0"/>
          </a:p>
        </p:txBody>
      </p:sp>
      <p:sp>
        <p:nvSpPr>
          <p:cNvPr id="62" name="Text 22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4/13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34290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42900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680" y="1333500"/>
            <a:ext cx="5372100" cy="4914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333500"/>
            <a:ext cx="5372100" cy="685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16002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075" y="3086100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5500" y="2971800"/>
            <a:ext cx="1143000" cy="914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4880" y="3009900"/>
            <a:ext cx="952500" cy="762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81275" y="3086100"/>
            <a:ext cx="1714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37573" y="3000375"/>
            <a:ext cx="1143000" cy="723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24300" y="30861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62500" y="2971800"/>
            <a:ext cx="1143000" cy="914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57800" y="30861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05000" y="3380740"/>
            <a:ext cx="190500" cy="190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34690" y="3371850"/>
            <a:ext cx="190500" cy="190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0" y="3362325"/>
            <a:ext cx="190500" cy="190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48006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50673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5380" y="1352550"/>
            <a:ext cx="5372100" cy="49149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10300" y="1333500"/>
            <a:ext cx="5372100" cy="914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0749" y="1714500"/>
            <a:ext cx="13335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3200" y="3429000"/>
            <a:ext cx="952500" cy="571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62775" y="3543300"/>
            <a:ext cx="13335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96200" y="3429000"/>
            <a:ext cx="1143000" cy="10668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72450" y="3543300"/>
            <a:ext cx="1905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29700" y="3429000"/>
            <a:ext cx="1143000" cy="7239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525000" y="3543300"/>
            <a:ext cx="15240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63200" y="3429000"/>
            <a:ext cx="1143000" cy="914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58500" y="3543300"/>
            <a:ext cx="15240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01890" y="3724275"/>
            <a:ext cx="190500" cy="1905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27770" y="3714750"/>
            <a:ext cx="190500" cy="1905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70160" y="3705225"/>
            <a:ext cx="190500" cy="1905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62700" y="5257800"/>
            <a:ext cx="152400" cy="1524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62700" y="5524500"/>
            <a:ext cx="152400" cy="1524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45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Embedding-Based Deep Learning Models</a:t>
            </a:r>
            <a:endParaRPr lang="en-US" sz="2700" dirty="0"/>
          </a:p>
        </p:txBody>
      </p:sp>
      <p:sp>
        <p:nvSpPr>
          <p:cNvPr id="46" name="Text 1"/>
          <p:cNvSpPr/>
          <p:nvPr/>
        </p:nvSpPr>
        <p:spPr>
          <a:xfrm>
            <a:off x="1257300" y="1524000"/>
            <a:ext cx="50063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Neural Networks </a:t>
            </a:r>
            <a:r>
              <a:rPr lang="en-US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 layer</a:t>
            </a:r>
            <a:endParaRPr lang="en-US" sz="1800" dirty="0"/>
          </a:p>
        </p:txBody>
      </p:sp>
      <p:sp>
        <p:nvSpPr>
          <p:cNvPr id="47" name="Text 2"/>
          <p:cNvSpPr/>
          <p:nvPr/>
        </p:nvSpPr>
        <p:spPr>
          <a:xfrm>
            <a:off x="762000" y="2171700"/>
            <a:ext cx="5067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 principles of representation learning through neural embeddings with 100-300 dimensional learnable vector spaces for contextual text.</a:t>
            </a:r>
            <a:endParaRPr lang="en-US" sz="1200" dirty="0"/>
          </a:p>
        </p:txBody>
      </p:sp>
      <p:sp>
        <p:nvSpPr>
          <p:cNvPr id="49" name="Text 4"/>
          <p:cNvSpPr/>
          <p:nvPr/>
        </p:nvSpPr>
        <p:spPr>
          <a:xfrm>
            <a:off x="2209800" y="3276600"/>
            <a:ext cx="914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Embedding Layer</a:t>
            </a:r>
            <a:endParaRPr lang="en-US" sz="1050" dirty="0"/>
          </a:p>
        </p:txBody>
      </p:sp>
      <p:sp>
        <p:nvSpPr>
          <p:cNvPr id="48" name="Text 3"/>
          <p:cNvSpPr/>
          <p:nvPr/>
        </p:nvSpPr>
        <p:spPr>
          <a:xfrm>
            <a:off x="1059716" y="3219450"/>
            <a:ext cx="723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Token Indices</a:t>
            </a:r>
            <a:endParaRPr lang="en-US" sz="1050" dirty="0"/>
          </a:p>
        </p:txBody>
      </p:sp>
      <p:sp>
        <p:nvSpPr>
          <p:cNvPr id="50" name="Text 5"/>
          <p:cNvSpPr/>
          <p:nvPr/>
        </p:nvSpPr>
        <p:spPr>
          <a:xfrm>
            <a:off x="2118360" y="3657600"/>
            <a:ext cx="1097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100-300 dims</a:t>
            </a:r>
            <a:endParaRPr lang="en-US" sz="900" dirty="0"/>
          </a:p>
        </p:txBody>
      </p:sp>
      <p:sp>
        <p:nvSpPr>
          <p:cNvPr id="51" name="Text 6"/>
          <p:cNvSpPr/>
          <p:nvPr/>
        </p:nvSpPr>
        <p:spPr>
          <a:xfrm>
            <a:off x="3451860" y="3268980"/>
            <a:ext cx="1097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Aggregation</a:t>
            </a:r>
            <a:endParaRPr lang="en-US" sz="1050" dirty="0"/>
          </a:p>
        </p:txBody>
      </p:sp>
      <p:sp>
        <p:nvSpPr>
          <p:cNvPr id="52" name="Text 7"/>
          <p:cNvSpPr/>
          <p:nvPr/>
        </p:nvSpPr>
        <p:spPr>
          <a:xfrm>
            <a:off x="3451860" y="3467100"/>
            <a:ext cx="1097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(Pooling)</a:t>
            </a:r>
            <a:endParaRPr lang="en-US" sz="900" dirty="0"/>
          </a:p>
        </p:txBody>
      </p:sp>
      <p:sp>
        <p:nvSpPr>
          <p:cNvPr id="53" name="Text 8"/>
          <p:cNvSpPr/>
          <p:nvPr/>
        </p:nvSpPr>
        <p:spPr>
          <a:xfrm>
            <a:off x="4876800" y="3276600"/>
            <a:ext cx="914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Neural Classifier</a:t>
            </a:r>
            <a:endParaRPr lang="en-US" sz="1050" dirty="0"/>
          </a:p>
        </p:txBody>
      </p:sp>
      <p:sp>
        <p:nvSpPr>
          <p:cNvPr id="54" name="Text 9"/>
          <p:cNvSpPr/>
          <p:nvPr/>
        </p:nvSpPr>
        <p:spPr>
          <a:xfrm>
            <a:off x="4785360" y="3657600"/>
            <a:ext cx="1097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CNN/MLP</a:t>
            </a:r>
            <a:endParaRPr lang="en-US" sz="900" dirty="0"/>
          </a:p>
        </p:txBody>
      </p:sp>
      <p:sp>
        <p:nvSpPr>
          <p:cNvPr id="55" name="Text 10"/>
          <p:cNvSpPr/>
          <p:nvPr/>
        </p:nvSpPr>
        <p:spPr>
          <a:xfrm>
            <a:off x="990600" y="4762500"/>
            <a:ext cx="37147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Captures semantic relationships between words</a:t>
            </a:r>
            <a:endParaRPr lang="en-US" sz="1050" dirty="0"/>
          </a:p>
        </p:txBody>
      </p:sp>
      <p:sp>
        <p:nvSpPr>
          <p:cNvPr id="56" name="Text 11"/>
          <p:cNvSpPr/>
          <p:nvPr/>
        </p:nvSpPr>
        <p:spPr>
          <a:xfrm>
            <a:off x="990600" y="5029200"/>
            <a:ext cx="31661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Learnable parameters specific to the task</a:t>
            </a:r>
            <a:endParaRPr lang="en-US" sz="1050" dirty="0"/>
          </a:p>
        </p:txBody>
      </p:sp>
      <p:sp>
        <p:nvSpPr>
          <p:cNvPr id="57" name="Text 12"/>
          <p:cNvSpPr/>
          <p:nvPr/>
        </p:nvSpPr>
        <p:spPr>
          <a:xfrm>
            <a:off x="6826448" y="1485900"/>
            <a:ext cx="4603552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Word2Vec Embeddings</a:t>
            </a:r>
            <a:endParaRPr lang="en-US" sz="1800" dirty="0"/>
          </a:p>
        </p:txBody>
      </p:sp>
      <p:sp>
        <p:nvSpPr>
          <p:cNvPr id="58" name="Text 13"/>
          <p:cNvSpPr/>
          <p:nvPr/>
        </p:nvSpPr>
        <p:spPr>
          <a:xfrm>
            <a:off x="6362700" y="2400300"/>
            <a:ext cx="50673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Specialized implementation of word vectorization first principles with CBOW or Skip-gram, mapping 100-300 dimensional text concepts into semantic dense vectors.</a:t>
            </a:r>
            <a:endParaRPr lang="en-US" sz="1200" dirty="0"/>
          </a:p>
        </p:txBody>
      </p:sp>
      <p:sp>
        <p:nvSpPr>
          <p:cNvPr id="59" name="Text 14"/>
          <p:cNvSpPr/>
          <p:nvPr/>
        </p:nvSpPr>
        <p:spPr>
          <a:xfrm>
            <a:off x="6595110" y="3733800"/>
            <a:ext cx="8686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 Input</a:t>
            </a:r>
            <a:endParaRPr lang="en-US" sz="1050" dirty="0"/>
          </a:p>
        </p:txBody>
      </p:sp>
      <p:sp>
        <p:nvSpPr>
          <p:cNvPr id="60" name="Text 15"/>
          <p:cNvSpPr/>
          <p:nvPr/>
        </p:nvSpPr>
        <p:spPr>
          <a:xfrm>
            <a:off x="7810500" y="3733800"/>
            <a:ext cx="914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Word2Vec Model</a:t>
            </a:r>
            <a:endParaRPr lang="en-US" sz="1050" dirty="0"/>
          </a:p>
        </p:txBody>
      </p:sp>
      <p:sp>
        <p:nvSpPr>
          <p:cNvPr id="61" name="Text 16"/>
          <p:cNvSpPr/>
          <p:nvPr/>
        </p:nvSpPr>
        <p:spPr>
          <a:xfrm>
            <a:off x="7810500" y="4114800"/>
            <a:ext cx="914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CBOW/Skip-gram</a:t>
            </a:r>
            <a:endParaRPr lang="en-US" sz="900" dirty="0"/>
          </a:p>
        </p:txBody>
      </p:sp>
      <p:sp>
        <p:nvSpPr>
          <p:cNvPr id="62" name="Text 17"/>
          <p:cNvSpPr/>
          <p:nvPr/>
        </p:nvSpPr>
        <p:spPr>
          <a:xfrm>
            <a:off x="9052560" y="3733800"/>
            <a:ext cx="1097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 Vectors</a:t>
            </a:r>
            <a:endParaRPr lang="en-US" sz="1050" dirty="0"/>
          </a:p>
        </p:txBody>
      </p:sp>
      <p:sp>
        <p:nvSpPr>
          <p:cNvPr id="63" name="Text 18"/>
          <p:cNvSpPr/>
          <p:nvPr/>
        </p:nvSpPr>
        <p:spPr>
          <a:xfrm>
            <a:off x="9052560" y="3924300"/>
            <a:ext cx="1097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100-300 dims</a:t>
            </a:r>
            <a:endParaRPr lang="en-US" sz="900" dirty="0"/>
          </a:p>
        </p:txBody>
      </p:sp>
      <p:sp>
        <p:nvSpPr>
          <p:cNvPr id="64" name="Text 19"/>
          <p:cNvSpPr/>
          <p:nvPr/>
        </p:nvSpPr>
        <p:spPr>
          <a:xfrm>
            <a:off x="10477500" y="3733800"/>
            <a:ext cx="914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Neural Classifier</a:t>
            </a:r>
            <a:endParaRPr lang="en-US" sz="1050" dirty="0"/>
          </a:p>
        </p:txBody>
      </p:sp>
      <p:sp>
        <p:nvSpPr>
          <p:cNvPr id="65" name="Text 20"/>
          <p:cNvSpPr/>
          <p:nvPr/>
        </p:nvSpPr>
        <p:spPr>
          <a:xfrm>
            <a:off x="10386060" y="4114800"/>
            <a:ext cx="1097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CNN/MLP</a:t>
            </a:r>
            <a:endParaRPr lang="en-US" sz="900" dirty="0"/>
          </a:p>
        </p:txBody>
      </p:sp>
      <p:sp>
        <p:nvSpPr>
          <p:cNvPr id="66" name="Text 21"/>
          <p:cNvSpPr/>
          <p:nvPr/>
        </p:nvSpPr>
        <p:spPr>
          <a:xfrm>
            <a:off x="6591300" y="5219700"/>
            <a:ext cx="37833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Uses pre-trained embeddings from large corpora</a:t>
            </a:r>
            <a:endParaRPr lang="en-US" sz="1050" dirty="0"/>
          </a:p>
        </p:txBody>
      </p:sp>
      <p:sp>
        <p:nvSpPr>
          <p:cNvPr id="67" name="Text 22"/>
          <p:cNvSpPr/>
          <p:nvPr/>
        </p:nvSpPr>
        <p:spPr>
          <a:xfrm>
            <a:off x="6591300" y="5486400"/>
            <a:ext cx="34061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Combines well with CNN and MLP classifiers</a:t>
            </a:r>
            <a:endParaRPr lang="en-US" sz="1050" dirty="0"/>
          </a:p>
        </p:txBody>
      </p:sp>
      <p:sp>
        <p:nvSpPr>
          <p:cNvPr id="68" name="Text 23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5/13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0"/>
            <a:ext cx="12192000" cy="6953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725" y="3467100"/>
            <a:ext cx="114300" cy="114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7125" y="3467100"/>
            <a:ext cx="114300" cy="114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525" y="3467100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925" y="34671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325" y="346710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5205413"/>
            <a:ext cx="12192000" cy="173831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7624" y="-9525"/>
            <a:ext cx="4063901" cy="2317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1323975"/>
            <a:ext cx="5410200" cy="15049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1476375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158115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2047875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2276475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2505075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1725" y="1323975"/>
            <a:ext cx="5410200" cy="15049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4125" y="1476375"/>
            <a:ext cx="476250" cy="4762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3188" y="1581150"/>
            <a:ext cx="238125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0325" y="2047875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10325" y="2276475"/>
            <a:ext cx="123825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10325" y="2505075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9125" y="3057525"/>
            <a:ext cx="10972800" cy="3276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7725" y="3895725"/>
            <a:ext cx="1524000" cy="1524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00188" y="4181475"/>
            <a:ext cx="219075" cy="342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93975" y="4543425"/>
            <a:ext cx="228600" cy="228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44826" y="3895725"/>
            <a:ext cx="1524000" cy="1524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63951" y="4181475"/>
            <a:ext cx="285750" cy="3429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91076" y="4543425"/>
            <a:ext cx="228600" cy="228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41927" y="3895725"/>
            <a:ext cx="1524000" cy="15240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94389" y="4257675"/>
            <a:ext cx="219075" cy="3429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88177" y="4543425"/>
            <a:ext cx="228600" cy="2286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39027" y="3895725"/>
            <a:ext cx="1524000" cy="15240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439102" y="4181475"/>
            <a:ext cx="323850" cy="3429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391900" y="6581775"/>
            <a:ext cx="76200" cy="762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544300" y="6581775"/>
            <a:ext cx="76200" cy="76200"/>
          </a:xfrm>
          <a:prstGeom prst="rect">
            <a:avLst/>
          </a:prstGeom>
        </p:spPr>
      </p:pic>
      <p:sp>
        <p:nvSpPr>
          <p:cNvPr id="37" name="Text 0"/>
          <p:cNvSpPr/>
          <p:nvPr/>
        </p:nvSpPr>
        <p:spPr>
          <a:xfrm>
            <a:off x="619125" y="600075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Transformer Architecture - BERT Fine-tuning</a:t>
            </a:r>
            <a:endParaRPr lang="en-US" sz="2700" dirty="0"/>
          </a:p>
        </p:txBody>
      </p:sp>
      <p:sp>
        <p:nvSpPr>
          <p:cNvPr id="38" name="Text 1"/>
          <p:cNvSpPr/>
          <p:nvPr/>
        </p:nvSpPr>
        <p:spPr>
          <a:xfrm>
            <a:off x="1362075" y="1581150"/>
            <a:ext cx="2400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BERT-base-uncased</a:t>
            </a:r>
            <a:endParaRPr lang="en-US" sz="1500" dirty="0"/>
          </a:p>
        </p:txBody>
      </p:sp>
      <p:sp>
        <p:nvSpPr>
          <p:cNvPr id="39" name="Text 2"/>
          <p:cNvSpPr/>
          <p:nvPr/>
        </p:nvSpPr>
        <p:spPr>
          <a:xfrm>
            <a:off x="1076325" y="2028825"/>
            <a:ext cx="23888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12-layer, 768-hidden, 12-heads</a:t>
            </a:r>
            <a:endParaRPr lang="en-US" sz="1050" dirty="0"/>
          </a:p>
        </p:txBody>
      </p:sp>
      <p:sp>
        <p:nvSpPr>
          <p:cNvPr id="40" name="Text 3"/>
          <p:cNvSpPr/>
          <p:nvPr/>
        </p:nvSpPr>
        <p:spPr>
          <a:xfrm>
            <a:off x="1076325" y="2257425"/>
            <a:ext cx="1554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Lowercase tokenizer</a:t>
            </a:r>
            <a:endParaRPr lang="en-US" sz="1050" dirty="0"/>
          </a:p>
        </p:txBody>
      </p:sp>
      <p:sp>
        <p:nvSpPr>
          <p:cNvPr id="41" name="Text 4"/>
          <p:cNvSpPr/>
          <p:nvPr/>
        </p:nvSpPr>
        <p:spPr>
          <a:xfrm>
            <a:off x="1076325" y="2486025"/>
            <a:ext cx="16916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WordPiece vocabulary</a:t>
            </a:r>
            <a:endParaRPr lang="en-US" sz="1050" dirty="0"/>
          </a:p>
        </p:txBody>
      </p:sp>
      <p:sp>
        <p:nvSpPr>
          <p:cNvPr id="42" name="Text 5"/>
          <p:cNvSpPr/>
          <p:nvPr/>
        </p:nvSpPr>
        <p:spPr>
          <a:xfrm>
            <a:off x="6924675" y="1581150"/>
            <a:ext cx="31546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Fine-tuning Configuration</a:t>
            </a:r>
            <a:endParaRPr lang="en-US" sz="1500" dirty="0"/>
          </a:p>
        </p:txBody>
      </p:sp>
      <p:sp>
        <p:nvSpPr>
          <p:cNvPr id="43" name="Text 6"/>
          <p:cNvSpPr/>
          <p:nvPr/>
        </p:nvSpPr>
        <p:spPr>
          <a:xfrm>
            <a:off x="6638925" y="2028825"/>
            <a:ext cx="137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AdamW optimizer</a:t>
            </a:r>
            <a:endParaRPr lang="en-US" sz="1050" dirty="0"/>
          </a:p>
        </p:txBody>
      </p:sp>
      <p:sp>
        <p:nvSpPr>
          <p:cNvPr id="44" name="Text 7"/>
          <p:cNvSpPr/>
          <p:nvPr/>
        </p:nvSpPr>
        <p:spPr>
          <a:xfrm>
            <a:off x="6610350" y="2257425"/>
            <a:ext cx="14516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Learning rate: 1e-5</a:t>
            </a:r>
            <a:endParaRPr lang="en-US" sz="1050" dirty="0"/>
          </a:p>
        </p:txBody>
      </p:sp>
      <p:sp>
        <p:nvSpPr>
          <p:cNvPr id="45" name="Text 8"/>
          <p:cNvSpPr/>
          <p:nvPr/>
        </p:nvSpPr>
        <p:spPr>
          <a:xfrm>
            <a:off x="6638925" y="2486025"/>
            <a:ext cx="8343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3-5 epochs</a:t>
            </a:r>
            <a:endParaRPr lang="en-US" sz="1050" dirty="0"/>
          </a:p>
        </p:txBody>
      </p:sp>
      <p:sp>
        <p:nvSpPr>
          <p:cNvPr id="46" name="Text 9"/>
          <p:cNvSpPr/>
          <p:nvPr/>
        </p:nvSpPr>
        <p:spPr>
          <a:xfrm>
            <a:off x="847427" y="3172301"/>
            <a:ext cx="10515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BERT Fine-tuning Pipeline</a:t>
            </a:r>
            <a:endParaRPr lang="en-US" sz="1800" dirty="0"/>
          </a:p>
        </p:txBody>
      </p:sp>
      <p:sp>
        <p:nvSpPr>
          <p:cNvPr id="47" name="Text 10"/>
          <p:cNvSpPr/>
          <p:nvPr/>
        </p:nvSpPr>
        <p:spPr>
          <a:xfrm>
            <a:off x="1215390" y="4600575"/>
            <a:ext cx="7886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Text</a:t>
            </a:r>
            <a:endParaRPr lang="en-US" sz="1050" dirty="0"/>
          </a:p>
        </p:txBody>
      </p:sp>
      <p:sp>
        <p:nvSpPr>
          <p:cNvPr id="48" name="Text 11"/>
          <p:cNvSpPr/>
          <p:nvPr/>
        </p:nvSpPr>
        <p:spPr>
          <a:xfrm>
            <a:off x="962025" y="4829175"/>
            <a:ext cx="129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Tokenized using WordPiece</a:t>
            </a:r>
            <a:endParaRPr lang="en-US" sz="900" dirty="0"/>
          </a:p>
        </p:txBody>
      </p:sp>
      <p:sp>
        <p:nvSpPr>
          <p:cNvPr id="49" name="Text 12"/>
          <p:cNvSpPr/>
          <p:nvPr/>
        </p:nvSpPr>
        <p:spPr>
          <a:xfrm>
            <a:off x="4035326" y="4600575"/>
            <a:ext cx="1143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BERT Encoder</a:t>
            </a:r>
            <a:endParaRPr lang="en-US" sz="1050" dirty="0"/>
          </a:p>
        </p:txBody>
      </p:sp>
      <p:sp>
        <p:nvSpPr>
          <p:cNvPr id="50" name="Text 13"/>
          <p:cNvSpPr/>
          <p:nvPr/>
        </p:nvSpPr>
        <p:spPr>
          <a:xfrm>
            <a:off x="3959126" y="4829175"/>
            <a:ext cx="129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Processes tokenized inputs</a:t>
            </a:r>
            <a:endParaRPr lang="en-US" sz="900" dirty="0"/>
          </a:p>
        </p:txBody>
      </p:sp>
      <p:sp>
        <p:nvSpPr>
          <p:cNvPr id="51" name="Text 14"/>
          <p:cNvSpPr/>
          <p:nvPr/>
        </p:nvSpPr>
        <p:spPr>
          <a:xfrm>
            <a:off x="7146727" y="4676775"/>
            <a:ext cx="914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[CLS] Token</a:t>
            </a:r>
            <a:endParaRPr lang="en-US" sz="1050" dirty="0"/>
          </a:p>
        </p:txBody>
      </p:sp>
      <p:sp>
        <p:nvSpPr>
          <p:cNvPr id="52" name="Text 15"/>
          <p:cNvSpPr/>
          <p:nvPr/>
        </p:nvSpPr>
        <p:spPr>
          <a:xfrm>
            <a:off x="6866692" y="4905375"/>
            <a:ext cx="14744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Extraction of first token</a:t>
            </a:r>
            <a:endParaRPr lang="en-US" sz="900" dirty="0"/>
          </a:p>
        </p:txBody>
      </p:sp>
      <p:sp>
        <p:nvSpPr>
          <p:cNvPr id="53" name="Text 16"/>
          <p:cNvSpPr/>
          <p:nvPr/>
        </p:nvSpPr>
        <p:spPr>
          <a:xfrm>
            <a:off x="9840932" y="4600575"/>
            <a:ext cx="15201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Classification Head</a:t>
            </a:r>
            <a:endParaRPr lang="en-US" sz="1050" dirty="0"/>
          </a:p>
        </p:txBody>
      </p:sp>
      <p:sp>
        <p:nvSpPr>
          <p:cNvPr id="54" name="Text 17"/>
          <p:cNvSpPr/>
          <p:nvPr/>
        </p:nvSpPr>
        <p:spPr>
          <a:xfrm>
            <a:off x="9953327" y="4829175"/>
            <a:ext cx="129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MLP with softmax output</a:t>
            </a:r>
            <a:endParaRPr lang="en-US" sz="900" dirty="0"/>
          </a:p>
        </p:txBody>
      </p:sp>
      <p:sp>
        <p:nvSpPr>
          <p:cNvPr id="55" name="Text 18"/>
          <p:cNvSpPr/>
          <p:nvPr/>
        </p:nvSpPr>
        <p:spPr>
          <a:xfrm>
            <a:off x="847725" y="5724525"/>
            <a:ext cx="10515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BERT advances first principles methodologies with multi-headed self-attention, refining attention maps, and pooling embeddings to capture context beyond simple bag-of-words representation</a:t>
            </a:r>
            <a:endParaRPr lang="en-US" sz="1050" dirty="0"/>
          </a:p>
        </p:txBody>
      </p:sp>
      <p:sp>
        <p:nvSpPr>
          <p:cNvPr id="56" name="Text 19"/>
          <p:cNvSpPr/>
          <p:nvPr/>
        </p:nvSpPr>
        <p:spPr>
          <a:xfrm>
            <a:off x="11696700" y="6524625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6/13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3429000"/>
            <a:ext cx="114300" cy="114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429000"/>
            <a:ext cx="114300" cy="114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29000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34290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42900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4097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14859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057400"/>
            <a:ext cx="5334000" cy="1104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20980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390900"/>
            <a:ext cx="5334000" cy="1104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543300"/>
            <a:ext cx="23812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1409700"/>
            <a:ext cx="4572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2700" y="14859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2057400"/>
            <a:ext cx="5334000" cy="1104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2209800"/>
            <a:ext cx="19050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3390900"/>
            <a:ext cx="5334000" cy="1104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543300"/>
            <a:ext cx="142875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4724400"/>
            <a:ext cx="5334000" cy="1104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4876800"/>
            <a:ext cx="142875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Metrics Framework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1219200" y="1485900"/>
            <a:ext cx="34061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Predictive Performance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1066800" y="2209800"/>
            <a:ext cx="11087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</a:t>
            </a:r>
            <a:endParaRPr lang="en-US" sz="1500" dirty="0"/>
          </a:p>
        </p:txBody>
      </p:sp>
      <p:sp>
        <p:nvSpPr>
          <p:cNvPr id="30" name="Text 3"/>
          <p:cNvSpPr/>
          <p:nvPr/>
        </p:nvSpPr>
        <p:spPr>
          <a:xfrm>
            <a:off x="1066800" y="25527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Overall classification correctness measured as the ratio of correctly classified samples to total samples.</a:t>
            </a:r>
            <a:endParaRPr lang="en-US" sz="1200" dirty="0"/>
          </a:p>
        </p:txBody>
      </p:sp>
      <p:sp>
        <p:nvSpPr>
          <p:cNvPr id="31" name="Text 4"/>
          <p:cNvSpPr/>
          <p:nvPr/>
        </p:nvSpPr>
        <p:spPr>
          <a:xfrm>
            <a:off x="1114425" y="3543300"/>
            <a:ext cx="10172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F1-Score</a:t>
            </a:r>
            <a:endParaRPr lang="en-US" sz="1500" dirty="0"/>
          </a:p>
        </p:txBody>
      </p:sp>
      <p:sp>
        <p:nvSpPr>
          <p:cNvPr id="32" name="Text 5"/>
          <p:cNvSpPr/>
          <p:nvPr/>
        </p:nvSpPr>
        <p:spPr>
          <a:xfrm>
            <a:off x="1066800" y="38862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Weighted average of precision and recall across the four classes, providing balance between true positives and false positives.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6858000" y="1485900"/>
            <a:ext cx="36347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Computational Efficiency</a:t>
            </a:r>
            <a:endParaRPr lang="en-US" sz="1800" dirty="0"/>
          </a:p>
        </p:txBody>
      </p:sp>
      <p:sp>
        <p:nvSpPr>
          <p:cNvPr id="34" name="Text 7"/>
          <p:cNvSpPr/>
          <p:nvPr/>
        </p:nvSpPr>
        <p:spPr>
          <a:xfrm>
            <a:off x="6705600" y="2209800"/>
            <a:ext cx="1645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Time</a:t>
            </a:r>
            <a:endParaRPr lang="en-US" sz="1500" dirty="0"/>
          </a:p>
        </p:txBody>
      </p:sp>
      <p:sp>
        <p:nvSpPr>
          <p:cNvPr id="35" name="Text 8"/>
          <p:cNvSpPr/>
          <p:nvPr/>
        </p:nvSpPr>
        <p:spPr>
          <a:xfrm>
            <a:off x="6705600" y="25527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Measured in seconds, representing the wall-clock time to train the model on the training dataset.</a:t>
            </a:r>
            <a:endParaRPr lang="en-US" sz="1200" dirty="0"/>
          </a:p>
        </p:txBody>
      </p:sp>
      <p:sp>
        <p:nvSpPr>
          <p:cNvPr id="36" name="Text 9"/>
          <p:cNvSpPr/>
          <p:nvPr/>
        </p:nvSpPr>
        <p:spPr>
          <a:xfrm>
            <a:off x="6657975" y="3543300"/>
            <a:ext cx="18402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Inference Time</a:t>
            </a:r>
            <a:endParaRPr lang="en-US" sz="1500" dirty="0"/>
          </a:p>
        </p:txBody>
      </p:sp>
      <p:sp>
        <p:nvSpPr>
          <p:cNvPr id="37" name="Text 10"/>
          <p:cNvSpPr/>
          <p:nvPr/>
        </p:nvSpPr>
        <p:spPr>
          <a:xfrm>
            <a:off x="6705600" y="38862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time per test sample in seconds, measuring the model's prediction speed.</a:t>
            </a:r>
            <a:endParaRPr lang="en-US" sz="1200" dirty="0"/>
          </a:p>
        </p:txBody>
      </p:sp>
      <p:sp>
        <p:nvSpPr>
          <p:cNvPr id="38" name="Text 11"/>
          <p:cNvSpPr/>
          <p:nvPr/>
        </p:nvSpPr>
        <p:spPr>
          <a:xfrm>
            <a:off x="6657975" y="4876800"/>
            <a:ext cx="22288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FLOPs per Sample</a:t>
            </a:r>
            <a:endParaRPr lang="en-US" sz="1500" dirty="0"/>
          </a:p>
        </p:txBody>
      </p:sp>
      <p:sp>
        <p:nvSpPr>
          <p:cNvPr id="39" name="Text 12"/>
          <p:cNvSpPr/>
          <p:nvPr/>
        </p:nvSpPr>
        <p:spPr>
          <a:xfrm>
            <a:off x="6705600" y="5219700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Floating Point Operations per second, measuring the computational complexity of the model.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7/13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3429000"/>
            <a:ext cx="114300" cy="114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429000"/>
            <a:ext cx="114300" cy="114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29000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34290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42900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33500"/>
            <a:ext cx="6583561" cy="357381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7961" y="1333500"/>
            <a:ext cx="4084290" cy="1714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8461" y="1524000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9423" y="1581150"/>
            <a:ext cx="21907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88461" y="20574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88461" y="23622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88461" y="26670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97961" y="3276600"/>
            <a:ext cx="4084290" cy="2400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88461" y="3467100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07523" y="3524250"/>
            <a:ext cx="142875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88461" y="40005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88461" y="45339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88461" y="50673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Results Overview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8183761" y="1562100"/>
            <a:ext cx="2228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Performers</a:t>
            </a:r>
            <a:endParaRPr lang="en-US" sz="1800" dirty="0"/>
          </a:p>
        </p:txBody>
      </p:sp>
      <p:sp>
        <p:nvSpPr>
          <p:cNvPr id="28" name="Text 2"/>
          <p:cNvSpPr/>
          <p:nvPr/>
        </p:nvSpPr>
        <p:spPr>
          <a:xfrm>
            <a:off x="7955161" y="2019300"/>
            <a:ext cx="3611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Matrix Embedding + CNN: </a:t>
            </a: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91.4% accuracy</a:t>
            </a:r>
            <a:endParaRPr lang="en-US" sz="1200" dirty="0"/>
          </a:p>
        </p:txBody>
      </p:sp>
      <p:sp>
        <p:nvSpPr>
          <p:cNvPr id="29" name="Text 3"/>
          <p:cNvSpPr/>
          <p:nvPr/>
        </p:nvSpPr>
        <p:spPr>
          <a:xfrm>
            <a:off x="7955161" y="2324100"/>
            <a:ext cx="24345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BOW + MLP: </a:t>
            </a: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91.3% accuracy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7955161" y="2628900"/>
            <a:ext cx="29032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Word2Vec + CNN: </a:t>
            </a: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91.0% accuracy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8183761" y="3505200"/>
            <a:ext cx="17716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32" name="Text 6"/>
          <p:cNvSpPr/>
          <p:nvPr/>
        </p:nvSpPr>
        <p:spPr>
          <a:xfrm>
            <a:off x="7955161" y="3962400"/>
            <a:ext cx="343659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Neural architectures with embeddings outperform classical methods</a:t>
            </a:r>
            <a:endParaRPr lang="en-US" sz="1200" dirty="0"/>
          </a:p>
        </p:txBody>
      </p:sp>
      <p:sp>
        <p:nvSpPr>
          <p:cNvPr id="33" name="Text 7"/>
          <p:cNvSpPr/>
          <p:nvPr/>
        </p:nvSpPr>
        <p:spPr>
          <a:xfrm>
            <a:off x="7955161" y="4495800"/>
            <a:ext cx="343659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MLP models show similar performance to CNNs for this task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7955161" y="5029200"/>
            <a:ext cx="343659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Classical models like Logistic Regression lag behind (90.2% accuracy)</a:t>
            </a:r>
            <a:endParaRPr lang="en-US" sz="1200" dirty="0"/>
          </a:p>
        </p:txBody>
      </p:sp>
      <p:sp>
        <p:nvSpPr>
          <p:cNvPr id="35" name="Text 9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8/13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19475"/>
            <a:ext cx="117348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3429000"/>
            <a:ext cx="114300" cy="114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429000"/>
            <a:ext cx="114300" cy="114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34290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342900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181100"/>
            <a:ext cx="5524500" cy="5219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663" y="1428750"/>
            <a:ext cx="21907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1905000"/>
            <a:ext cx="514350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2590800"/>
            <a:ext cx="514350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276600"/>
            <a:ext cx="514350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4114800"/>
            <a:ext cx="5143500" cy="876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4267200"/>
            <a:ext cx="1143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1181100"/>
            <a:ext cx="5524500" cy="5219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1763" y="1428750"/>
            <a:ext cx="219075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2400300"/>
            <a:ext cx="13335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2628900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2857500"/>
            <a:ext cx="133350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10462" y="3548063"/>
            <a:ext cx="2924175" cy="242887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10462" y="5748338"/>
            <a:ext cx="2924175" cy="228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Performing Models Analysis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1143000" y="1409700"/>
            <a:ext cx="41490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Models by Test Accuracy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762000" y="1905000"/>
            <a:ext cx="320427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</a:t>
            </a:r>
            <a:endParaRPr lang="en-US" sz="1050" dirty="0"/>
          </a:p>
        </p:txBody>
      </p:sp>
      <p:sp>
        <p:nvSpPr>
          <p:cNvPr id="30" name="Text 3"/>
          <p:cNvSpPr/>
          <p:nvPr/>
        </p:nvSpPr>
        <p:spPr>
          <a:xfrm>
            <a:off x="3464123" y="1905000"/>
            <a:ext cx="232707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Accuracy</a:t>
            </a:r>
            <a:endParaRPr lang="en-US" sz="1050" dirty="0"/>
          </a:p>
        </p:txBody>
      </p:sp>
      <p:sp>
        <p:nvSpPr>
          <p:cNvPr id="31" name="Text 4"/>
          <p:cNvSpPr/>
          <p:nvPr/>
        </p:nvSpPr>
        <p:spPr>
          <a:xfrm>
            <a:off x="762000" y="2247900"/>
            <a:ext cx="384512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Matrix Embedding + CNN</a:t>
            </a:r>
            <a:endParaRPr lang="en-US" sz="1050" dirty="0"/>
          </a:p>
        </p:txBody>
      </p:sp>
      <p:sp>
        <p:nvSpPr>
          <p:cNvPr id="32" name="Text 5"/>
          <p:cNvSpPr/>
          <p:nvPr/>
        </p:nvSpPr>
        <p:spPr>
          <a:xfrm>
            <a:off x="3851970" y="2247900"/>
            <a:ext cx="193923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0.914</a:t>
            </a:r>
            <a:endParaRPr lang="en-US" sz="1050" dirty="0"/>
          </a:p>
        </p:txBody>
      </p:sp>
      <p:sp>
        <p:nvSpPr>
          <p:cNvPr id="33" name="Text 6"/>
          <p:cNvSpPr/>
          <p:nvPr/>
        </p:nvSpPr>
        <p:spPr>
          <a:xfrm>
            <a:off x="762000" y="2590800"/>
            <a:ext cx="320427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BOW + MLP</a:t>
            </a:r>
            <a:endParaRPr lang="en-US" sz="1050" dirty="0"/>
          </a:p>
        </p:txBody>
      </p:sp>
      <p:sp>
        <p:nvSpPr>
          <p:cNvPr id="34" name="Text 7"/>
          <p:cNvSpPr/>
          <p:nvPr/>
        </p:nvSpPr>
        <p:spPr>
          <a:xfrm>
            <a:off x="3851970" y="2590800"/>
            <a:ext cx="193923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0.913</a:t>
            </a:r>
            <a:endParaRPr lang="en-US" sz="1050" dirty="0"/>
          </a:p>
        </p:txBody>
      </p:sp>
      <p:sp>
        <p:nvSpPr>
          <p:cNvPr id="35" name="Text 8"/>
          <p:cNvSpPr/>
          <p:nvPr/>
        </p:nvSpPr>
        <p:spPr>
          <a:xfrm>
            <a:off x="762000" y="2933700"/>
            <a:ext cx="320427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Word2Vec + CNN</a:t>
            </a:r>
            <a:endParaRPr lang="en-US" sz="1050" dirty="0"/>
          </a:p>
        </p:txBody>
      </p:sp>
      <p:sp>
        <p:nvSpPr>
          <p:cNvPr id="36" name="Text 9"/>
          <p:cNvSpPr/>
          <p:nvPr/>
        </p:nvSpPr>
        <p:spPr>
          <a:xfrm>
            <a:off x="3851970" y="2933700"/>
            <a:ext cx="193923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0.910</a:t>
            </a:r>
            <a:endParaRPr lang="en-US" sz="1050" dirty="0"/>
          </a:p>
        </p:txBody>
      </p:sp>
      <p:sp>
        <p:nvSpPr>
          <p:cNvPr id="37" name="Text 10"/>
          <p:cNvSpPr/>
          <p:nvPr/>
        </p:nvSpPr>
        <p:spPr>
          <a:xfrm>
            <a:off x="762000" y="3276600"/>
            <a:ext cx="384512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Tf_IDF + Logistic Model</a:t>
            </a:r>
            <a:endParaRPr lang="en-US" sz="1050" dirty="0"/>
          </a:p>
        </p:txBody>
      </p:sp>
      <p:sp>
        <p:nvSpPr>
          <p:cNvPr id="38" name="Text 11"/>
          <p:cNvSpPr/>
          <p:nvPr/>
        </p:nvSpPr>
        <p:spPr>
          <a:xfrm>
            <a:off x="3851970" y="3276600"/>
            <a:ext cx="193923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0.906</a:t>
            </a:r>
            <a:endParaRPr lang="en-US" sz="1050" dirty="0"/>
          </a:p>
        </p:txBody>
      </p:sp>
      <p:sp>
        <p:nvSpPr>
          <p:cNvPr id="39" name="Text 12"/>
          <p:cNvSpPr/>
          <p:nvPr/>
        </p:nvSpPr>
        <p:spPr>
          <a:xfrm>
            <a:off x="762000" y="3619500"/>
            <a:ext cx="320427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BOW + XGBoost Model</a:t>
            </a:r>
            <a:endParaRPr lang="en-US" sz="1050" dirty="0"/>
          </a:p>
        </p:txBody>
      </p:sp>
      <p:sp>
        <p:nvSpPr>
          <p:cNvPr id="40" name="Text 13"/>
          <p:cNvSpPr/>
          <p:nvPr/>
        </p:nvSpPr>
        <p:spPr>
          <a:xfrm>
            <a:off x="3851970" y="3619500"/>
            <a:ext cx="193923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0.905</a:t>
            </a:r>
            <a:endParaRPr lang="en-US" sz="1050" dirty="0"/>
          </a:p>
        </p:txBody>
      </p:sp>
      <p:sp>
        <p:nvSpPr>
          <p:cNvPr id="41" name="Text 14"/>
          <p:cNvSpPr/>
          <p:nvPr/>
        </p:nvSpPr>
        <p:spPr>
          <a:xfrm>
            <a:off x="990600" y="4229100"/>
            <a:ext cx="46863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Insight: </a:t>
            </a: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Matrix Embedding + CNN achieved the highest accuracy (0.914), demonstrating the effectiveness of combining advanced embedding techniques with neural architectures.</a:t>
            </a:r>
            <a:endParaRPr lang="en-US" sz="1050" dirty="0"/>
          </a:p>
        </p:txBody>
      </p:sp>
      <p:sp>
        <p:nvSpPr>
          <p:cNvPr id="42" name="Text 15"/>
          <p:cNvSpPr/>
          <p:nvPr/>
        </p:nvSpPr>
        <p:spPr>
          <a:xfrm>
            <a:off x="6896100" y="1409700"/>
            <a:ext cx="37147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Confusion Matrix Analysis</a:t>
            </a:r>
            <a:endParaRPr lang="en-US" sz="1800" dirty="0"/>
          </a:p>
        </p:txBody>
      </p:sp>
      <p:sp>
        <p:nvSpPr>
          <p:cNvPr id="43" name="Text 16"/>
          <p:cNvSpPr/>
          <p:nvPr/>
        </p:nvSpPr>
        <p:spPr>
          <a:xfrm>
            <a:off x="6400800" y="1905000"/>
            <a:ext cx="5143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confusion matrix for the best-performing model (Matrix Embedding + CNN) reveals:</a:t>
            </a:r>
            <a:endParaRPr lang="en-US" sz="1050" dirty="0"/>
          </a:p>
        </p:txBody>
      </p:sp>
      <p:sp>
        <p:nvSpPr>
          <p:cNvPr id="44" name="Text 17"/>
          <p:cNvSpPr/>
          <p:nvPr/>
        </p:nvSpPr>
        <p:spPr>
          <a:xfrm>
            <a:off x="6838950" y="2362200"/>
            <a:ext cx="4617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classification performance across all news categories</a:t>
            </a:r>
            <a:endParaRPr lang="en-US" sz="1050" dirty="0"/>
          </a:p>
        </p:txBody>
      </p:sp>
      <p:sp>
        <p:nvSpPr>
          <p:cNvPr id="45" name="Text 18"/>
          <p:cNvSpPr/>
          <p:nvPr/>
        </p:nvSpPr>
        <p:spPr>
          <a:xfrm>
            <a:off x="6838950" y="2590800"/>
            <a:ext cx="46405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Mostly accurate predictions with balanced error distribution</a:t>
            </a:r>
            <a:endParaRPr lang="en-US" sz="1050" dirty="0"/>
          </a:p>
        </p:txBody>
      </p:sp>
      <p:sp>
        <p:nvSpPr>
          <p:cNvPr id="46" name="Text 19"/>
          <p:cNvSpPr/>
          <p:nvPr/>
        </p:nvSpPr>
        <p:spPr>
          <a:xfrm>
            <a:off x="6838950" y="2819400"/>
            <a:ext cx="47053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Word2Vec model shows slightly better performance (0.893 vs 0.898) on unseen data</a:t>
            </a:r>
            <a:endParaRPr lang="en-US" sz="1050" dirty="0"/>
          </a:p>
        </p:txBody>
      </p:sp>
      <p:sp>
        <p:nvSpPr>
          <p:cNvPr id="47" name="Text 20"/>
          <p:cNvSpPr/>
          <p:nvPr/>
        </p:nvSpPr>
        <p:spPr>
          <a:xfrm>
            <a:off x="7218045" y="5748338"/>
            <a:ext cx="35090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Confusion Matrix: Matrix Embedding – CNN Model</a:t>
            </a:r>
            <a:endParaRPr lang="en-US" sz="900" dirty="0"/>
          </a:p>
        </p:txBody>
      </p:sp>
      <p:sp>
        <p:nvSpPr>
          <p:cNvPr id="48" name="Text 21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9/13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419475"/>
            <a:ext cx="115824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3429000"/>
            <a:ext cx="114300" cy="114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429000"/>
            <a:ext cx="114300" cy="114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34290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342900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257300"/>
            <a:ext cx="7086600" cy="4991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1676400"/>
            <a:ext cx="5524500" cy="3810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4800" y="1257300"/>
            <a:ext cx="3657600" cy="3924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9100" y="171450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72450" y="1828800"/>
            <a:ext cx="1143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9100" y="243840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3400" y="25527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39100" y="3162300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34350" y="3276600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24800" y="5257800"/>
            <a:ext cx="3657600" cy="990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39100" y="569595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91700" y="569595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39100" y="5962650"/>
            <a:ext cx="1714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06175" y="6496050"/>
            <a:ext cx="76200" cy="76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58575" y="6496050"/>
            <a:ext cx="76200" cy="762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Efficiency vs Accuracy Trade-offs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723900" y="1371600"/>
            <a:ext cx="6858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FLOPs vs. Test Accuracy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8039100" y="1371600"/>
            <a:ext cx="342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29" name="Text 3"/>
          <p:cNvSpPr/>
          <p:nvPr/>
        </p:nvSpPr>
        <p:spPr>
          <a:xfrm>
            <a:off x="8534400" y="1714500"/>
            <a:ext cx="3520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Efficiency Leaders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8534400" y="1981200"/>
            <a:ext cx="2933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Classical models (BOW/TF-IDF + Logistic) offer excellent efficiency with ~90% accuracy</a:t>
            </a:r>
            <a:endParaRPr lang="en-US" sz="1050" dirty="0"/>
          </a:p>
        </p:txBody>
      </p:sp>
      <p:sp>
        <p:nvSpPr>
          <p:cNvPr id="31" name="Text 5"/>
          <p:cNvSpPr/>
          <p:nvPr/>
        </p:nvSpPr>
        <p:spPr>
          <a:xfrm>
            <a:off x="8534400" y="2438400"/>
            <a:ext cx="2933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BERT Outlier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8534400" y="2705100"/>
            <a:ext cx="2933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BERT has highest computational cost without achieving superior accuracy (0.887)</a:t>
            </a:r>
            <a:endParaRPr lang="en-US" sz="1050" dirty="0"/>
          </a:p>
        </p:txBody>
      </p:sp>
      <p:sp>
        <p:nvSpPr>
          <p:cNvPr id="33" name="Text 7"/>
          <p:cNvSpPr/>
          <p:nvPr/>
        </p:nvSpPr>
        <p:spPr>
          <a:xfrm>
            <a:off x="8534400" y="3162300"/>
            <a:ext cx="3520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Optimal Choice Depends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8534400" y="3429000"/>
            <a:ext cx="2933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selection should be guided by deployment constraints and requirements</a:t>
            </a:r>
            <a:endParaRPr lang="en-US" sz="1050" dirty="0"/>
          </a:p>
        </p:txBody>
      </p:sp>
      <p:sp>
        <p:nvSpPr>
          <p:cNvPr id="35" name="Text 9"/>
          <p:cNvSpPr/>
          <p:nvPr/>
        </p:nvSpPr>
        <p:spPr>
          <a:xfrm>
            <a:off x="8039100" y="5372100"/>
            <a:ext cx="4114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Efficiency Metrics</a:t>
            </a:r>
            <a:endParaRPr lang="en-US" sz="1500" dirty="0"/>
          </a:p>
        </p:txBody>
      </p:sp>
      <p:sp>
        <p:nvSpPr>
          <p:cNvPr id="36" name="Text 10"/>
          <p:cNvSpPr/>
          <p:nvPr/>
        </p:nvSpPr>
        <p:spPr>
          <a:xfrm>
            <a:off x="8267700" y="5676900"/>
            <a:ext cx="13830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FLOPs per Sample</a:t>
            </a:r>
            <a:endParaRPr lang="en-US" sz="1050" dirty="0"/>
          </a:p>
        </p:txBody>
      </p:sp>
      <p:sp>
        <p:nvSpPr>
          <p:cNvPr id="37" name="Text 11"/>
          <p:cNvSpPr/>
          <p:nvPr/>
        </p:nvSpPr>
        <p:spPr>
          <a:xfrm>
            <a:off x="10020300" y="5676900"/>
            <a:ext cx="12801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Time (s)</a:t>
            </a:r>
            <a:endParaRPr lang="en-US" sz="1050" dirty="0"/>
          </a:p>
        </p:txBody>
      </p:sp>
      <p:sp>
        <p:nvSpPr>
          <p:cNvPr id="38" name="Text 12"/>
          <p:cNvSpPr/>
          <p:nvPr/>
        </p:nvSpPr>
        <p:spPr>
          <a:xfrm>
            <a:off x="8286750" y="5943600"/>
            <a:ext cx="137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Inference Time (s)</a:t>
            </a:r>
            <a:endParaRPr lang="en-US" sz="1050" dirty="0"/>
          </a:p>
        </p:txBody>
      </p:sp>
      <p:sp>
        <p:nvSpPr>
          <p:cNvPr id="39" name="Text 13"/>
          <p:cNvSpPr/>
          <p:nvPr/>
        </p:nvSpPr>
        <p:spPr>
          <a:xfrm>
            <a:off x="11610975" y="6438900"/>
            <a:ext cx="4229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10/13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419475"/>
            <a:ext cx="115824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3429000"/>
            <a:ext cx="114300" cy="114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429000"/>
            <a:ext cx="114300" cy="114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34290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342900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409700"/>
            <a:ext cx="3505200" cy="407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1638300"/>
            <a:ext cx="472083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941" y="177165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4648200"/>
            <a:ext cx="304800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48196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50863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1409700"/>
            <a:ext cx="3505200" cy="407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0" y="1638300"/>
            <a:ext cx="488007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73054" y="1771650"/>
            <a:ext cx="28575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4648200"/>
            <a:ext cx="3048000" cy="609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481965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508635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200" y="1409700"/>
            <a:ext cx="3505200" cy="407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5800" y="1638300"/>
            <a:ext cx="506462" cy="571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16082" y="1771650"/>
            <a:ext cx="285750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5800" y="4648200"/>
            <a:ext cx="3048000" cy="609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5800" y="481965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5800" y="508635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5715000"/>
            <a:ext cx="10972800" cy="533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14613" y="5905500"/>
            <a:ext cx="1143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306175" y="6496050"/>
            <a:ext cx="76200" cy="762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58575" y="6496050"/>
            <a:ext cx="76200" cy="762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Findings &amp; Insights</a:t>
            </a:r>
            <a:endParaRPr lang="en-US" sz="2700" dirty="0"/>
          </a:p>
        </p:txBody>
      </p:sp>
      <p:sp>
        <p:nvSpPr>
          <p:cNvPr id="34" name="Text 1"/>
          <p:cNvSpPr/>
          <p:nvPr/>
        </p:nvSpPr>
        <p:spPr>
          <a:xfrm>
            <a:off x="1462683" y="1657350"/>
            <a:ext cx="242351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Classical Models as Baselines</a:t>
            </a:r>
            <a:endParaRPr lang="en-US" sz="1500" dirty="0"/>
          </a:p>
        </p:txBody>
      </p:sp>
      <p:sp>
        <p:nvSpPr>
          <p:cNvPr id="35" name="Text 2"/>
          <p:cNvSpPr/>
          <p:nvPr/>
        </p:nvSpPr>
        <p:spPr>
          <a:xfrm>
            <a:off x="838200" y="2362200"/>
            <a:ext cx="3048000" cy="2133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Logistic Regression and MLPs on Bag-of-Words/TF-IDF features achieve </a:t>
            </a:r>
            <a:r>
              <a:rPr lang="en-US" sz="1200" b="1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~90-91% accuracy </a:t>
            </a: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significantly lower computational costs.</a:t>
            </a:r>
            <a:endParaRPr lang="en-US" sz="1200" dirty="0"/>
          </a:p>
        </p:txBody>
      </p:sp>
      <p:sp>
        <p:nvSpPr>
          <p:cNvPr id="36" name="Text 3"/>
          <p:cNvSpPr/>
          <p:nvPr/>
        </p:nvSpPr>
        <p:spPr>
          <a:xfrm>
            <a:off x="1066800" y="4800600"/>
            <a:ext cx="23888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 training and inference</a:t>
            </a:r>
            <a:endParaRPr lang="en-US" sz="1050" dirty="0"/>
          </a:p>
        </p:txBody>
      </p:sp>
      <p:sp>
        <p:nvSpPr>
          <p:cNvPr id="37" name="Text 4"/>
          <p:cNvSpPr/>
          <p:nvPr/>
        </p:nvSpPr>
        <p:spPr>
          <a:xfrm>
            <a:off x="1066800" y="5067300"/>
            <a:ext cx="30289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performance on structured data</a:t>
            </a:r>
            <a:endParaRPr lang="en-US" sz="1050" dirty="0"/>
          </a:p>
        </p:txBody>
      </p:sp>
      <p:sp>
        <p:nvSpPr>
          <p:cNvPr id="38" name="Text 5"/>
          <p:cNvSpPr/>
          <p:nvPr/>
        </p:nvSpPr>
        <p:spPr>
          <a:xfrm>
            <a:off x="5212407" y="1657350"/>
            <a:ext cx="2407593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Accuracy-Cost Balance</a:t>
            </a:r>
            <a:endParaRPr lang="en-US" sz="1500" dirty="0"/>
          </a:p>
        </p:txBody>
      </p:sp>
      <p:sp>
        <p:nvSpPr>
          <p:cNvPr id="39" name="Text 6"/>
          <p:cNvSpPr/>
          <p:nvPr/>
        </p:nvSpPr>
        <p:spPr>
          <a:xfrm>
            <a:off x="4572000" y="2362200"/>
            <a:ext cx="3048000" cy="2133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Matrix Embedding + CNN achieved </a:t>
            </a:r>
            <a:r>
              <a:rPr lang="en-US" sz="1200" b="1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0.914 test accuracy </a:t>
            </a: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while maintaining reasonable balance between accuracy, FLOPs, and training time.</a:t>
            </a:r>
            <a:endParaRPr lang="en-US" sz="1200" dirty="0"/>
          </a:p>
        </p:txBody>
      </p:sp>
      <p:sp>
        <p:nvSpPr>
          <p:cNvPr id="40" name="Text 7"/>
          <p:cNvSpPr/>
          <p:nvPr/>
        </p:nvSpPr>
        <p:spPr>
          <a:xfrm>
            <a:off x="4800600" y="4800600"/>
            <a:ext cx="25946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Suitable for real-time deployment</a:t>
            </a:r>
            <a:endParaRPr lang="en-US" sz="1050" dirty="0"/>
          </a:p>
        </p:txBody>
      </p:sp>
      <p:sp>
        <p:nvSpPr>
          <p:cNvPr id="41" name="Text 8"/>
          <p:cNvSpPr/>
          <p:nvPr/>
        </p:nvSpPr>
        <p:spPr>
          <a:xfrm>
            <a:off x="4800600" y="5067300"/>
            <a:ext cx="25717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Effective semantic understanding</a:t>
            </a:r>
            <a:endParaRPr lang="en-US" sz="1050" dirty="0"/>
          </a:p>
        </p:txBody>
      </p:sp>
      <p:sp>
        <p:nvSpPr>
          <p:cNvPr id="42" name="Text 9"/>
          <p:cNvSpPr/>
          <p:nvPr/>
        </p:nvSpPr>
        <p:spPr>
          <a:xfrm>
            <a:off x="8964662" y="1657350"/>
            <a:ext cx="2389138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Selection Trade-offs</a:t>
            </a:r>
            <a:endParaRPr lang="en-US" sz="1500" dirty="0"/>
          </a:p>
        </p:txBody>
      </p:sp>
      <p:sp>
        <p:nvSpPr>
          <p:cNvPr id="43" name="Text 10"/>
          <p:cNvSpPr/>
          <p:nvPr/>
        </p:nvSpPr>
        <p:spPr>
          <a:xfrm>
            <a:off x="8305800" y="2362200"/>
            <a:ext cx="3048000" cy="2133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Optimal model choice dictated by interplay between accuracy, computational efficiency, and deployment constraints.</a:t>
            </a:r>
            <a:endParaRPr lang="en-US" sz="1200" dirty="0"/>
          </a:p>
        </p:txBody>
      </p:sp>
      <p:sp>
        <p:nvSpPr>
          <p:cNvPr id="44" name="Text 11"/>
          <p:cNvSpPr/>
          <p:nvPr/>
        </p:nvSpPr>
        <p:spPr>
          <a:xfrm>
            <a:off x="8534400" y="4800600"/>
            <a:ext cx="18745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universal best model</a:t>
            </a:r>
            <a:endParaRPr lang="en-US" sz="1050" dirty="0"/>
          </a:p>
        </p:txBody>
      </p:sp>
      <p:sp>
        <p:nvSpPr>
          <p:cNvPr id="45" name="Text 12"/>
          <p:cNvSpPr/>
          <p:nvPr/>
        </p:nvSpPr>
        <p:spPr>
          <a:xfrm>
            <a:off x="8534400" y="5067300"/>
            <a:ext cx="2514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Problem-specific optimal choices</a:t>
            </a:r>
            <a:endParaRPr lang="en-US" sz="1050" dirty="0"/>
          </a:p>
        </p:txBody>
      </p:sp>
      <p:sp>
        <p:nvSpPr>
          <p:cNvPr id="46" name="Text 13"/>
          <p:cNvSpPr/>
          <p:nvPr/>
        </p:nvSpPr>
        <p:spPr>
          <a:xfrm>
            <a:off x="-304800" y="5867400"/>
            <a:ext cx="1280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Model selection requires balancing accuracy, efficiency, and specific application requirements</a:t>
            </a:r>
            <a:endParaRPr lang="en-US" sz="1200" dirty="0"/>
          </a:p>
        </p:txBody>
      </p:sp>
      <p:sp>
        <p:nvSpPr>
          <p:cNvPr id="47" name="Text 14"/>
          <p:cNvSpPr/>
          <p:nvPr/>
        </p:nvSpPr>
        <p:spPr>
          <a:xfrm>
            <a:off x="11610975" y="6438900"/>
            <a:ext cx="4229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11/13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419475"/>
            <a:ext cx="115824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3429000"/>
            <a:ext cx="114300" cy="114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429000"/>
            <a:ext cx="114300" cy="114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34290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342900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409700"/>
            <a:ext cx="5334000" cy="4838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16383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025" y="1724025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2305050"/>
            <a:ext cx="8572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3371850"/>
            <a:ext cx="8572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1409700"/>
            <a:ext cx="5334000" cy="4838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638300"/>
            <a:ext cx="476250" cy="4762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00825" y="1724025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2266950"/>
            <a:ext cx="4876800" cy="800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23241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3219450"/>
            <a:ext cx="4876800" cy="800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29400" y="32766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171950"/>
            <a:ext cx="4876800" cy="800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29400" y="4229100"/>
            <a:ext cx="17145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06175" y="6496050"/>
            <a:ext cx="76200" cy="76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58575" y="6496050"/>
            <a:ext cx="76200" cy="762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Limitations &amp; Future Work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1466850" y="1724025"/>
            <a:ext cx="16230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1038225" y="2266950"/>
            <a:ext cx="56121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Constrained Training Budget</a:t>
            </a:r>
            <a:endParaRPr lang="en-US" sz="1500" dirty="0"/>
          </a:p>
        </p:txBody>
      </p:sp>
      <p:sp>
        <p:nvSpPr>
          <p:cNvPr id="30" name="Text 3"/>
          <p:cNvSpPr/>
          <p:nvPr/>
        </p:nvSpPr>
        <p:spPr>
          <a:xfrm>
            <a:off x="1038225" y="2609850"/>
            <a:ext cx="4676775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BERT Transformer model underperformed relative to its known capabilities due to limited training resources.</a:t>
            </a:r>
            <a:endParaRPr lang="en-US" sz="1200" dirty="0"/>
          </a:p>
        </p:txBody>
      </p:sp>
      <p:sp>
        <p:nvSpPr>
          <p:cNvPr id="31" name="Text 4"/>
          <p:cNvSpPr/>
          <p:nvPr/>
        </p:nvSpPr>
        <p:spPr>
          <a:xfrm>
            <a:off x="1038225" y="3333750"/>
            <a:ext cx="56121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Computational Constraints</a:t>
            </a:r>
            <a:endParaRPr lang="en-US" sz="1500" dirty="0"/>
          </a:p>
        </p:txBody>
      </p:sp>
      <p:sp>
        <p:nvSpPr>
          <p:cNvPr id="32" name="Text 5"/>
          <p:cNvSpPr/>
          <p:nvPr/>
        </p:nvSpPr>
        <p:spPr>
          <a:xfrm>
            <a:off x="1038225" y="3676650"/>
            <a:ext cx="4676775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Resource limitations prevented exploration of larger model architectures and longer training schedules.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7105650" y="1724025"/>
            <a:ext cx="18059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34" name="Text 7"/>
          <p:cNvSpPr/>
          <p:nvPr/>
        </p:nvSpPr>
        <p:spPr>
          <a:xfrm>
            <a:off x="6896100" y="2266950"/>
            <a:ext cx="38061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Extended Fine-Tuning Schedules</a:t>
            </a:r>
            <a:endParaRPr lang="en-US" sz="1500" dirty="0"/>
          </a:p>
        </p:txBody>
      </p:sp>
      <p:sp>
        <p:nvSpPr>
          <p:cNvPr id="35" name="Text 8"/>
          <p:cNvSpPr/>
          <p:nvPr/>
        </p:nvSpPr>
        <p:spPr>
          <a:xfrm>
            <a:off x="6934200" y="260985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Extend BERT training epochs from 3–5 to 10–20 to significantly improve accuracy.</a:t>
            </a:r>
            <a:endParaRPr lang="en-US" sz="1200" dirty="0"/>
          </a:p>
        </p:txBody>
      </p:sp>
      <p:sp>
        <p:nvSpPr>
          <p:cNvPr id="36" name="Text 9"/>
          <p:cNvSpPr/>
          <p:nvPr/>
        </p:nvSpPr>
        <p:spPr>
          <a:xfrm>
            <a:off x="6896100" y="3219450"/>
            <a:ext cx="38747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Lightweight Transformer Variants</a:t>
            </a:r>
            <a:endParaRPr lang="en-US" sz="1500" dirty="0"/>
          </a:p>
        </p:txBody>
      </p:sp>
      <p:sp>
        <p:nvSpPr>
          <p:cNvPr id="37" name="Text 10"/>
          <p:cNvSpPr/>
          <p:nvPr/>
        </p:nvSpPr>
        <p:spPr>
          <a:xfrm>
            <a:off x="6934200" y="356235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Investigate MobileBERT, TinyBERT, or DistilBERT for resource-constrained environments.</a:t>
            </a:r>
            <a:endParaRPr lang="en-US" sz="1200" dirty="0"/>
          </a:p>
        </p:txBody>
      </p:sp>
      <p:sp>
        <p:nvSpPr>
          <p:cNvPr id="38" name="Text 11"/>
          <p:cNvSpPr/>
          <p:nvPr/>
        </p:nvSpPr>
        <p:spPr>
          <a:xfrm>
            <a:off x="6915150" y="4171950"/>
            <a:ext cx="23088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Larger Label Spaces</a:t>
            </a:r>
            <a:endParaRPr lang="en-US" sz="1500" dirty="0"/>
          </a:p>
        </p:txBody>
      </p:sp>
      <p:sp>
        <p:nvSpPr>
          <p:cNvPr id="39" name="Text 12"/>
          <p:cNvSpPr/>
          <p:nvPr/>
        </p:nvSpPr>
        <p:spPr>
          <a:xfrm>
            <a:off x="6934200" y="451485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 transformers on tasks with hundreds or thousands of output classes to highlight advantages.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11610975" y="6438900"/>
            <a:ext cx="4229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12/13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419475"/>
            <a:ext cx="11582400" cy="190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3429000"/>
            <a:ext cx="114300" cy="114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429000"/>
            <a:ext cx="114300" cy="114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34290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342900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3600" y="3188940"/>
            <a:ext cx="3657600" cy="2133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2200" y="3512790"/>
            <a:ext cx="458391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7570" y="3627090"/>
            <a:ext cx="2476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62200" y="440814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62200" y="4827240"/>
            <a:ext cx="17145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3284190"/>
            <a:ext cx="3657600" cy="1943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9400" y="3512790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77038" y="3627090"/>
            <a:ext cx="276225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29400" y="4312890"/>
            <a:ext cx="238125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29400" y="4731990"/>
            <a:ext cx="142875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53775" y="6496050"/>
            <a:ext cx="76200" cy="76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306175" y="6496050"/>
            <a:ext cx="76200" cy="76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58575" y="6496050"/>
            <a:ext cx="76200" cy="762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838700" y="1535460"/>
            <a:ext cx="301752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5" name="Text 1"/>
          <p:cNvSpPr/>
          <p:nvPr/>
        </p:nvSpPr>
        <p:spPr>
          <a:xfrm>
            <a:off x="5248275" y="2388840"/>
            <a:ext cx="20345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</a:t>
            </a:r>
            <a:endParaRPr lang="en-US" sz="2250" dirty="0"/>
          </a:p>
        </p:txBody>
      </p:sp>
      <p:sp>
        <p:nvSpPr>
          <p:cNvPr id="26" name="Text 2"/>
          <p:cNvSpPr/>
          <p:nvPr/>
        </p:nvSpPr>
        <p:spPr>
          <a:xfrm>
            <a:off x="2972991" y="3417540"/>
            <a:ext cx="258960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Mohammad</a:t>
            </a:r>
            <a:endParaRPr lang="en-US" sz="1800" dirty="0"/>
          </a:p>
        </p:txBody>
      </p:sp>
      <p:sp>
        <p:nvSpPr>
          <p:cNvPr id="27" name="Text 3"/>
          <p:cNvSpPr/>
          <p:nvPr/>
        </p:nvSpPr>
        <p:spPr>
          <a:xfrm>
            <a:off x="2972991" y="3722340"/>
            <a:ext cx="258960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Master's of Engineering, University of Ottawa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2705100" y="4427190"/>
            <a:ext cx="19773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fmoha077@uottawa.ca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2686050" y="4846290"/>
            <a:ext cx="1554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December 1, 2025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7353300" y="3531840"/>
            <a:ext cx="26631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Repository</a:t>
            </a:r>
            <a:endParaRPr lang="en-US" sz="1800" dirty="0"/>
          </a:p>
        </p:txBody>
      </p:sp>
      <p:sp>
        <p:nvSpPr>
          <p:cNvPr id="31" name="Text 7"/>
          <p:cNvSpPr/>
          <p:nvPr/>
        </p:nvSpPr>
        <p:spPr>
          <a:xfrm>
            <a:off x="7353300" y="3836640"/>
            <a:ext cx="22193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7019925" y="4331940"/>
            <a:ext cx="48691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https://github.com/mohammad1774/applied_ml_project</a:t>
            </a:r>
            <a:endParaRPr lang="en-US" sz="1200" dirty="0"/>
          </a:p>
        </p:txBody>
      </p:sp>
      <p:sp>
        <p:nvSpPr>
          <p:cNvPr id="33" name="Text 9"/>
          <p:cNvSpPr/>
          <p:nvPr/>
        </p:nvSpPr>
        <p:spPr>
          <a:xfrm>
            <a:off x="6924675" y="4751040"/>
            <a:ext cx="30518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Feedback and discussions welcome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11610975" y="6438900"/>
            <a:ext cx="4229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13/13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1050</Words>
  <Application>Microsoft Office PowerPoint</Application>
  <PresentationFormat>Widescreen</PresentationFormat>
  <Paragraphs>215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Mohammad .</cp:lastModifiedBy>
  <cp:revision>2</cp:revision>
  <dcterms:created xsi:type="dcterms:W3CDTF">2025-12-01T00:41:44Z</dcterms:created>
  <dcterms:modified xsi:type="dcterms:W3CDTF">2025-12-01T01:19:19Z</dcterms:modified>
</cp:coreProperties>
</file>