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27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26.png"/><Relationship Id="rId23" Type="http://schemas.openxmlformats.org/officeDocument/2006/relationships/image" Target="../media/image33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1.png"/><Relationship Id="rId21" Type="http://schemas.openxmlformats.org/officeDocument/2006/relationships/image" Target="../media/image48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24.png"/><Relationship Id="rId14" Type="http://schemas.openxmlformats.org/officeDocument/2006/relationships/image" Target="../media/image41.png"/><Relationship Id="rId22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" Type="http://schemas.openxmlformats.org/officeDocument/2006/relationships/image" Target="../media/image1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3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2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26" Type="http://schemas.openxmlformats.org/officeDocument/2006/relationships/image" Target="../media/image16.png"/><Relationship Id="rId3" Type="http://schemas.openxmlformats.org/officeDocument/2006/relationships/image" Target="../media/image71.png"/><Relationship Id="rId21" Type="http://schemas.openxmlformats.org/officeDocument/2006/relationships/image" Target="../media/image88.png"/><Relationship Id="rId7" Type="http://schemas.openxmlformats.org/officeDocument/2006/relationships/image" Target="../media/image75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openxmlformats.org/officeDocument/2006/relationships/image" Target="../media/image78.png"/><Relationship Id="rId24" Type="http://schemas.openxmlformats.org/officeDocument/2006/relationships/image" Target="../media/image91.png"/><Relationship Id="rId5" Type="http://schemas.openxmlformats.org/officeDocument/2006/relationships/image" Target="../media/image73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2.png"/><Relationship Id="rId9" Type="http://schemas.openxmlformats.org/officeDocument/2006/relationships/image" Target="../media/image62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94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7.png"/><Relationship Id="rId5" Type="http://schemas.openxmlformats.org/officeDocument/2006/relationships/image" Target="../media/image3.png"/><Relationship Id="rId15" Type="http://schemas.openxmlformats.org/officeDocument/2006/relationships/image" Target="../media/image101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96.png"/><Relationship Id="rId1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1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3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2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.png"/><Relationship Id="rId7" Type="http://schemas.openxmlformats.org/officeDocument/2006/relationships/image" Target="../media/image105.png"/><Relationship Id="rId12" Type="http://schemas.openxmlformats.org/officeDocument/2006/relationships/image" Target="../media/image117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6.png"/><Relationship Id="rId5" Type="http://schemas.openxmlformats.org/officeDocument/2006/relationships/image" Target="../media/image3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2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9.png"/><Relationship Id="rId18" Type="http://schemas.openxmlformats.org/officeDocument/2006/relationships/image" Target="../media/image132.png"/><Relationship Id="rId3" Type="http://schemas.openxmlformats.org/officeDocument/2006/relationships/image" Target="../media/image1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3.png"/><Relationship Id="rId15" Type="http://schemas.openxmlformats.org/officeDocument/2006/relationships/image" Target="../media/image130.png"/><Relationship Id="rId10" Type="http://schemas.openxmlformats.org/officeDocument/2006/relationships/image" Target="../media/image126.png"/><Relationship Id="rId4" Type="http://schemas.openxmlformats.org/officeDocument/2006/relationships/image" Target="../media/image2.png"/><Relationship Id="rId9" Type="http://schemas.openxmlformats.org/officeDocument/2006/relationships/image" Target="../media/image125.png"/><Relationship Id="rId14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39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34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2.png"/><Relationship Id="rId5" Type="http://schemas.openxmlformats.org/officeDocument/2006/relationships/image" Target="../media/image2.png"/><Relationship Id="rId15" Type="http://schemas.openxmlformats.org/officeDocument/2006/relationships/image" Target="../media/image141.png"/><Relationship Id="rId10" Type="http://schemas.openxmlformats.org/officeDocument/2006/relationships/image" Target="../media/image137.png"/><Relationship Id="rId4" Type="http://schemas.openxmlformats.org/officeDocument/2006/relationships/image" Target="../media/image133.png"/><Relationship Id="rId9" Type="http://schemas.openxmlformats.org/officeDocument/2006/relationships/image" Target="../media/image136.png"/><Relationship Id="rId1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82.png"/><Relationship Id="rId3" Type="http://schemas.openxmlformats.org/officeDocument/2006/relationships/image" Target="../media/image1.png"/><Relationship Id="rId7" Type="http://schemas.openxmlformats.org/officeDocument/2006/relationships/image" Target="../media/image144.png"/><Relationship Id="rId12" Type="http://schemas.openxmlformats.org/officeDocument/2006/relationships/image" Target="../media/image14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47.png"/><Relationship Id="rId5" Type="http://schemas.openxmlformats.org/officeDocument/2006/relationships/image" Target="../media/image3.png"/><Relationship Id="rId15" Type="http://schemas.openxmlformats.org/officeDocument/2006/relationships/image" Target="../media/image56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46.png"/><Relationship Id="rId14" Type="http://schemas.openxmlformats.org/officeDocument/2006/relationships/image" Target="../media/image1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17" Type="http://schemas.openxmlformats.org/officeDocument/2006/relationships/image" Target="../media/image15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53.png"/><Relationship Id="rId5" Type="http://schemas.openxmlformats.org/officeDocument/2006/relationships/image" Target="../media/image2.png"/><Relationship Id="rId15" Type="http://schemas.openxmlformats.org/officeDocument/2006/relationships/image" Target="../media/image157.png"/><Relationship Id="rId10" Type="http://schemas.openxmlformats.org/officeDocument/2006/relationships/image" Target="../media/image152.png"/><Relationship Id="rId4" Type="http://schemas.openxmlformats.org/officeDocument/2006/relationships/image" Target="../media/image133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438" y="438150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4963" y="51054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7450" y="6438900"/>
            <a:ext cx="114300" cy="1143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706880" y="1581150"/>
            <a:ext cx="87782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1706880" y="2190750"/>
            <a:ext cx="877824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A8D8B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First Principles to Transformers</a:t>
            </a:r>
            <a:endParaRPr lang="en-US" sz="2700" dirty="0"/>
          </a:p>
        </p:txBody>
      </p:sp>
      <p:sp>
        <p:nvSpPr>
          <p:cNvPr id="10" name="Text 2"/>
          <p:cNvSpPr/>
          <p:nvPr/>
        </p:nvSpPr>
        <p:spPr>
          <a:xfrm>
            <a:off x="2438400" y="2876550"/>
            <a:ext cx="7315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engineering-driven evaluation of NLP systems comparing classical ML approaches to modern Transformer architectures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5672138" y="4324350"/>
            <a:ext cx="13373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Mohammad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4291013" y="4667250"/>
            <a:ext cx="43319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Master's of Engineering, University of Ottawa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5624513" y="5086350"/>
            <a:ext cx="1383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1,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1552575"/>
            <a:ext cx="5334000" cy="483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1781175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" y="18669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436144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3740944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4045744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3650" y="1552575"/>
            <a:ext cx="5334000" cy="483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1781175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96075" y="18669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3119438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3424238"/>
            <a:ext cx="762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48450" y="3729038"/>
            <a:ext cx="762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 &amp; Problem Statement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562100" y="1866900"/>
            <a:ext cx="1760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933450" y="2409825"/>
            <a:ext cx="48768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Conduct a comprehensive, engineering-driven evaluation of NLP systems, comparing methodologies from classical ML to modern Transformer architectures.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276350" y="3398044"/>
            <a:ext cx="48806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trade-offs between performance and efficiency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314450" y="3702844"/>
            <a:ext cx="4114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Systematic comparison of diverse architectures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276350" y="4007644"/>
            <a:ext cx="4297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 under real-world engineering constraints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7200900" y="1866900"/>
            <a:ext cx="282321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26" name="Text 7"/>
          <p:cNvSpPr/>
          <p:nvPr/>
        </p:nvSpPr>
        <p:spPr>
          <a:xfrm>
            <a:off x="6572250" y="2409825"/>
            <a:ext cx="4876800" cy="5572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Despite widespread adoption of models like BERT and GPT, there's a significant gap in understanding: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6838950" y="3081338"/>
            <a:ext cx="32804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Underlying mechanics of NLP systems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838950" y="3386138"/>
            <a:ext cx="4926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Comparison between classical and modern architectures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838950" y="3690937"/>
            <a:ext cx="51549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Engineer challenges in optimizing for constrained hardware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6572250" y="4071938"/>
            <a:ext cx="4876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"Addresses this with end-to-end empirical analysis of NLP architectures"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2/13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409700"/>
            <a:ext cx="5334000" cy="491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057400"/>
            <a:ext cx="4953000" cy="838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20574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075" y="21145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3009900"/>
            <a:ext cx="4953000" cy="876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5825" y="30099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600" y="3067050"/>
            <a:ext cx="17145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3025" y="34671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43025" y="36957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4000500"/>
            <a:ext cx="49530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825" y="40005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263" y="4057650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25" y="4762500"/>
            <a:ext cx="4953000" cy="647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825" y="476250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4887" y="4819650"/>
            <a:ext cx="1428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1409700"/>
            <a:ext cx="5334000" cy="4914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48425" y="1981200"/>
            <a:ext cx="4876800" cy="1828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0325" y="5600700"/>
            <a:ext cx="495300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900" y="5800725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Overview - AG News Corpus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771525" y="1600200"/>
            <a:ext cx="5943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Dataset Characteristics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1381125" y="2114550"/>
            <a:ext cx="5372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1343025" y="24765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4-class topic classification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1343025" y="2705100"/>
            <a:ext cx="5257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World, Sports, Business, Sci/Tech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1381125" y="3067050"/>
            <a:ext cx="491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Size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1571625" y="34290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120,000 training samples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1571625" y="3657600"/>
            <a:ext cx="438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7,600 test samples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1381125" y="4057650"/>
            <a:ext cx="960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Balance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1343025" y="44196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Equal number of documents per class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1381125" y="4819650"/>
            <a:ext cx="2228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Length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1343025" y="5181600"/>
            <a:ext cx="5257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of 37.85 words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6410325" y="1600200"/>
            <a:ext cx="4953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Distribution</a:t>
            </a:r>
            <a:endParaRPr lang="en-US" sz="1800" dirty="0"/>
          </a:p>
        </p:txBody>
      </p:sp>
      <p:sp>
        <p:nvSpPr>
          <p:cNvPr id="39" name="Text 13"/>
          <p:cNvSpPr/>
          <p:nvPr/>
        </p:nvSpPr>
        <p:spPr>
          <a:xfrm>
            <a:off x="923925" y="5705475"/>
            <a:ext cx="4800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AG News dataset contains 4 classes: World, Sports, Business, and Science/Technology.</a:t>
            </a:r>
            <a:endParaRPr lang="en-US" sz="1050" dirty="0"/>
          </a:p>
        </p:txBody>
      </p:sp>
      <p:sp>
        <p:nvSpPr>
          <p:cNvPr id="40" name="Text 14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3/13</a:t>
            </a:r>
            <a:endParaRPr lang="en-US" sz="1050" dirty="0"/>
          </a:p>
        </p:txBody>
      </p:sp>
      <p:pic>
        <p:nvPicPr>
          <p:cNvPr id="42" name="Picture 41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3901362C-5143-D85E-61AF-19778C7D35D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48425" y="4191000"/>
            <a:ext cx="4876800" cy="1957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" y="1209675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" y="1628775"/>
            <a:ext cx="3606850" cy="1485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1819275"/>
            <a:ext cx="1714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16217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4669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7717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50" y="3267075"/>
            <a:ext cx="360685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" y="3457575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38004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41052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44100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3600" y="1209675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3600" y="1628775"/>
            <a:ext cx="3606850" cy="1143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6000" y="1819275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2162175"/>
            <a:ext cx="762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2428875"/>
            <a:ext cx="762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3600" y="2924175"/>
            <a:ext cx="3606850" cy="1143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6000" y="3114675"/>
            <a:ext cx="17145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3457575"/>
            <a:ext cx="762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3724275"/>
            <a:ext cx="762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73600" y="4219575"/>
            <a:ext cx="3606850" cy="1371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26000" y="4410075"/>
            <a:ext cx="19050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4752975"/>
            <a:ext cx="762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2200" y="5019675"/>
            <a:ext cx="762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9049" y="1209675"/>
            <a:ext cx="257175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09049" y="1628775"/>
            <a:ext cx="3606850" cy="4762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04299" y="1743075"/>
            <a:ext cx="3378250" cy="271016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Machine Learning Approaches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752475" y="1171575"/>
            <a:ext cx="4328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Extraction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838200" y="1781175"/>
            <a:ext cx="3962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Bag-of-Words (BoW)</a:t>
            </a:r>
            <a:endParaRPr lang="en-US" sz="1500" dirty="0"/>
          </a:p>
        </p:txBody>
      </p:sp>
      <p:sp>
        <p:nvSpPr>
          <p:cNvPr id="37" name="Text 3"/>
          <p:cNvSpPr/>
          <p:nvPr/>
        </p:nvSpPr>
        <p:spPr>
          <a:xfrm>
            <a:off x="895350" y="2124075"/>
            <a:ext cx="3086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CountVectorizer for 5,000 unigrams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895350" y="2428875"/>
            <a:ext cx="3051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Foundation of information retrieval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895350" y="2733675"/>
            <a:ext cx="25374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Sparse vector representation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857250" y="3419475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</a:t>
            </a:r>
            <a:endParaRPr lang="en-US" sz="1500" dirty="0"/>
          </a:p>
        </p:txBody>
      </p:sp>
      <p:sp>
        <p:nvSpPr>
          <p:cNvPr id="41" name="Text 7"/>
          <p:cNvSpPr/>
          <p:nvPr/>
        </p:nvSpPr>
        <p:spPr>
          <a:xfrm>
            <a:off x="895350" y="3762375"/>
            <a:ext cx="2754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TF-IDF vectorizer with 1-2 grams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895350" y="4067175"/>
            <a:ext cx="16230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 5,000 features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895350" y="4371975"/>
            <a:ext cx="24460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Weighted document vectors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4616500" y="1171575"/>
            <a:ext cx="4328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Models</a:t>
            </a:r>
            <a:endParaRPr lang="en-US" sz="1800" dirty="0"/>
          </a:p>
        </p:txBody>
      </p:sp>
      <p:sp>
        <p:nvSpPr>
          <p:cNvPr id="45" name="Text 11"/>
          <p:cNvSpPr/>
          <p:nvPr/>
        </p:nvSpPr>
        <p:spPr>
          <a:xfrm>
            <a:off x="4692700" y="1781175"/>
            <a:ext cx="3962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46" name="Text 12"/>
          <p:cNvSpPr/>
          <p:nvPr/>
        </p:nvSpPr>
        <p:spPr>
          <a:xfrm>
            <a:off x="4654600" y="2124075"/>
            <a:ext cx="13373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Linear classifier</a:t>
            </a:r>
            <a:endParaRPr lang="en-US" sz="1200" dirty="0"/>
          </a:p>
        </p:txBody>
      </p:sp>
      <p:sp>
        <p:nvSpPr>
          <p:cNvPr id="47" name="Text 13"/>
          <p:cNvSpPr/>
          <p:nvPr/>
        </p:nvSpPr>
        <p:spPr>
          <a:xfrm>
            <a:off x="4654600" y="2390775"/>
            <a:ext cx="29832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on linearly separable data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4673650" y="3076575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49" name="Text 15"/>
          <p:cNvSpPr/>
          <p:nvPr/>
        </p:nvSpPr>
        <p:spPr>
          <a:xfrm>
            <a:off x="4654600" y="3419475"/>
            <a:ext cx="23202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Ensemble of decision trees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4654600" y="3686175"/>
            <a:ext cx="2903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non-linear relationships</a:t>
            </a:r>
            <a:endParaRPr lang="en-US" sz="1200" dirty="0"/>
          </a:p>
        </p:txBody>
      </p:sp>
      <p:sp>
        <p:nvSpPr>
          <p:cNvPr id="51" name="Text 17"/>
          <p:cNvSpPr/>
          <p:nvPr/>
        </p:nvSpPr>
        <p:spPr>
          <a:xfrm>
            <a:off x="4692700" y="4371975"/>
            <a:ext cx="33020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500" dirty="0"/>
          </a:p>
        </p:txBody>
      </p:sp>
      <p:sp>
        <p:nvSpPr>
          <p:cNvPr id="52" name="Text 18"/>
          <p:cNvSpPr/>
          <p:nvPr/>
        </p:nvSpPr>
        <p:spPr>
          <a:xfrm>
            <a:off x="4654600" y="4714875"/>
            <a:ext cx="28003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Gradient-boosted decision trees</a:t>
            </a:r>
            <a:endParaRPr lang="en-US" sz="1200" dirty="0"/>
          </a:p>
        </p:txBody>
      </p:sp>
      <p:sp>
        <p:nvSpPr>
          <p:cNvPr id="53" name="Text 19"/>
          <p:cNvSpPr/>
          <p:nvPr/>
        </p:nvSpPr>
        <p:spPr>
          <a:xfrm>
            <a:off x="4654600" y="4981575"/>
            <a:ext cx="3073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performance over Random Forests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8480524" y="1171575"/>
            <a:ext cx="3606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</a:t>
            </a:r>
            <a:endParaRPr lang="en-US" sz="1800" dirty="0"/>
          </a:p>
        </p:txBody>
      </p:sp>
      <p:sp>
        <p:nvSpPr>
          <p:cNvPr id="55" name="Text 21"/>
          <p:cNvSpPr/>
          <p:nvPr/>
        </p:nvSpPr>
        <p:spPr>
          <a:xfrm>
            <a:off x="8223349" y="5231755"/>
            <a:ext cx="3378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Figure: TF-IDF Vectorizer Workflow for Classical Models</a:t>
            </a:r>
            <a:endParaRPr lang="en-US" sz="1050" dirty="0"/>
          </a:p>
        </p:txBody>
      </p:sp>
      <p:sp>
        <p:nvSpPr>
          <p:cNvPr id="56" name="Text 22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4/13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C7E5A7F-F91E-6352-5192-5706012DC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23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B09B0E7-1575-4646-8A3B-45B00A8CE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5" name="Image 28" descr="preencoded.png">
            <a:extLst>
              <a:ext uri="{FF2B5EF4-FFF2-40B4-BE49-F238E27FC236}">
                <a16:creationId xmlns:a16="http://schemas.microsoft.com/office/drawing/2014/main" id="{1DA2D8FB-0DDE-F966-29AD-7620BF168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99" y="1435745"/>
            <a:ext cx="3606850" cy="4762500"/>
          </a:xfrm>
          <a:prstGeom prst="rect">
            <a:avLst/>
          </a:prstGeom>
        </p:spPr>
      </p:pic>
      <p:pic>
        <p:nvPicPr>
          <p:cNvPr id="6" name="Image 29" descr="preencoded.png">
            <a:extLst>
              <a:ext uri="{FF2B5EF4-FFF2-40B4-BE49-F238E27FC236}">
                <a16:creationId xmlns:a16="http://schemas.microsoft.com/office/drawing/2014/main" id="{49AA14AE-F949-2EBF-FDB5-FCF495491A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349" y="1773585"/>
            <a:ext cx="3378250" cy="2710160"/>
          </a:xfrm>
          <a:prstGeom prst="rect">
            <a:avLst/>
          </a:prstGeom>
        </p:spPr>
      </p:pic>
      <p:sp>
        <p:nvSpPr>
          <p:cNvPr id="8" name="Text 21">
            <a:extLst>
              <a:ext uri="{FF2B5EF4-FFF2-40B4-BE49-F238E27FC236}">
                <a16:creationId xmlns:a16="http://schemas.microsoft.com/office/drawing/2014/main" id="{26800264-8294-1B9B-367E-594610A110AE}"/>
              </a:ext>
            </a:extLst>
          </p:cNvPr>
          <p:cNvSpPr/>
          <p:nvPr/>
        </p:nvSpPr>
        <p:spPr>
          <a:xfrm>
            <a:off x="6791399" y="5038725"/>
            <a:ext cx="3378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Figure: TF-IDF Vectorizer Workflow for different Models</a:t>
            </a:r>
            <a:endParaRPr lang="en-US" sz="10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287A80DF-4AEB-0A2F-75AE-6AF6B5798C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7698" y="4465"/>
            <a:ext cx="4063901" cy="2286000"/>
          </a:xfrm>
          <a:prstGeom prst="rect">
            <a:avLst/>
          </a:prstGeom>
        </p:spPr>
      </p:pic>
      <p:pic>
        <p:nvPicPr>
          <p:cNvPr id="10" name="Image 28" descr="preencoded.png">
            <a:extLst>
              <a:ext uri="{FF2B5EF4-FFF2-40B4-BE49-F238E27FC236}">
                <a16:creationId xmlns:a16="http://schemas.microsoft.com/office/drawing/2014/main" id="{73EDF302-3A08-C7AC-15CD-612431051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051" y="1435745"/>
            <a:ext cx="3606850" cy="4762500"/>
          </a:xfrm>
          <a:prstGeom prst="rect">
            <a:avLst/>
          </a:prstGeom>
        </p:spPr>
      </p:pic>
      <p:sp>
        <p:nvSpPr>
          <p:cNvPr id="11" name="Text 21">
            <a:extLst>
              <a:ext uri="{FF2B5EF4-FFF2-40B4-BE49-F238E27FC236}">
                <a16:creationId xmlns:a16="http://schemas.microsoft.com/office/drawing/2014/main" id="{05AABC5E-9E2C-BB46-7963-BA9909E060FF}"/>
              </a:ext>
            </a:extLst>
          </p:cNvPr>
          <p:cNvSpPr/>
          <p:nvPr/>
        </p:nvSpPr>
        <p:spPr>
          <a:xfrm>
            <a:off x="2022351" y="5038725"/>
            <a:ext cx="3378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Figure: Bag of Words Vectorizer Workflow for different  Models</a:t>
            </a:r>
            <a:endParaRPr lang="en-US" sz="1050" dirty="0"/>
          </a:p>
        </p:txBody>
      </p:sp>
      <p:pic>
        <p:nvPicPr>
          <p:cNvPr id="18" name="Image 27" descr="preencoded.png">
            <a:extLst>
              <a:ext uri="{FF2B5EF4-FFF2-40B4-BE49-F238E27FC236}">
                <a16:creationId xmlns:a16="http://schemas.microsoft.com/office/drawing/2014/main" id="{DE5A1D1C-DE75-1772-761D-393CA7082B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426" y="405016"/>
            <a:ext cx="257175" cy="228600"/>
          </a:xfrm>
          <a:prstGeom prst="rect">
            <a:avLst/>
          </a:prstGeom>
        </p:spPr>
      </p:pic>
      <p:sp>
        <p:nvSpPr>
          <p:cNvPr id="19" name="Text 20">
            <a:extLst>
              <a:ext uri="{FF2B5EF4-FFF2-40B4-BE49-F238E27FC236}">
                <a16:creationId xmlns:a16="http://schemas.microsoft.com/office/drawing/2014/main" id="{912D4A89-CA84-8837-8C1D-97523BAB3A6D}"/>
              </a:ext>
            </a:extLst>
          </p:cNvPr>
          <p:cNvSpPr/>
          <p:nvPr/>
        </p:nvSpPr>
        <p:spPr>
          <a:xfrm>
            <a:off x="5514901" y="366916"/>
            <a:ext cx="3606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</a:t>
            </a:r>
            <a:endParaRPr lang="en-US" sz="1800" dirty="0"/>
          </a:p>
        </p:txBody>
      </p:sp>
      <p:pic>
        <p:nvPicPr>
          <p:cNvPr id="22" name="Picture 21" descr="A diagram of a model&#10;&#10;AI-generated content may be incorrect.">
            <a:extLst>
              <a:ext uri="{FF2B5EF4-FFF2-40B4-BE49-F238E27FC236}">
                <a16:creationId xmlns:a16="http://schemas.microsoft.com/office/drawing/2014/main" id="{9238AFA3-C0C2-A10B-B788-E6EBB66108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41401" y="1776295"/>
            <a:ext cx="3378250" cy="270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06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1457325"/>
            <a:ext cx="5372100" cy="491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1457325"/>
            <a:ext cx="5372100" cy="685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172402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3095625"/>
            <a:ext cx="9525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1125" y="3209925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4550" y="3095625"/>
            <a:ext cx="1143000" cy="914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0325" y="320992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48050" y="3095625"/>
            <a:ext cx="1143000" cy="723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3350" y="320992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81550" y="3095625"/>
            <a:ext cx="1143000" cy="914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76850" y="320992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24050" y="3190875"/>
            <a:ext cx="1905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57550" y="3190875"/>
            <a:ext cx="190500" cy="190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1050" y="3190875"/>
            <a:ext cx="190500" cy="190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" y="4924425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" y="519112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1457325"/>
            <a:ext cx="5372100" cy="4914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9350" y="1457325"/>
            <a:ext cx="5372100" cy="914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9799" y="1838325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72250" y="3552825"/>
            <a:ext cx="952500" cy="571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81825" y="3667125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15250" y="3552825"/>
            <a:ext cx="1143000" cy="1066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91500" y="3667125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48750" y="3552825"/>
            <a:ext cx="1143000" cy="723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44050" y="3667125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82250" y="3552825"/>
            <a:ext cx="1143000" cy="914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77550" y="3667125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0" y="3648075"/>
            <a:ext cx="190500" cy="190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8250" y="3648075"/>
            <a:ext cx="190500" cy="190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91750" y="3648075"/>
            <a:ext cx="190500" cy="190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1750" y="5381625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1750" y="5648325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Embedding-Based Deep Learning Models</a:t>
            </a:r>
            <a:endParaRPr lang="en-US" sz="2700" dirty="0"/>
          </a:p>
        </p:txBody>
      </p:sp>
      <p:sp>
        <p:nvSpPr>
          <p:cNvPr id="40" name="Text 1"/>
          <p:cNvSpPr/>
          <p:nvPr/>
        </p:nvSpPr>
        <p:spPr>
          <a:xfrm>
            <a:off x="1276350" y="1647825"/>
            <a:ext cx="50063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Neural Networks as First Principles</a:t>
            </a:r>
            <a:endParaRPr lang="en-US" sz="1800" dirty="0"/>
          </a:p>
        </p:txBody>
      </p:sp>
      <p:sp>
        <p:nvSpPr>
          <p:cNvPr id="41" name="Text 2"/>
          <p:cNvSpPr/>
          <p:nvPr/>
        </p:nvSpPr>
        <p:spPr>
          <a:xfrm>
            <a:off x="781050" y="2295525"/>
            <a:ext cx="5067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principles of representation learning through neural embeddings with 100-300 dimensional learnable vector spaces for contextual text.</a:t>
            </a:r>
            <a:endParaRPr lang="en-US" sz="1200" dirty="0"/>
          </a:p>
        </p:txBody>
      </p:sp>
      <p:sp>
        <p:nvSpPr>
          <p:cNvPr id="42" name="Text 3"/>
          <p:cNvSpPr/>
          <p:nvPr/>
        </p:nvSpPr>
        <p:spPr>
          <a:xfrm>
            <a:off x="1085850" y="3400425"/>
            <a:ext cx="7239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 Indices</a:t>
            </a:r>
            <a:endParaRPr lang="en-US" sz="1050" dirty="0"/>
          </a:p>
        </p:txBody>
      </p:sp>
      <p:sp>
        <p:nvSpPr>
          <p:cNvPr id="43" name="Text 4"/>
          <p:cNvSpPr/>
          <p:nvPr/>
        </p:nvSpPr>
        <p:spPr>
          <a:xfrm>
            <a:off x="2228850" y="3400425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 Layer</a:t>
            </a:r>
            <a:endParaRPr lang="en-US" sz="1050" dirty="0"/>
          </a:p>
        </p:txBody>
      </p:sp>
      <p:sp>
        <p:nvSpPr>
          <p:cNvPr id="44" name="Text 5"/>
          <p:cNvSpPr/>
          <p:nvPr/>
        </p:nvSpPr>
        <p:spPr>
          <a:xfrm>
            <a:off x="2137410" y="37814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100-300 dims</a:t>
            </a:r>
            <a:endParaRPr lang="en-US" sz="900" dirty="0"/>
          </a:p>
        </p:txBody>
      </p:sp>
      <p:sp>
        <p:nvSpPr>
          <p:cNvPr id="45" name="Text 6"/>
          <p:cNvSpPr/>
          <p:nvPr/>
        </p:nvSpPr>
        <p:spPr>
          <a:xfrm>
            <a:off x="3470910" y="340042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Aggregation</a:t>
            </a:r>
            <a:endParaRPr lang="en-US" sz="1050" dirty="0"/>
          </a:p>
        </p:txBody>
      </p:sp>
      <p:sp>
        <p:nvSpPr>
          <p:cNvPr id="46" name="Text 7"/>
          <p:cNvSpPr/>
          <p:nvPr/>
        </p:nvSpPr>
        <p:spPr>
          <a:xfrm>
            <a:off x="3470910" y="35909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(Pooling)</a:t>
            </a:r>
            <a:endParaRPr lang="en-US" sz="900" dirty="0"/>
          </a:p>
        </p:txBody>
      </p:sp>
      <p:sp>
        <p:nvSpPr>
          <p:cNvPr id="47" name="Text 8"/>
          <p:cNvSpPr/>
          <p:nvPr/>
        </p:nvSpPr>
        <p:spPr>
          <a:xfrm>
            <a:off x="4895850" y="3400425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Classifier</a:t>
            </a:r>
            <a:endParaRPr lang="en-US" sz="1050" dirty="0"/>
          </a:p>
        </p:txBody>
      </p:sp>
      <p:sp>
        <p:nvSpPr>
          <p:cNvPr id="48" name="Text 9"/>
          <p:cNvSpPr/>
          <p:nvPr/>
        </p:nvSpPr>
        <p:spPr>
          <a:xfrm>
            <a:off x="4804410" y="37814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CNN/MLP</a:t>
            </a:r>
            <a:endParaRPr lang="en-US" sz="900" dirty="0"/>
          </a:p>
        </p:txBody>
      </p:sp>
      <p:sp>
        <p:nvSpPr>
          <p:cNvPr id="49" name="Text 10"/>
          <p:cNvSpPr/>
          <p:nvPr/>
        </p:nvSpPr>
        <p:spPr>
          <a:xfrm>
            <a:off x="1009650" y="4886325"/>
            <a:ext cx="3714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semantic relationships between words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1009650" y="5153025"/>
            <a:ext cx="31661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Learnable parameters specific to the task</a:t>
            </a:r>
            <a:endParaRPr lang="en-US" sz="1050" dirty="0"/>
          </a:p>
        </p:txBody>
      </p:sp>
      <p:sp>
        <p:nvSpPr>
          <p:cNvPr id="51" name="Text 12"/>
          <p:cNvSpPr/>
          <p:nvPr/>
        </p:nvSpPr>
        <p:spPr>
          <a:xfrm>
            <a:off x="6845498" y="1609725"/>
            <a:ext cx="4603552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Word2Vec Embeddings as First Principles</a:t>
            </a:r>
            <a:endParaRPr lang="en-US" sz="1800" dirty="0"/>
          </a:p>
        </p:txBody>
      </p:sp>
      <p:sp>
        <p:nvSpPr>
          <p:cNvPr id="52" name="Text 13"/>
          <p:cNvSpPr/>
          <p:nvPr/>
        </p:nvSpPr>
        <p:spPr>
          <a:xfrm>
            <a:off x="6381750" y="2524125"/>
            <a:ext cx="50673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Specialized implementation of word vectorization first principles with CBOW or Skip-gram, mapping 100-300 dimensional text concepts into semantic dense vectors.</a:t>
            </a:r>
            <a:endParaRPr lang="en-US" sz="1200" dirty="0"/>
          </a:p>
        </p:txBody>
      </p:sp>
      <p:sp>
        <p:nvSpPr>
          <p:cNvPr id="53" name="Text 14"/>
          <p:cNvSpPr/>
          <p:nvPr/>
        </p:nvSpPr>
        <p:spPr>
          <a:xfrm>
            <a:off x="6614160" y="3857625"/>
            <a:ext cx="868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Input</a:t>
            </a:r>
            <a:endParaRPr lang="en-US" sz="1050" dirty="0"/>
          </a:p>
        </p:txBody>
      </p:sp>
      <p:sp>
        <p:nvSpPr>
          <p:cNvPr id="54" name="Text 15"/>
          <p:cNvSpPr/>
          <p:nvPr/>
        </p:nvSpPr>
        <p:spPr>
          <a:xfrm>
            <a:off x="7829550" y="3857625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Model</a:t>
            </a:r>
            <a:endParaRPr lang="en-US" sz="1050" dirty="0"/>
          </a:p>
        </p:txBody>
      </p:sp>
      <p:sp>
        <p:nvSpPr>
          <p:cNvPr id="55" name="Text 16"/>
          <p:cNvSpPr/>
          <p:nvPr/>
        </p:nvSpPr>
        <p:spPr>
          <a:xfrm>
            <a:off x="7829550" y="4238625"/>
            <a:ext cx="91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CBOW/Skip-gram</a:t>
            </a:r>
            <a:endParaRPr lang="en-US" sz="900" dirty="0"/>
          </a:p>
        </p:txBody>
      </p:sp>
      <p:sp>
        <p:nvSpPr>
          <p:cNvPr id="56" name="Text 17"/>
          <p:cNvSpPr/>
          <p:nvPr/>
        </p:nvSpPr>
        <p:spPr>
          <a:xfrm>
            <a:off x="9071610" y="3857625"/>
            <a:ext cx="1097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 Vectors</a:t>
            </a:r>
            <a:endParaRPr lang="en-US" sz="1050" dirty="0"/>
          </a:p>
        </p:txBody>
      </p:sp>
      <p:sp>
        <p:nvSpPr>
          <p:cNvPr id="57" name="Text 18"/>
          <p:cNvSpPr/>
          <p:nvPr/>
        </p:nvSpPr>
        <p:spPr>
          <a:xfrm>
            <a:off x="9071610" y="40481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100-300 dims</a:t>
            </a:r>
            <a:endParaRPr lang="en-US" sz="900" dirty="0"/>
          </a:p>
        </p:txBody>
      </p:sp>
      <p:sp>
        <p:nvSpPr>
          <p:cNvPr id="58" name="Text 19"/>
          <p:cNvSpPr/>
          <p:nvPr/>
        </p:nvSpPr>
        <p:spPr>
          <a:xfrm>
            <a:off x="10496550" y="3857625"/>
            <a:ext cx="914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Classifier</a:t>
            </a:r>
            <a:endParaRPr lang="en-US" sz="1050" dirty="0"/>
          </a:p>
        </p:txBody>
      </p:sp>
      <p:sp>
        <p:nvSpPr>
          <p:cNvPr id="59" name="Text 20"/>
          <p:cNvSpPr/>
          <p:nvPr/>
        </p:nvSpPr>
        <p:spPr>
          <a:xfrm>
            <a:off x="10405110" y="4238625"/>
            <a:ext cx="109728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CNN/MLP</a:t>
            </a:r>
            <a:endParaRPr lang="en-US" sz="900" dirty="0"/>
          </a:p>
        </p:txBody>
      </p:sp>
      <p:sp>
        <p:nvSpPr>
          <p:cNvPr id="60" name="Text 21"/>
          <p:cNvSpPr/>
          <p:nvPr/>
        </p:nvSpPr>
        <p:spPr>
          <a:xfrm>
            <a:off x="6610350" y="5343525"/>
            <a:ext cx="37833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pre-trained embeddings from large corpora</a:t>
            </a: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6610350" y="5610225"/>
            <a:ext cx="34061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well with CNN and MLP classifiers</a:t>
            </a:r>
            <a:endParaRPr lang="en-US" sz="1050" dirty="0"/>
          </a:p>
        </p:txBody>
      </p:sp>
      <p:sp>
        <p:nvSpPr>
          <p:cNvPr id="62" name="Text 23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5/13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14938"/>
            <a:ext cx="12192000" cy="173831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317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1343025"/>
            <a:ext cx="5410200" cy="15049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1495425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825" y="16002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066925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2955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252412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150" y="1343025"/>
            <a:ext cx="5410200" cy="15049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5550" y="1495425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4613" y="16002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0" y="206692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2295525"/>
            <a:ext cx="123825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252412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550" y="3076575"/>
            <a:ext cx="10972800" cy="3276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9150" y="3914775"/>
            <a:ext cx="1524000" cy="1524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71613" y="4200525"/>
            <a:ext cx="219075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65400" y="4562475"/>
            <a:ext cx="228600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6251" y="3914775"/>
            <a:ext cx="1524000" cy="1524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35376" y="4200525"/>
            <a:ext cx="28575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62501" y="4562475"/>
            <a:ext cx="2286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13352" y="3914775"/>
            <a:ext cx="1524000" cy="1524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65814" y="4276725"/>
            <a:ext cx="219075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59602" y="4562475"/>
            <a:ext cx="22860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10452" y="3914775"/>
            <a:ext cx="1524000" cy="1524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10527" y="4200525"/>
            <a:ext cx="323850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82375" y="6591300"/>
            <a:ext cx="76200" cy="76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534775" y="6591300"/>
            <a:ext cx="76200" cy="76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Transformer Architecture - BERT Fine-tuning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1333500" y="160020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BERT-base-uncased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1047750" y="2047875"/>
            <a:ext cx="23888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12-layer, 768-hidden, 12-heads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1047750" y="2276475"/>
            <a:ext cx="1554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Lowercase tokenizer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1047750" y="2505075"/>
            <a:ext cx="1691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WordPiece vocabulary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6896100" y="1600200"/>
            <a:ext cx="31546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 Configuration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6610350" y="2047875"/>
            <a:ext cx="137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AdamW optimizer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6581775" y="2276475"/>
            <a:ext cx="1451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rate: 1e-5</a:t>
            </a:r>
            <a:endParaRPr lang="en-US" sz="1050" dirty="0"/>
          </a:p>
        </p:txBody>
      </p:sp>
      <p:sp>
        <p:nvSpPr>
          <p:cNvPr id="39" name="Text 8"/>
          <p:cNvSpPr/>
          <p:nvPr/>
        </p:nvSpPr>
        <p:spPr>
          <a:xfrm>
            <a:off x="6610350" y="2505075"/>
            <a:ext cx="8343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3-5 epochs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819150" y="3305175"/>
            <a:ext cx="10515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 Fine-tuning Pipeline</a:t>
            </a:r>
            <a:endParaRPr lang="en-US" sz="1800" dirty="0"/>
          </a:p>
        </p:txBody>
      </p:sp>
      <p:sp>
        <p:nvSpPr>
          <p:cNvPr id="41" name="Text 10"/>
          <p:cNvSpPr/>
          <p:nvPr/>
        </p:nvSpPr>
        <p:spPr>
          <a:xfrm>
            <a:off x="1186815" y="4619625"/>
            <a:ext cx="7886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Text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933450" y="484822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Tokenized using WordPiece</a:t>
            </a:r>
            <a:endParaRPr lang="en-US" sz="900" dirty="0"/>
          </a:p>
        </p:txBody>
      </p:sp>
      <p:sp>
        <p:nvSpPr>
          <p:cNvPr id="43" name="Text 12"/>
          <p:cNvSpPr/>
          <p:nvPr/>
        </p:nvSpPr>
        <p:spPr>
          <a:xfrm>
            <a:off x="4006751" y="4619625"/>
            <a:ext cx="1143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BERT Encoder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3930551" y="484822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tokenized inputs</a:t>
            </a:r>
            <a:endParaRPr lang="en-US" sz="900" dirty="0"/>
          </a:p>
        </p:txBody>
      </p:sp>
      <p:sp>
        <p:nvSpPr>
          <p:cNvPr id="45" name="Text 14"/>
          <p:cNvSpPr/>
          <p:nvPr/>
        </p:nvSpPr>
        <p:spPr>
          <a:xfrm>
            <a:off x="7118152" y="4695825"/>
            <a:ext cx="914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[CLS] Token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6838117" y="4924425"/>
            <a:ext cx="147447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Extraction of first token</a:t>
            </a:r>
            <a:endParaRPr lang="en-US" sz="900" dirty="0"/>
          </a:p>
        </p:txBody>
      </p:sp>
      <p:sp>
        <p:nvSpPr>
          <p:cNvPr id="47" name="Text 16"/>
          <p:cNvSpPr/>
          <p:nvPr/>
        </p:nvSpPr>
        <p:spPr>
          <a:xfrm>
            <a:off x="9812357" y="4619625"/>
            <a:ext cx="1520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Head</a:t>
            </a:r>
            <a:endParaRPr lang="en-US" sz="1050" dirty="0"/>
          </a:p>
        </p:txBody>
      </p:sp>
      <p:sp>
        <p:nvSpPr>
          <p:cNvPr id="48" name="Text 17"/>
          <p:cNvSpPr/>
          <p:nvPr/>
        </p:nvSpPr>
        <p:spPr>
          <a:xfrm>
            <a:off x="9924752" y="4848225"/>
            <a:ext cx="129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MLP with softmax output</a:t>
            </a:r>
            <a:endParaRPr lang="en-US" sz="900" dirty="0"/>
          </a:p>
        </p:txBody>
      </p:sp>
      <p:sp>
        <p:nvSpPr>
          <p:cNvPr id="49" name="Text 18"/>
          <p:cNvSpPr/>
          <p:nvPr/>
        </p:nvSpPr>
        <p:spPr>
          <a:xfrm>
            <a:off x="819150" y="5743575"/>
            <a:ext cx="10515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advances first principles methodologies with multi-headed self-attention, refining attention maps, and pooling embeddings to capture context beyond simple bag-of-words representation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11687175" y="653415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6/13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1343025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41922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1990725"/>
            <a:ext cx="5334000" cy="110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143125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" y="3324225"/>
            <a:ext cx="5334000" cy="1104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476625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875" y="1343025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3175" y="14192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1990725"/>
            <a:ext cx="5334000" cy="1104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1275" y="2143125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3324225"/>
            <a:ext cx="5334000" cy="1104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1275" y="3476625"/>
            <a:ext cx="1428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4657725"/>
            <a:ext cx="5334000" cy="1104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275" y="4810125"/>
            <a:ext cx="14287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Metrics Framework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209675" y="1419225"/>
            <a:ext cx="34061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Performance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057275" y="2143125"/>
            <a:ext cx="110871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1057275" y="24860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classification correctness measured as the ratio of correctly classified samples to total samples.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1104900" y="3476625"/>
            <a:ext cx="10172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1057275" y="38195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Weighted average of precision and recall across the four classes, providing balance between true positives and false positives.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6848475" y="1419225"/>
            <a:ext cx="36347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Efficiency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6696075" y="2143125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Training Time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6696075" y="24860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Measured in seconds, representing the wall-clock time to train the model on the training dataset.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648450" y="3476625"/>
            <a:ext cx="1840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 Time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6696075" y="38195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time per test sample in seconds, measuring the model's prediction speed.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648450" y="4810125"/>
            <a:ext cx="2228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FLOPs per Sample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6696075" y="5153025"/>
            <a:ext cx="5029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Floating Point Operations per second, measuring the computational complexity of the model.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7/13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71625"/>
            <a:ext cx="6583561" cy="357381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061" y="1704975"/>
            <a:ext cx="4084290" cy="1714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561" y="1895475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7523" y="1952625"/>
            <a:ext cx="2190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6561" y="242887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6561" y="27336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6561" y="30384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36061" y="3648075"/>
            <a:ext cx="4084290" cy="2400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6561" y="3838575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45623" y="3895725"/>
            <a:ext cx="14287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6561" y="4371975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6561" y="4905375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6561" y="5438775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Results Overview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8221861" y="1933575"/>
            <a:ext cx="22288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Performers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7993261" y="2390775"/>
            <a:ext cx="3611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91.4% accuracy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7993261" y="2695575"/>
            <a:ext cx="2434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MLP: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91.3% accuracy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993261" y="3000375"/>
            <a:ext cx="2903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+ CNN: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91.0% accuracy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8221861" y="3876675"/>
            <a:ext cx="17716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26" name="Text 6"/>
          <p:cNvSpPr/>
          <p:nvPr/>
        </p:nvSpPr>
        <p:spPr>
          <a:xfrm>
            <a:off x="7993261" y="4333875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Neural architectures with embeddings outperform classical methods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7993261" y="4867275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MLP models show similar performance to CNNs for this task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993261" y="5400675"/>
            <a:ext cx="343659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Classical models like Logistic Regression lag behind (90.2% accuracy)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8/13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1143000"/>
            <a:ext cx="5524500" cy="5219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3" y="1390650"/>
            <a:ext cx="2190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1866900"/>
            <a:ext cx="514350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" y="2552700"/>
            <a:ext cx="51435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550" y="3238500"/>
            <a:ext cx="51435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" y="4076700"/>
            <a:ext cx="5143500" cy="876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4229100"/>
            <a:ext cx="1143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3150" y="1143000"/>
            <a:ext cx="5524500" cy="5219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4613" y="1390650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23622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25908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2819400"/>
            <a:ext cx="13335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3312" y="3509963"/>
            <a:ext cx="2924175" cy="2428875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53312" y="5710238"/>
            <a:ext cx="2924175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2375" y="6496050"/>
            <a:ext cx="762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34775" y="6496050"/>
            <a:ext cx="76200" cy="76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457200"/>
            <a:ext cx="1353312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Performing Models Analysis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085850" y="1371600"/>
            <a:ext cx="41490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Models by Test Accuracy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704850" y="18669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</a:t>
            </a:r>
            <a:endParaRPr lang="en-US" sz="1050" dirty="0"/>
          </a:p>
        </p:txBody>
      </p:sp>
      <p:sp>
        <p:nvSpPr>
          <p:cNvPr id="24" name="Text 3"/>
          <p:cNvSpPr/>
          <p:nvPr/>
        </p:nvSpPr>
        <p:spPr>
          <a:xfrm>
            <a:off x="3406973" y="1866900"/>
            <a:ext cx="232707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25" name="Text 4"/>
          <p:cNvSpPr/>
          <p:nvPr/>
        </p:nvSpPr>
        <p:spPr>
          <a:xfrm>
            <a:off x="704850" y="2209800"/>
            <a:ext cx="38451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3794820" y="22098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0.914</a:t>
            </a:r>
            <a:endParaRPr lang="en-US" sz="1050" dirty="0"/>
          </a:p>
        </p:txBody>
      </p:sp>
      <p:sp>
        <p:nvSpPr>
          <p:cNvPr id="27" name="Text 6"/>
          <p:cNvSpPr/>
          <p:nvPr/>
        </p:nvSpPr>
        <p:spPr>
          <a:xfrm>
            <a:off x="704850" y="25527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MLP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3794820" y="25527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0.913</a:t>
            </a:r>
            <a:endParaRPr lang="en-US" sz="1050" dirty="0"/>
          </a:p>
        </p:txBody>
      </p:sp>
      <p:sp>
        <p:nvSpPr>
          <p:cNvPr id="29" name="Text 8"/>
          <p:cNvSpPr/>
          <p:nvPr/>
        </p:nvSpPr>
        <p:spPr>
          <a:xfrm>
            <a:off x="704850" y="28956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+ CNN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3794820" y="28956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0.910</a:t>
            </a:r>
            <a:endParaRPr lang="en-US" sz="1050" dirty="0"/>
          </a:p>
        </p:txBody>
      </p:sp>
      <p:sp>
        <p:nvSpPr>
          <p:cNvPr id="31" name="Text 10"/>
          <p:cNvSpPr/>
          <p:nvPr/>
        </p:nvSpPr>
        <p:spPr>
          <a:xfrm>
            <a:off x="704850" y="3238500"/>
            <a:ext cx="384512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Tf_IDF + Logistic Model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3794820" y="32385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0.906</a:t>
            </a:r>
            <a:endParaRPr lang="en-US" sz="1050" dirty="0"/>
          </a:p>
        </p:txBody>
      </p:sp>
      <p:sp>
        <p:nvSpPr>
          <p:cNvPr id="33" name="Text 12"/>
          <p:cNvSpPr/>
          <p:nvPr/>
        </p:nvSpPr>
        <p:spPr>
          <a:xfrm>
            <a:off x="704850" y="3581400"/>
            <a:ext cx="320427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 + XGBoost Model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3794820" y="3581400"/>
            <a:ext cx="193923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0.905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933450" y="4191000"/>
            <a:ext cx="46863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Insight: </a:t>
            </a: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 achieved the highest accuracy (0.914), demonstrating the effectiveness of combining advanced embedding techniques with neural architectures.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6838950" y="1371600"/>
            <a:ext cx="37147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Confusion Matrix Analysis</a:t>
            </a:r>
            <a:endParaRPr lang="en-US" sz="1800" dirty="0"/>
          </a:p>
        </p:txBody>
      </p:sp>
      <p:sp>
        <p:nvSpPr>
          <p:cNvPr id="37" name="Text 16"/>
          <p:cNvSpPr/>
          <p:nvPr/>
        </p:nvSpPr>
        <p:spPr>
          <a:xfrm>
            <a:off x="6343650" y="1866900"/>
            <a:ext cx="5143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confusion matrix for the best-performing model (Matrix Embedding + CNN) reveals:</a:t>
            </a:r>
            <a:endParaRPr lang="en-US" sz="1050" dirty="0"/>
          </a:p>
        </p:txBody>
      </p:sp>
      <p:sp>
        <p:nvSpPr>
          <p:cNvPr id="38" name="Text 17"/>
          <p:cNvSpPr/>
          <p:nvPr/>
        </p:nvSpPr>
        <p:spPr>
          <a:xfrm>
            <a:off x="6781800" y="2324100"/>
            <a:ext cx="4617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classification performance across all news categories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6781800" y="2552700"/>
            <a:ext cx="4640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Mostly accurate predictions with balanced error distribution</a:t>
            </a:r>
            <a:endParaRPr lang="en-US" sz="1050" dirty="0"/>
          </a:p>
        </p:txBody>
      </p:sp>
      <p:sp>
        <p:nvSpPr>
          <p:cNvPr id="40" name="Text 19"/>
          <p:cNvSpPr/>
          <p:nvPr/>
        </p:nvSpPr>
        <p:spPr>
          <a:xfrm>
            <a:off x="6781800" y="2781300"/>
            <a:ext cx="47053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Word2Vec model shows slightly better performance (0.893 vs 0.898) on unseen data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7160895" y="5710238"/>
            <a:ext cx="3509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Confusion Matrix: Matrix Embedding – CNN Model</a:t>
            </a:r>
            <a:endParaRPr lang="en-US" sz="900" dirty="0"/>
          </a:p>
        </p:txBody>
      </p:sp>
      <p:sp>
        <p:nvSpPr>
          <p:cNvPr id="42" name="Text 21"/>
          <p:cNvSpPr/>
          <p:nvPr/>
        </p:nvSpPr>
        <p:spPr>
          <a:xfrm>
            <a:off x="11687175" y="6438900"/>
            <a:ext cx="3314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9/13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390650"/>
            <a:ext cx="7086600" cy="52387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4325" y="1390650"/>
            <a:ext cx="3657600" cy="392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184785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1975" y="1962150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257175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2925" y="268605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32956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3875" y="340995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4325" y="5391150"/>
            <a:ext cx="3657600" cy="990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8625" y="58293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01225" y="58293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48625" y="60960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&amp; Accuracy Trade-offs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733425" y="1504950"/>
            <a:ext cx="685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FLOPs Per Model 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8048625" y="1504950"/>
            <a:ext cx="3429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8543925" y="184785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Efficiency Leaders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543925" y="211455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Classical models (BOW/TF-IDF + Logistic) offer excellent efficiency with ~90% accuracy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8543925" y="2571750"/>
            <a:ext cx="29337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Outlier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8543925" y="283845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has highest computational cost without achieving superior accuracy (0.887)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8543925" y="3295650"/>
            <a:ext cx="3520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Choice Depends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8543925" y="3562350"/>
            <a:ext cx="2933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selection should be guided by deployment constraints and requirements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8048625" y="550545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Metrics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8277225" y="5810250"/>
            <a:ext cx="1383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FLOPs per Sample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10029825" y="5810250"/>
            <a:ext cx="12801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Time (s)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8296275" y="6076950"/>
            <a:ext cx="137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Inference Time (s)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10/13</a:t>
            </a:r>
            <a:endParaRPr lang="en-US" sz="1050" dirty="0"/>
          </a:p>
        </p:txBody>
      </p:sp>
      <p:pic>
        <p:nvPicPr>
          <p:cNvPr id="35" name="Picture 3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6DA8649C-A948-AC55-0F91-3A1BE5F20B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0112" y="1847850"/>
            <a:ext cx="6284138" cy="2343150"/>
          </a:xfrm>
          <a:prstGeom prst="rect">
            <a:avLst/>
          </a:prstGeom>
        </p:spPr>
      </p:pic>
      <p:pic>
        <p:nvPicPr>
          <p:cNvPr id="37" name="Picture 3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D696880-6BA5-AEA0-A1F3-340BD5E6C15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0112" y="4305300"/>
            <a:ext cx="6284138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09700"/>
            <a:ext cx="3505200" cy="407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638300"/>
            <a:ext cx="472083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9941" y="17716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648200"/>
            <a:ext cx="30480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481965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50863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409700"/>
            <a:ext cx="3505200" cy="407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1638300"/>
            <a:ext cx="488007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3054" y="177165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648200"/>
            <a:ext cx="30480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481965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08635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1409700"/>
            <a:ext cx="3505200" cy="407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5800" y="1638300"/>
            <a:ext cx="506462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6082" y="1771650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4648200"/>
            <a:ext cx="30480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48196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5800" y="508635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5715000"/>
            <a:ext cx="10972800" cy="533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14613" y="59055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 &amp; Insights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1462683" y="1657350"/>
            <a:ext cx="242351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Classical Models as Baselines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8382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and MLPs on Bag-of-Words/TF-IDF features achieve </a:t>
            </a:r>
            <a:r>
              <a:rPr lang="en-US" sz="120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~90-91% accuracy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significantly lower computational costs.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1066800" y="4800600"/>
            <a:ext cx="23888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training and inference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1066800" y="5067300"/>
            <a:ext cx="30289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performance on structured data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5212407" y="1657350"/>
            <a:ext cx="240759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Accuracy-Cost Balance</a:t>
            </a:r>
            <a:endParaRPr lang="en-US" sz="1500" dirty="0"/>
          </a:p>
        </p:txBody>
      </p:sp>
      <p:sp>
        <p:nvSpPr>
          <p:cNvPr id="38" name="Text 6"/>
          <p:cNvSpPr/>
          <p:nvPr/>
        </p:nvSpPr>
        <p:spPr>
          <a:xfrm>
            <a:off x="45720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Matrix Embedding + CNN achieved </a:t>
            </a:r>
            <a:r>
              <a:rPr lang="en-US" sz="1200" b="1" dirty="0">
                <a:solidFill>
                  <a:srgbClr val="FF6B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0.914 test accuracy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maintaining reasonable balance between accuracy, FLOPs, and training time.</a:t>
            </a:r>
            <a:endParaRPr lang="en-US" sz="1200" dirty="0"/>
          </a:p>
        </p:txBody>
      </p:sp>
      <p:sp>
        <p:nvSpPr>
          <p:cNvPr id="39" name="Text 7"/>
          <p:cNvSpPr/>
          <p:nvPr/>
        </p:nvSpPr>
        <p:spPr>
          <a:xfrm>
            <a:off x="4800600" y="4800600"/>
            <a:ext cx="25946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Suitable for real-time deployment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4800600" y="5067300"/>
            <a:ext cx="2571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Effective semantic understanding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8964662" y="1657350"/>
            <a:ext cx="238913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Selection Trade-offs</a:t>
            </a:r>
            <a:endParaRPr lang="en-US" sz="1500" dirty="0"/>
          </a:p>
        </p:txBody>
      </p:sp>
      <p:sp>
        <p:nvSpPr>
          <p:cNvPr id="42" name="Text 10"/>
          <p:cNvSpPr/>
          <p:nvPr/>
        </p:nvSpPr>
        <p:spPr>
          <a:xfrm>
            <a:off x="8305800" y="2362200"/>
            <a:ext cx="3048000" cy="2133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model choice dictated by interplay between accuracy, computational efficiency, and deployment constraints.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8534400" y="4800600"/>
            <a:ext cx="1874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universal best model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8534400" y="5067300"/>
            <a:ext cx="2514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Problem-specific optimal choices</a:t>
            </a:r>
            <a:endParaRPr lang="en-US" sz="1050" dirty="0"/>
          </a:p>
        </p:txBody>
      </p:sp>
      <p:sp>
        <p:nvSpPr>
          <p:cNvPr id="45" name="Text 13"/>
          <p:cNvSpPr/>
          <p:nvPr/>
        </p:nvSpPr>
        <p:spPr>
          <a:xfrm>
            <a:off x="-304800" y="5867400"/>
            <a:ext cx="1280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Model selection requires balancing accuracy, efficiency, and specific application requirements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11/13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33500"/>
            <a:ext cx="5334000" cy="483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15621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" y="1647825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2228850"/>
            <a:ext cx="857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295650"/>
            <a:ext cx="857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333500"/>
            <a:ext cx="5334000" cy="483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5621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7025" y="164782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2190750"/>
            <a:ext cx="4876800" cy="800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05600" y="22479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3143250"/>
            <a:ext cx="4876800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05600" y="32004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3200" y="4095750"/>
            <a:ext cx="4876800" cy="800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5600" y="4152900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09600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1543050" y="1647825"/>
            <a:ext cx="16230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1114425" y="2190750"/>
            <a:ext cx="56121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Constrained Training Budget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1114425" y="2533650"/>
            <a:ext cx="46767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BERT Transformer model underperformed relative to its known capabilities due to limited training resources.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1114425" y="3257550"/>
            <a:ext cx="56121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Computational Constraints</a:t>
            </a:r>
            <a:endParaRPr lang="en-US" sz="1500" dirty="0"/>
          </a:p>
        </p:txBody>
      </p:sp>
      <p:sp>
        <p:nvSpPr>
          <p:cNvPr id="26" name="Text 5"/>
          <p:cNvSpPr/>
          <p:nvPr/>
        </p:nvSpPr>
        <p:spPr>
          <a:xfrm>
            <a:off x="1114425" y="3600450"/>
            <a:ext cx="4676775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Resource limitations prevented exploration of larger model architectures and longer training schedules.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7181850" y="1647825"/>
            <a:ext cx="1805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28" name="Text 7"/>
          <p:cNvSpPr/>
          <p:nvPr/>
        </p:nvSpPr>
        <p:spPr>
          <a:xfrm>
            <a:off x="6972300" y="2190750"/>
            <a:ext cx="38061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Extended Fine-Tuning Schedules</a:t>
            </a:r>
            <a:endParaRPr lang="en-US" sz="1500" dirty="0"/>
          </a:p>
        </p:txBody>
      </p:sp>
      <p:sp>
        <p:nvSpPr>
          <p:cNvPr id="29" name="Text 8"/>
          <p:cNvSpPr/>
          <p:nvPr/>
        </p:nvSpPr>
        <p:spPr>
          <a:xfrm>
            <a:off x="7010400" y="25336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BERT training epochs from 10 epochs to 40-50 to significantly improve accuracy.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972300" y="3143250"/>
            <a:ext cx="3874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Lightweight Transformer Variants</a:t>
            </a:r>
            <a:endParaRPr lang="en-US" sz="1500" dirty="0"/>
          </a:p>
        </p:txBody>
      </p:sp>
      <p:sp>
        <p:nvSpPr>
          <p:cNvPr id="31" name="Text 10"/>
          <p:cNvSpPr/>
          <p:nvPr/>
        </p:nvSpPr>
        <p:spPr>
          <a:xfrm>
            <a:off x="7010400" y="34861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Investigate MobileBERT, TinyBERT, or DistilBERT for resource-constrained environments.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6991350" y="4095750"/>
            <a:ext cx="23088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Larger Label Spaces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7010400" y="443865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transformers on tasks with hundreds or thousands of output classes to highlight advantages.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12/13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429000"/>
            <a:ext cx="114300" cy="114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42900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400" y="3429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4290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43500"/>
            <a:ext cx="12192000" cy="1714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99" y="0"/>
            <a:ext cx="4063901" cy="2286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3188940"/>
            <a:ext cx="3657600" cy="2133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2200" y="3512790"/>
            <a:ext cx="458391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7570" y="362709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2200" y="440814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2200" y="482724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284190"/>
            <a:ext cx="3657600" cy="1943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9400" y="3512790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7038" y="3627090"/>
            <a:ext cx="276225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4312890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4731990"/>
            <a:ext cx="1428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53775" y="6496050"/>
            <a:ext cx="76200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06175" y="6496050"/>
            <a:ext cx="76200" cy="76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58575" y="6496050"/>
            <a:ext cx="76200" cy="762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1219200" y="3438525"/>
            <a:ext cx="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
</a:t>
            </a:r>
            <a:endParaRPr lang="en-US" sz="1200" dirty="0"/>
          </a:p>
        </p:txBody>
      </p:sp>
      <p:sp>
        <p:nvSpPr>
          <p:cNvPr id="24" name="Text 1"/>
          <p:cNvSpPr/>
          <p:nvPr/>
        </p:nvSpPr>
        <p:spPr>
          <a:xfrm>
            <a:off x="4838700" y="1535460"/>
            <a:ext cx="301752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25" name="Text 2"/>
          <p:cNvSpPr/>
          <p:nvPr/>
        </p:nvSpPr>
        <p:spPr>
          <a:xfrm>
            <a:off x="5248275" y="2388840"/>
            <a:ext cx="203454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</a:t>
            </a:r>
            <a:endParaRPr lang="en-US" sz="2250" dirty="0"/>
          </a:p>
        </p:txBody>
      </p:sp>
      <p:sp>
        <p:nvSpPr>
          <p:cNvPr id="26" name="Text 3"/>
          <p:cNvSpPr/>
          <p:nvPr/>
        </p:nvSpPr>
        <p:spPr>
          <a:xfrm>
            <a:off x="2972991" y="3417540"/>
            <a:ext cx="258960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Mohammad</a:t>
            </a:r>
            <a:endParaRPr lang="en-US" sz="1800" dirty="0"/>
          </a:p>
        </p:txBody>
      </p:sp>
      <p:sp>
        <p:nvSpPr>
          <p:cNvPr id="27" name="Text 4"/>
          <p:cNvSpPr/>
          <p:nvPr/>
        </p:nvSpPr>
        <p:spPr>
          <a:xfrm>
            <a:off x="2972991" y="3722340"/>
            <a:ext cx="258960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Master's of Engineering, University of Ottawa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2705100" y="4427190"/>
            <a:ext cx="1977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fmoha077@uottawa.ca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2686050" y="4846290"/>
            <a:ext cx="1554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December 2, </a:t>
            </a: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7353300" y="3531840"/>
            <a:ext cx="26631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Repository</a:t>
            </a:r>
            <a:endParaRPr lang="en-US" sz="1800" dirty="0"/>
          </a:p>
        </p:txBody>
      </p:sp>
      <p:sp>
        <p:nvSpPr>
          <p:cNvPr id="31" name="Text 8"/>
          <p:cNvSpPr/>
          <p:nvPr/>
        </p:nvSpPr>
        <p:spPr>
          <a:xfrm>
            <a:off x="7353300" y="3836640"/>
            <a:ext cx="22193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GitHub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7019925" y="4331940"/>
            <a:ext cx="4869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https://github.com/mohammad1774/applied_ml_project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6924675" y="4751040"/>
            <a:ext cx="3051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and discussions welcome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11610975" y="6438900"/>
            <a:ext cx="42291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13/13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Microsoft Office PowerPoint</Application>
  <PresentationFormat>Widescreen</PresentationFormat>
  <Paragraphs>218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.</cp:lastModifiedBy>
  <cp:revision>2</cp:revision>
  <dcterms:created xsi:type="dcterms:W3CDTF">2025-12-01T05:21:57Z</dcterms:created>
  <dcterms:modified xsi:type="dcterms:W3CDTF">2025-12-01T05:58:01Z</dcterms:modified>
</cp:coreProperties>
</file>