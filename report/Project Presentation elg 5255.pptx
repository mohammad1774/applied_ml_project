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5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270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3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18" Type="http://schemas.openxmlformats.org/officeDocument/2006/relationships/image" Target="../media/image29.png"/><Relationship Id="rId3" Type="http://schemas.openxmlformats.org/officeDocument/2006/relationships/image" Target="../media/image1.png"/><Relationship Id="rId21" Type="http://schemas.openxmlformats.org/officeDocument/2006/relationships/image" Target="../media/image32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17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7.png"/><Relationship Id="rId20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26.png"/><Relationship Id="rId23" Type="http://schemas.openxmlformats.org/officeDocument/2006/relationships/image" Target="../media/image33.png"/><Relationship Id="rId10" Type="http://schemas.openxmlformats.org/officeDocument/2006/relationships/image" Target="../media/image21.png"/><Relationship Id="rId19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Relationship Id="rId22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38.png"/><Relationship Id="rId5" Type="http://schemas.openxmlformats.org/officeDocument/2006/relationships/image" Target="../media/image3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24.png"/><Relationship Id="rId14" Type="http://schemas.openxmlformats.org/officeDocument/2006/relationships/image" Target="../media/image4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2.png"/><Relationship Id="rId7" Type="http://schemas.openxmlformats.org/officeDocument/2006/relationships/image" Target="../media/image4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3.png"/><Relationship Id="rId4" Type="http://schemas.openxmlformats.org/officeDocument/2006/relationships/image" Target="../media/image4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png"/><Relationship Id="rId18" Type="http://schemas.openxmlformats.org/officeDocument/2006/relationships/image" Target="../media/image62.png"/><Relationship Id="rId26" Type="http://schemas.openxmlformats.org/officeDocument/2006/relationships/image" Target="../media/image70.png"/><Relationship Id="rId3" Type="http://schemas.openxmlformats.org/officeDocument/2006/relationships/image" Target="../media/image1.png"/><Relationship Id="rId21" Type="http://schemas.openxmlformats.org/officeDocument/2006/relationships/image" Target="../media/image65.png"/><Relationship Id="rId7" Type="http://schemas.openxmlformats.org/officeDocument/2006/relationships/image" Target="../media/image51.png"/><Relationship Id="rId12" Type="http://schemas.openxmlformats.org/officeDocument/2006/relationships/image" Target="../media/image56.png"/><Relationship Id="rId17" Type="http://schemas.openxmlformats.org/officeDocument/2006/relationships/image" Target="../media/image61.png"/><Relationship Id="rId25" Type="http://schemas.openxmlformats.org/officeDocument/2006/relationships/image" Target="../media/image69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0.png"/><Relationship Id="rId20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24" Type="http://schemas.openxmlformats.org/officeDocument/2006/relationships/image" Target="../media/image68.png"/><Relationship Id="rId5" Type="http://schemas.openxmlformats.org/officeDocument/2006/relationships/image" Target="../media/image3.png"/><Relationship Id="rId15" Type="http://schemas.openxmlformats.org/officeDocument/2006/relationships/image" Target="../media/image59.png"/><Relationship Id="rId23" Type="http://schemas.openxmlformats.org/officeDocument/2006/relationships/image" Target="../media/image67.png"/><Relationship Id="rId10" Type="http://schemas.openxmlformats.org/officeDocument/2006/relationships/image" Target="../media/image54.png"/><Relationship Id="rId19" Type="http://schemas.openxmlformats.org/officeDocument/2006/relationships/image" Target="../media/image63.png"/><Relationship Id="rId4" Type="http://schemas.openxmlformats.org/officeDocument/2006/relationships/image" Target="../media/image2.png"/><Relationship Id="rId9" Type="http://schemas.openxmlformats.org/officeDocument/2006/relationships/image" Target="../media/image53.png"/><Relationship Id="rId14" Type="http://schemas.openxmlformats.org/officeDocument/2006/relationships/image" Target="../media/image58.png"/><Relationship Id="rId22" Type="http://schemas.openxmlformats.org/officeDocument/2006/relationships/image" Target="../media/image66.png"/><Relationship Id="rId27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26" Type="http://schemas.openxmlformats.org/officeDocument/2006/relationships/image" Target="../media/image16.png"/><Relationship Id="rId3" Type="http://schemas.openxmlformats.org/officeDocument/2006/relationships/image" Target="../media/image71.png"/><Relationship Id="rId21" Type="http://schemas.openxmlformats.org/officeDocument/2006/relationships/image" Target="../media/image88.png"/><Relationship Id="rId7" Type="http://schemas.openxmlformats.org/officeDocument/2006/relationships/image" Target="../media/image75.png"/><Relationship Id="rId12" Type="http://schemas.openxmlformats.org/officeDocument/2006/relationships/image" Target="../media/image79.png"/><Relationship Id="rId17" Type="http://schemas.openxmlformats.org/officeDocument/2006/relationships/image" Target="../media/image84.png"/><Relationship Id="rId25" Type="http://schemas.openxmlformats.org/officeDocument/2006/relationships/image" Target="../media/image92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11" Type="http://schemas.openxmlformats.org/officeDocument/2006/relationships/image" Target="../media/image78.png"/><Relationship Id="rId24" Type="http://schemas.openxmlformats.org/officeDocument/2006/relationships/image" Target="../media/image91.png"/><Relationship Id="rId5" Type="http://schemas.openxmlformats.org/officeDocument/2006/relationships/image" Target="../media/image73.png"/><Relationship Id="rId15" Type="http://schemas.openxmlformats.org/officeDocument/2006/relationships/image" Target="../media/image82.png"/><Relationship Id="rId23" Type="http://schemas.openxmlformats.org/officeDocument/2006/relationships/image" Target="../media/image90.png"/><Relationship Id="rId10" Type="http://schemas.openxmlformats.org/officeDocument/2006/relationships/image" Target="../media/image77.png"/><Relationship Id="rId19" Type="http://schemas.openxmlformats.org/officeDocument/2006/relationships/image" Target="../media/image86.png"/><Relationship Id="rId4" Type="http://schemas.openxmlformats.org/officeDocument/2006/relationships/image" Target="../media/image72.png"/><Relationship Id="rId9" Type="http://schemas.openxmlformats.org/officeDocument/2006/relationships/image" Target="../media/image62.png"/><Relationship Id="rId14" Type="http://schemas.openxmlformats.org/officeDocument/2006/relationships/image" Target="../media/image81.png"/><Relationship Id="rId22" Type="http://schemas.openxmlformats.org/officeDocument/2006/relationships/image" Target="../media/image8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13" Type="http://schemas.openxmlformats.org/officeDocument/2006/relationships/image" Target="../media/image99.png"/><Relationship Id="rId3" Type="http://schemas.openxmlformats.org/officeDocument/2006/relationships/image" Target="../media/image1.png"/><Relationship Id="rId7" Type="http://schemas.openxmlformats.org/officeDocument/2006/relationships/image" Target="../media/image94.png"/><Relationship Id="rId12" Type="http://schemas.openxmlformats.org/officeDocument/2006/relationships/image" Target="../media/image98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11" Type="http://schemas.openxmlformats.org/officeDocument/2006/relationships/image" Target="../media/image97.png"/><Relationship Id="rId5" Type="http://schemas.openxmlformats.org/officeDocument/2006/relationships/image" Target="../media/image3.png"/><Relationship Id="rId15" Type="http://schemas.openxmlformats.org/officeDocument/2006/relationships/image" Target="../media/image101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96.png"/><Relationship Id="rId14" Type="http://schemas.openxmlformats.org/officeDocument/2006/relationships/image" Target="../media/image10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109.png"/><Relationship Id="rId3" Type="http://schemas.openxmlformats.org/officeDocument/2006/relationships/image" Target="../media/image1.png"/><Relationship Id="rId7" Type="http://schemas.openxmlformats.org/officeDocument/2006/relationships/image" Target="../media/image103.png"/><Relationship Id="rId12" Type="http://schemas.openxmlformats.org/officeDocument/2006/relationships/image" Target="../media/image108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107.png"/><Relationship Id="rId5" Type="http://schemas.openxmlformats.org/officeDocument/2006/relationships/image" Target="../media/image3.png"/><Relationship Id="rId15" Type="http://schemas.openxmlformats.org/officeDocument/2006/relationships/image" Target="../media/image111.png"/><Relationship Id="rId10" Type="http://schemas.openxmlformats.org/officeDocument/2006/relationships/image" Target="../media/image106.png"/><Relationship Id="rId4" Type="http://schemas.openxmlformats.org/officeDocument/2006/relationships/image" Target="../media/image2.png"/><Relationship Id="rId9" Type="http://schemas.openxmlformats.org/officeDocument/2006/relationships/image" Target="../media/image105.png"/><Relationship Id="rId14" Type="http://schemas.openxmlformats.org/officeDocument/2006/relationships/image" Target="../media/image1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13" Type="http://schemas.openxmlformats.org/officeDocument/2006/relationships/image" Target="../media/image118.png"/><Relationship Id="rId3" Type="http://schemas.openxmlformats.org/officeDocument/2006/relationships/image" Target="../media/image1.png"/><Relationship Id="rId7" Type="http://schemas.openxmlformats.org/officeDocument/2006/relationships/image" Target="../media/image105.png"/><Relationship Id="rId12" Type="http://schemas.openxmlformats.org/officeDocument/2006/relationships/image" Target="../media/image117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2.png"/><Relationship Id="rId11" Type="http://schemas.openxmlformats.org/officeDocument/2006/relationships/image" Target="../media/image116.png"/><Relationship Id="rId5" Type="http://schemas.openxmlformats.org/officeDocument/2006/relationships/image" Target="../media/image3.png"/><Relationship Id="rId15" Type="http://schemas.openxmlformats.org/officeDocument/2006/relationships/image" Target="../media/image120.png"/><Relationship Id="rId10" Type="http://schemas.openxmlformats.org/officeDocument/2006/relationships/image" Target="../media/image115.png"/><Relationship Id="rId4" Type="http://schemas.openxmlformats.org/officeDocument/2006/relationships/image" Target="../media/image2.png"/><Relationship Id="rId9" Type="http://schemas.openxmlformats.org/officeDocument/2006/relationships/image" Target="../media/image114.png"/><Relationship Id="rId14" Type="http://schemas.openxmlformats.org/officeDocument/2006/relationships/image" Target="../media/image11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129.png"/><Relationship Id="rId18" Type="http://schemas.openxmlformats.org/officeDocument/2006/relationships/image" Target="../media/image132.png"/><Relationship Id="rId3" Type="http://schemas.openxmlformats.org/officeDocument/2006/relationships/image" Target="../media/image1.png"/><Relationship Id="rId7" Type="http://schemas.openxmlformats.org/officeDocument/2006/relationships/image" Target="../media/image123.png"/><Relationship Id="rId12" Type="http://schemas.openxmlformats.org/officeDocument/2006/relationships/image" Target="../media/image128.png"/><Relationship Id="rId17" Type="http://schemas.openxmlformats.org/officeDocument/2006/relationships/image" Target="../media/image131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3.png"/><Relationship Id="rId15" Type="http://schemas.openxmlformats.org/officeDocument/2006/relationships/image" Target="../media/image130.png"/><Relationship Id="rId10" Type="http://schemas.openxmlformats.org/officeDocument/2006/relationships/image" Target="../media/image126.png"/><Relationship Id="rId19" Type="http://schemas.openxmlformats.org/officeDocument/2006/relationships/image" Target="../media/image133.png"/><Relationship Id="rId4" Type="http://schemas.openxmlformats.org/officeDocument/2006/relationships/image" Target="../media/image2.png"/><Relationship Id="rId9" Type="http://schemas.openxmlformats.org/officeDocument/2006/relationships/image" Target="../media/image125.png"/><Relationship Id="rId14" Type="http://schemas.openxmlformats.org/officeDocument/2006/relationships/image" Target="../media/image8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png"/><Relationship Id="rId13" Type="http://schemas.openxmlformats.org/officeDocument/2006/relationships/image" Target="../media/image140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35.png"/><Relationship Id="rId12" Type="http://schemas.openxmlformats.org/officeDocument/2006/relationships/image" Target="../media/image139.png"/><Relationship Id="rId17" Type="http://schemas.openxmlformats.org/officeDocument/2006/relationships/image" Target="../media/image144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62.png"/><Relationship Id="rId5" Type="http://schemas.openxmlformats.org/officeDocument/2006/relationships/image" Target="../media/image2.png"/><Relationship Id="rId15" Type="http://schemas.openxmlformats.org/officeDocument/2006/relationships/image" Target="../media/image142.png"/><Relationship Id="rId10" Type="http://schemas.openxmlformats.org/officeDocument/2006/relationships/image" Target="../media/image138.png"/><Relationship Id="rId4" Type="http://schemas.openxmlformats.org/officeDocument/2006/relationships/image" Target="../media/image134.png"/><Relationship Id="rId9" Type="http://schemas.openxmlformats.org/officeDocument/2006/relationships/image" Target="../media/image137.png"/><Relationship Id="rId14" Type="http://schemas.openxmlformats.org/officeDocument/2006/relationships/image" Target="../media/image1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6.png"/><Relationship Id="rId13" Type="http://schemas.openxmlformats.org/officeDocument/2006/relationships/image" Target="../media/image82.png"/><Relationship Id="rId3" Type="http://schemas.openxmlformats.org/officeDocument/2006/relationships/image" Target="../media/image1.png"/><Relationship Id="rId7" Type="http://schemas.openxmlformats.org/officeDocument/2006/relationships/image" Target="../media/image145.png"/><Relationship Id="rId12" Type="http://schemas.openxmlformats.org/officeDocument/2006/relationships/image" Target="../media/image149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48.png"/><Relationship Id="rId5" Type="http://schemas.openxmlformats.org/officeDocument/2006/relationships/image" Target="../media/image3.png"/><Relationship Id="rId15" Type="http://schemas.openxmlformats.org/officeDocument/2006/relationships/image" Target="../media/image56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47.png"/><Relationship Id="rId14" Type="http://schemas.openxmlformats.org/officeDocument/2006/relationships/image" Target="../media/image12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13" Type="http://schemas.openxmlformats.org/officeDocument/2006/relationships/image" Target="../media/image156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50.png"/><Relationship Id="rId12" Type="http://schemas.openxmlformats.org/officeDocument/2006/relationships/image" Target="../media/image155.png"/><Relationship Id="rId17" Type="http://schemas.openxmlformats.org/officeDocument/2006/relationships/image" Target="../media/image160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5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54.png"/><Relationship Id="rId5" Type="http://schemas.openxmlformats.org/officeDocument/2006/relationships/image" Target="../media/image2.png"/><Relationship Id="rId15" Type="http://schemas.openxmlformats.org/officeDocument/2006/relationships/image" Target="../media/image158.png"/><Relationship Id="rId10" Type="http://schemas.openxmlformats.org/officeDocument/2006/relationships/image" Target="../media/image153.png"/><Relationship Id="rId4" Type="http://schemas.openxmlformats.org/officeDocument/2006/relationships/image" Target="../media/image134.png"/><Relationship Id="rId9" Type="http://schemas.openxmlformats.org/officeDocument/2006/relationships/image" Target="../media/image152.png"/><Relationship Id="rId14" Type="http://schemas.openxmlformats.org/officeDocument/2006/relationships/image" Target="../media/image15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2.png"/><Relationship Id="rId7" Type="http://schemas.openxmlformats.org/officeDocument/2006/relationships/image" Target="../media/image4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10" Type="http://schemas.openxmlformats.org/officeDocument/2006/relationships/image" Target="../media/image162.png"/><Relationship Id="rId4" Type="http://schemas.openxmlformats.org/officeDocument/2006/relationships/image" Target="../media/image3.png"/><Relationship Id="rId9" Type="http://schemas.openxmlformats.org/officeDocument/2006/relationships/image" Target="../media/image1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5438" y="4381500"/>
            <a:ext cx="152400" cy="1524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4963" y="5105400"/>
            <a:ext cx="13335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7450" y="6438900"/>
            <a:ext cx="114300" cy="114300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1706880" y="1581150"/>
            <a:ext cx="877824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kern="0" spc="-72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Sentiment Analysis</a:t>
            </a:r>
            <a:endParaRPr lang="en-US" sz="3600" dirty="0"/>
          </a:p>
        </p:txBody>
      </p:sp>
      <p:sp>
        <p:nvSpPr>
          <p:cNvPr id="9" name="Text 1"/>
          <p:cNvSpPr/>
          <p:nvPr/>
        </p:nvSpPr>
        <p:spPr>
          <a:xfrm>
            <a:off x="1706880" y="2190750"/>
            <a:ext cx="877824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A8D8B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First Principles to Transformers</a:t>
            </a:r>
            <a:endParaRPr lang="en-US" sz="2700" dirty="0"/>
          </a:p>
        </p:txBody>
      </p:sp>
      <p:sp>
        <p:nvSpPr>
          <p:cNvPr id="10" name="Text 2"/>
          <p:cNvSpPr/>
          <p:nvPr/>
        </p:nvSpPr>
        <p:spPr>
          <a:xfrm>
            <a:off x="2438400" y="2876550"/>
            <a:ext cx="73152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E5E7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comprehensive engineering-driven evaluation of NLP systems comparing classical ML approaches to modern Transformer architectures</a:t>
            </a:r>
            <a:endParaRPr lang="en-US" sz="1500" dirty="0"/>
          </a:p>
        </p:txBody>
      </p:sp>
      <p:sp>
        <p:nvSpPr>
          <p:cNvPr id="11" name="Text 3"/>
          <p:cNvSpPr/>
          <p:nvPr/>
        </p:nvSpPr>
        <p:spPr>
          <a:xfrm>
            <a:off x="5713095" y="4132847"/>
            <a:ext cx="133731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Mohammad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#300480272</a:t>
            </a:r>
          </a:p>
          <a:p>
            <a:pPr marL="0" indent="0">
              <a:lnSpc>
                <a:spcPts val="2100"/>
              </a:lnSpc>
              <a:buNone/>
            </a:pPr>
            <a:endParaRPr lang="en-US" sz="1500" b="1" dirty="0">
              <a:solidFill>
                <a:srgbClr val="FFFFFF"/>
              </a:solidFill>
              <a:latin typeface="Open Sans" pitchFamily="34" charset="0"/>
              <a:ea typeface="Open Sans" pitchFamily="34" charset="-122"/>
              <a:cs typeface="Open Sans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12" name="Text 4"/>
          <p:cNvSpPr/>
          <p:nvPr/>
        </p:nvSpPr>
        <p:spPr>
          <a:xfrm>
            <a:off x="4291013" y="4667250"/>
            <a:ext cx="43319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Master's of Engineering, University of Ottawa</a:t>
            </a:r>
            <a:endParaRPr lang="en-US" sz="1350" dirty="0"/>
          </a:p>
        </p:txBody>
      </p:sp>
      <p:sp>
        <p:nvSpPr>
          <p:cNvPr id="13" name="Text 5"/>
          <p:cNvSpPr/>
          <p:nvPr/>
        </p:nvSpPr>
        <p:spPr>
          <a:xfrm>
            <a:off x="5624513" y="5086350"/>
            <a:ext cx="13830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December 2, 2025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850" y="1552575"/>
            <a:ext cx="5334000" cy="483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450" y="1781175"/>
            <a:ext cx="476250" cy="4762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7275" y="1866900"/>
            <a:ext cx="22860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9650" y="3436144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9650" y="3740944"/>
            <a:ext cx="1905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650" y="4045744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43650" y="1552575"/>
            <a:ext cx="5334000" cy="4838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2250" y="1781175"/>
            <a:ext cx="476250" cy="4762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96075" y="1866900"/>
            <a:ext cx="2286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48450" y="3119438"/>
            <a:ext cx="762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48450" y="3424238"/>
            <a:ext cx="762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48450" y="3729038"/>
            <a:ext cx="762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382375" y="6496050"/>
            <a:ext cx="76200" cy="762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534775" y="6496050"/>
            <a:ext cx="76200" cy="76200"/>
          </a:xfrm>
          <a:prstGeom prst="rect">
            <a:avLst/>
          </a:prstGeom>
        </p:spPr>
      </p:pic>
      <p:sp>
        <p:nvSpPr>
          <p:cNvPr id="19" name="Text 0"/>
          <p:cNvSpPr/>
          <p:nvPr/>
        </p:nvSpPr>
        <p:spPr>
          <a:xfrm>
            <a:off x="609600" y="6096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Goal &amp; Problem Statement</a:t>
            </a:r>
            <a:endParaRPr lang="en-US" sz="2700" dirty="0"/>
          </a:p>
        </p:txBody>
      </p:sp>
      <p:sp>
        <p:nvSpPr>
          <p:cNvPr id="20" name="Text 1"/>
          <p:cNvSpPr/>
          <p:nvPr/>
        </p:nvSpPr>
        <p:spPr>
          <a:xfrm>
            <a:off x="1562100" y="1866900"/>
            <a:ext cx="17602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Goal</a:t>
            </a:r>
            <a:endParaRPr lang="en-US" sz="1800" dirty="0"/>
          </a:p>
        </p:txBody>
      </p:sp>
      <p:sp>
        <p:nvSpPr>
          <p:cNvPr id="21" name="Text 2"/>
          <p:cNvSpPr/>
          <p:nvPr/>
        </p:nvSpPr>
        <p:spPr>
          <a:xfrm>
            <a:off x="933450" y="2409825"/>
            <a:ext cx="4876800" cy="83581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94"/>
              </a:lnSpc>
              <a:buNone/>
            </a:pPr>
            <a:r>
              <a:rPr lang="en-US" sz="13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Conduct a comprehensive, engineering-driven evaluation of NLP systems, comparing methodologies from classical ML to modern Transformer architectures.</a:t>
            </a:r>
            <a:endParaRPr lang="en-US" sz="1350" dirty="0"/>
          </a:p>
        </p:txBody>
      </p:sp>
      <p:sp>
        <p:nvSpPr>
          <p:cNvPr id="22" name="Text 3"/>
          <p:cNvSpPr/>
          <p:nvPr/>
        </p:nvSpPr>
        <p:spPr>
          <a:xfrm>
            <a:off x="1276350" y="3398044"/>
            <a:ext cx="48806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Focus on trade-offs between performance and efficiency</a:t>
            </a:r>
            <a:endParaRPr lang="en-US" sz="1200" dirty="0"/>
          </a:p>
        </p:txBody>
      </p:sp>
      <p:sp>
        <p:nvSpPr>
          <p:cNvPr id="23" name="Text 4"/>
          <p:cNvSpPr/>
          <p:nvPr/>
        </p:nvSpPr>
        <p:spPr>
          <a:xfrm>
            <a:off x="1314450" y="3702844"/>
            <a:ext cx="4114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Systematic comparison of diverse architectures</a:t>
            </a:r>
            <a:endParaRPr lang="en-US" sz="1200" dirty="0"/>
          </a:p>
        </p:txBody>
      </p:sp>
      <p:sp>
        <p:nvSpPr>
          <p:cNvPr id="24" name="Text 5"/>
          <p:cNvSpPr/>
          <p:nvPr/>
        </p:nvSpPr>
        <p:spPr>
          <a:xfrm>
            <a:off x="1276350" y="4007644"/>
            <a:ext cx="42976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Analysis under real-world engineering constraints</a:t>
            </a:r>
            <a:endParaRPr lang="en-US" sz="1200" dirty="0"/>
          </a:p>
        </p:txBody>
      </p:sp>
      <p:sp>
        <p:nvSpPr>
          <p:cNvPr id="25" name="Text 6"/>
          <p:cNvSpPr/>
          <p:nvPr/>
        </p:nvSpPr>
        <p:spPr>
          <a:xfrm>
            <a:off x="7200900" y="1866900"/>
            <a:ext cx="282321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Problem Statement</a:t>
            </a:r>
            <a:endParaRPr lang="en-US" sz="1800" dirty="0"/>
          </a:p>
        </p:txBody>
      </p:sp>
      <p:sp>
        <p:nvSpPr>
          <p:cNvPr id="26" name="Text 7"/>
          <p:cNvSpPr/>
          <p:nvPr/>
        </p:nvSpPr>
        <p:spPr>
          <a:xfrm>
            <a:off x="6572250" y="2409825"/>
            <a:ext cx="4876800" cy="5572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94"/>
              </a:lnSpc>
              <a:buNone/>
            </a:pPr>
            <a:r>
              <a:rPr lang="en-US" sz="13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Despite widespread adoption of models like BERT and GPT, there's a significant gap in understanding:</a:t>
            </a:r>
            <a:endParaRPr lang="en-US" sz="1350" dirty="0"/>
          </a:p>
        </p:txBody>
      </p:sp>
      <p:sp>
        <p:nvSpPr>
          <p:cNvPr id="27" name="Text 8"/>
          <p:cNvSpPr/>
          <p:nvPr/>
        </p:nvSpPr>
        <p:spPr>
          <a:xfrm>
            <a:off x="6838950" y="3081338"/>
            <a:ext cx="32804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Underlying mechanics of NLP systems</a:t>
            </a:r>
            <a:endParaRPr lang="en-US" sz="1200" dirty="0"/>
          </a:p>
        </p:txBody>
      </p:sp>
      <p:sp>
        <p:nvSpPr>
          <p:cNvPr id="28" name="Text 9"/>
          <p:cNvSpPr/>
          <p:nvPr/>
        </p:nvSpPr>
        <p:spPr>
          <a:xfrm>
            <a:off x="6838950" y="3386138"/>
            <a:ext cx="49263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Comparison between classical and modern architectures</a:t>
            </a:r>
            <a:endParaRPr lang="en-US" sz="1200" dirty="0"/>
          </a:p>
        </p:txBody>
      </p:sp>
      <p:sp>
        <p:nvSpPr>
          <p:cNvPr id="29" name="Text 10"/>
          <p:cNvSpPr/>
          <p:nvPr/>
        </p:nvSpPr>
        <p:spPr>
          <a:xfrm>
            <a:off x="6838950" y="3690937"/>
            <a:ext cx="51549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Engineer challenges in optimizing for constrained hardware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6572250" y="4071938"/>
            <a:ext cx="4876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"Addresses this with end-to-end empirical analysis of NLP architectures"</a:t>
            </a:r>
            <a:endParaRPr lang="en-US" sz="1200" dirty="0"/>
          </a:p>
        </p:txBody>
      </p:sp>
      <p:sp>
        <p:nvSpPr>
          <p:cNvPr id="31" name="Text 12"/>
          <p:cNvSpPr/>
          <p:nvPr/>
        </p:nvSpPr>
        <p:spPr>
          <a:xfrm>
            <a:off x="11687175" y="6438900"/>
            <a:ext cx="3314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2/13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025" y="1409700"/>
            <a:ext cx="5334000" cy="4914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525" y="2057400"/>
            <a:ext cx="4953000" cy="838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5825" y="2057400"/>
            <a:ext cx="381000" cy="381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075" y="2114550"/>
            <a:ext cx="190500" cy="26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525" y="3009900"/>
            <a:ext cx="4953000" cy="8763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825" y="3009900"/>
            <a:ext cx="381000" cy="381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0600" y="3067050"/>
            <a:ext cx="17145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43025" y="3467100"/>
            <a:ext cx="1524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43025" y="3695700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1525" y="4000500"/>
            <a:ext cx="4953000" cy="6477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825" y="4000500"/>
            <a:ext cx="381000" cy="3810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57263" y="4057650"/>
            <a:ext cx="23812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1525" y="4762500"/>
            <a:ext cx="4953000" cy="6477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5825" y="4762500"/>
            <a:ext cx="381000" cy="3810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04887" y="4819650"/>
            <a:ext cx="142875" cy="2667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9825" y="1409700"/>
            <a:ext cx="5334000" cy="49149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48425" y="1981200"/>
            <a:ext cx="4876800" cy="18288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10325" y="5600700"/>
            <a:ext cx="4953000" cy="533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23900" y="5800725"/>
            <a:ext cx="133350" cy="13335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82375" y="6496050"/>
            <a:ext cx="76200" cy="762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534775" y="6496050"/>
            <a:ext cx="76200" cy="76200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609600" y="6096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Dataset Overview - AG News Corpus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771525" y="1600200"/>
            <a:ext cx="5943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Dataset Characteristics</a:t>
            </a:r>
            <a:endParaRPr lang="en-US" sz="1800" dirty="0"/>
          </a:p>
        </p:txBody>
      </p:sp>
      <p:sp>
        <p:nvSpPr>
          <p:cNvPr id="28" name="Text 2"/>
          <p:cNvSpPr/>
          <p:nvPr/>
        </p:nvSpPr>
        <p:spPr>
          <a:xfrm>
            <a:off x="1381125" y="2114550"/>
            <a:ext cx="53721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Task</a:t>
            </a:r>
            <a:endParaRPr lang="en-US" sz="1500" dirty="0"/>
          </a:p>
        </p:txBody>
      </p:sp>
      <p:sp>
        <p:nvSpPr>
          <p:cNvPr id="29" name="Text 3"/>
          <p:cNvSpPr/>
          <p:nvPr/>
        </p:nvSpPr>
        <p:spPr>
          <a:xfrm>
            <a:off x="1343025" y="2476500"/>
            <a:ext cx="5257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4-class topic classification</a:t>
            </a:r>
            <a:endParaRPr lang="en-US" sz="1200" dirty="0"/>
          </a:p>
        </p:txBody>
      </p:sp>
      <p:sp>
        <p:nvSpPr>
          <p:cNvPr id="30" name="Text 4"/>
          <p:cNvSpPr/>
          <p:nvPr/>
        </p:nvSpPr>
        <p:spPr>
          <a:xfrm>
            <a:off x="1343025" y="2705100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World, Sports, Business, Sci/Tech</a:t>
            </a:r>
            <a:endParaRPr lang="en-US" sz="1050" dirty="0"/>
          </a:p>
        </p:txBody>
      </p:sp>
      <p:sp>
        <p:nvSpPr>
          <p:cNvPr id="31" name="Text 5"/>
          <p:cNvSpPr/>
          <p:nvPr/>
        </p:nvSpPr>
        <p:spPr>
          <a:xfrm>
            <a:off x="1381125" y="3067050"/>
            <a:ext cx="49149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Size</a:t>
            </a:r>
            <a:endParaRPr lang="en-US" sz="1500" dirty="0"/>
          </a:p>
        </p:txBody>
      </p:sp>
      <p:sp>
        <p:nvSpPr>
          <p:cNvPr id="32" name="Text 6"/>
          <p:cNvSpPr/>
          <p:nvPr/>
        </p:nvSpPr>
        <p:spPr>
          <a:xfrm>
            <a:off x="1571625" y="3429000"/>
            <a:ext cx="5257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120,000 training samples</a:t>
            </a:r>
            <a:endParaRPr lang="en-US" sz="1200" dirty="0"/>
          </a:p>
        </p:txBody>
      </p:sp>
      <p:sp>
        <p:nvSpPr>
          <p:cNvPr id="33" name="Text 7"/>
          <p:cNvSpPr/>
          <p:nvPr/>
        </p:nvSpPr>
        <p:spPr>
          <a:xfrm>
            <a:off x="1571625" y="3657600"/>
            <a:ext cx="4381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7,600 test samples</a:t>
            </a:r>
            <a:endParaRPr lang="en-US" sz="1200" dirty="0"/>
          </a:p>
        </p:txBody>
      </p:sp>
      <p:sp>
        <p:nvSpPr>
          <p:cNvPr id="34" name="Text 8"/>
          <p:cNvSpPr/>
          <p:nvPr/>
        </p:nvSpPr>
        <p:spPr>
          <a:xfrm>
            <a:off x="1381125" y="4057650"/>
            <a:ext cx="960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Balance</a:t>
            </a:r>
            <a:endParaRPr lang="en-US" sz="1500" dirty="0"/>
          </a:p>
        </p:txBody>
      </p:sp>
      <p:sp>
        <p:nvSpPr>
          <p:cNvPr id="35" name="Text 9"/>
          <p:cNvSpPr/>
          <p:nvPr/>
        </p:nvSpPr>
        <p:spPr>
          <a:xfrm>
            <a:off x="1343025" y="4419600"/>
            <a:ext cx="5257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Equal number of documents per class</a:t>
            </a:r>
            <a:endParaRPr lang="en-US" sz="1200" dirty="0"/>
          </a:p>
        </p:txBody>
      </p:sp>
      <p:sp>
        <p:nvSpPr>
          <p:cNvPr id="36" name="Text 10"/>
          <p:cNvSpPr/>
          <p:nvPr/>
        </p:nvSpPr>
        <p:spPr>
          <a:xfrm>
            <a:off x="1381125" y="4819650"/>
            <a:ext cx="22288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 Length</a:t>
            </a:r>
            <a:endParaRPr lang="en-US" sz="1500" dirty="0"/>
          </a:p>
        </p:txBody>
      </p:sp>
      <p:sp>
        <p:nvSpPr>
          <p:cNvPr id="37" name="Text 11"/>
          <p:cNvSpPr/>
          <p:nvPr/>
        </p:nvSpPr>
        <p:spPr>
          <a:xfrm>
            <a:off x="1343025" y="5181600"/>
            <a:ext cx="5257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Average of 37.85 words</a:t>
            </a:r>
            <a:endParaRPr lang="en-US" sz="1200" dirty="0"/>
          </a:p>
        </p:txBody>
      </p:sp>
      <p:sp>
        <p:nvSpPr>
          <p:cNvPr id="38" name="Text 12"/>
          <p:cNvSpPr/>
          <p:nvPr/>
        </p:nvSpPr>
        <p:spPr>
          <a:xfrm>
            <a:off x="6410325" y="1600200"/>
            <a:ext cx="4953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Class Distribution</a:t>
            </a:r>
            <a:endParaRPr lang="en-US" sz="1800" dirty="0"/>
          </a:p>
        </p:txBody>
      </p:sp>
      <p:sp>
        <p:nvSpPr>
          <p:cNvPr id="39" name="Text 13"/>
          <p:cNvSpPr/>
          <p:nvPr/>
        </p:nvSpPr>
        <p:spPr>
          <a:xfrm>
            <a:off x="923925" y="5705475"/>
            <a:ext cx="4800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The AG News dataset contains 4 classes: World, Sports, Business, and Science/Technology.</a:t>
            </a:r>
            <a:endParaRPr lang="en-US" sz="1050" dirty="0"/>
          </a:p>
        </p:txBody>
      </p:sp>
      <p:sp>
        <p:nvSpPr>
          <p:cNvPr id="40" name="Text 14"/>
          <p:cNvSpPr/>
          <p:nvPr/>
        </p:nvSpPr>
        <p:spPr>
          <a:xfrm>
            <a:off x="11687175" y="6438900"/>
            <a:ext cx="3314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3/13</a:t>
            </a:r>
            <a:endParaRPr lang="en-US" sz="1050" dirty="0"/>
          </a:p>
        </p:txBody>
      </p:sp>
      <p:pic>
        <p:nvPicPr>
          <p:cNvPr id="42" name="Picture 41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3901362C-5143-D85E-61AF-19778C7D35D5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448425" y="4191000"/>
            <a:ext cx="4876800" cy="19570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139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7160" y="1552575"/>
            <a:ext cx="200025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7160" y="1971675"/>
            <a:ext cx="3606850" cy="14859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79560" y="2162175"/>
            <a:ext cx="171450" cy="190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55760" y="2505075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55760" y="2809875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55760" y="3114675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7160" y="3609975"/>
            <a:ext cx="3606850" cy="14859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79560" y="3800475"/>
            <a:ext cx="190500" cy="190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55760" y="4143375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55760" y="4448175"/>
            <a:ext cx="1524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55760" y="4752975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94659" y="1539961"/>
            <a:ext cx="228600" cy="228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94659" y="1959061"/>
            <a:ext cx="3606850" cy="11430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47059" y="2149561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23259" y="2492461"/>
            <a:ext cx="762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23259" y="2759161"/>
            <a:ext cx="762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94659" y="3254461"/>
            <a:ext cx="3606850" cy="11430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7059" y="3444961"/>
            <a:ext cx="171450" cy="1905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23259" y="3787861"/>
            <a:ext cx="762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23259" y="4054561"/>
            <a:ext cx="762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94659" y="4549861"/>
            <a:ext cx="3606850" cy="13716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47059" y="4740361"/>
            <a:ext cx="190500" cy="1905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23259" y="5083261"/>
            <a:ext cx="7620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23259" y="5349961"/>
            <a:ext cx="76200" cy="1524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382375" y="6496050"/>
            <a:ext cx="76200" cy="762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534775" y="6496050"/>
            <a:ext cx="76200" cy="76200"/>
          </a:xfrm>
          <a:prstGeom prst="rect">
            <a:avLst/>
          </a:prstGeom>
        </p:spPr>
      </p:pic>
      <p:sp>
        <p:nvSpPr>
          <p:cNvPr id="34" name="Text 0"/>
          <p:cNvSpPr/>
          <p:nvPr/>
        </p:nvSpPr>
        <p:spPr>
          <a:xfrm>
            <a:off x="457200" y="457200"/>
            <a:ext cx="1353312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Classical Machine Learning Approaches</a:t>
            </a:r>
            <a:endParaRPr lang="en-US" sz="2700" dirty="0"/>
          </a:p>
        </p:txBody>
      </p:sp>
      <p:sp>
        <p:nvSpPr>
          <p:cNvPr id="35" name="Text 1"/>
          <p:cNvSpPr/>
          <p:nvPr/>
        </p:nvSpPr>
        <p:spPr>
          <a:xfrm>
            <a:off x="1631960" y="1502891"/>
            <a:ext cx="43282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Extraction</a:t>
            </a:r>
            <a:endParaRPr lang="en-US" sz="1800" dirty="0"/>
          </a:p>
        </p:txBody>
      </p:sp>
      <p:sp>
        <p:nvSpPr>
          <p:cNvPr id="36" name="Text 2"/>
          <p:cNvSpPr/>
          <p:nvPr/>
        </p:nvSpPr>
        <p:spPr>
          <a:xfrm>
            <a:off x="1784360" y="2090738"/>
            <a:ext cx="39624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Bag-of-Words (BoW)</a:t>
            </a:r>
            <a:endParaRPr lang="en-US" sz="1500" dirty="0"/>
          </a:p>
        </p:txBody>
      </p:sp>
      <p:sp>
        <p:nvSpPr>
          <p:cNvPr id="37" name="Text 3"/>
          <p:cNvSpPr/>
          <p:nvPr/>
        </p:nvSpPr>
        <p:spPr>
          <a:xfrm>
            <a:off x="1784360" y="2466975"/>
            <a:ext cx="30861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CountVectorizer for 5,000 unigrams</a:t>
            </a:r>
            <a:endParaRPr lang="en-US" sz="1200" dirty="0"/>
          </a:p>
        </p:txBody>
      </p:sp>
      <p:sp>
        <p:nvSpPr>
          <p:cNvPr id="38" name="Text 4"/>
          <p:cNvSpPr/>
          <p:nvPr/>
        </p:nvSpPr>
        <p:spPr>
          <a:xfrm>
            <a:off x="1784360" y="2771775"/>
            <a:ext cx="30518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Foundation of information retrieval</a:t>
            </a:r>
            <a:endParaRPr lang="en-US" sz="1200" dirty="0"/>
          </a:p>
        </p:txBody>
      </p:sp>
      <p:sp>
        <p:nvSpPr>
          <p:cNvPr id="39" name="Text 5"/>
          <p:cNvSpPr/>
          <p:nvPr/>
        </p:nvSpPr>
        <p:spPr>
          <a:xfrm>
            <a:off x="1784360" y="3076575"/>
            <a:ext cx="2537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Sparse vector representation</a:t>
            </a:r>
            <a:endParaRPr lang="en-US" sz="1200" dirty="0"/>
          </a:p>
        </p:txBody>
      </p:sp>
      <p:sp>
        <p:nvSpPr>
          <p:cNvPr id="40" name="Text 6"/>
          <p:cNvSpPr/>
          <p:nvPr/>
        </p:nvSpPr>
        <p:spPr>
          <a:xfrm>
            <a:off x="1746260" y="3762375"/>
            <a:ext cx="33020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TF-IDF</a:t>
            </a:r>
            <a:endParaRPr lang="en-US" sz="1500" dirty="0"/>
          </a:p>
        </p:txBody>
      </p:sp>
      <p:sp>
        <p:nvSpPr>
          <p:cNvPr id="41" name="Text 7"/>
          <p:cNvSpPr/>
          <p:nvPr/>
        </p:nvSpPr>
        <p:spPr>
          <a:xfrm>
            <a:off x="1784360" y="4105275"/>
            <a:ext cx="27546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TF-IDF vectorizer with 1-2 grams</a:t>
            </a:r>
            <a:endParaRPr lang="en-US" sz="1200" dirty="0"/>
          </a:p>
        </p:txBody>
      </p:sp>
      <p:sp>
        <p:nvSpPr>
          <p:cNvPr id="42" name="Text 8"/>
          <p:cNvSpPr/>
          <p:nvPr/>
        </p:nvSpPr>
        <p:spPr>
          <a:xfrm>
            <a:off x="1784360" y="4410075"/>
            <a:ext cx="16230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Max 5,000 features</a:t>
            </a:r>
            <a:endParaRPr lang="en-US" sz="1200" dirty="0"/>
          </a:p>
        </p:txBody>
      </p:sp>
      <p:sp>
        <p:nvSpPr>
          <p:cNvPr id="43" name="Text 9"/>
          <p:cNvSpPr/>
          <p:nvPr/>
        </p:nvSpPr>
        <p:spPr>
          <a:xfrm>
            <a:off x="1784360" y="4714875"/>
            <a:ext cx="2446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Weighted document vectors</a:t>
            </a:r>
            <a:endParaRPr lang="en-US" sz="1200" dirty="0"/>
          </a:p>
        </p:txBody>
      </p:sp>
      <p:sp>
        <p:nvSpPr>
          <p:cNvPr id="44" name="Text 10"/>
          <p:cNvSpPr/>
          <p:nvPr/>
        </p:nvSpPr>
        <p:spPr>
          <a:xfrm>
            <a:off x="7718509" y="1501861"/>
            <a:ext cx="43282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Classical Models</a:t>
            </a:r>
            <a:endParaRPr lang="en-US" sz="1800" dirty="0"/>
          </a:p>
        </p:txBody>
      </p:sp>
      <p:sp>
        <p:nvSpPr>
          <p:cNvPr id="45" name="Text 11"/>
          <p:cNvSpPr/>
          <p:nvPr/>
        </p:nvSpPr>
        <p:spPr>
          <a:xfrm>
            <a:off x="7813759" y="2119442"/>
            <a:ext cx="39624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Logistic Regression</a:t>
            </a:r>
            <a:endParaRPr lang="en-US" sz="1500" dirty="0"/>
          </a:p>
        </p:txBody>
      </p:sp>
      <p:sp>
        <p:nvSpPr>
          <p:cNvPr id="46" name="Text 12"/>
          <p:cNvSpPr/>
          <p:nvPr/>
        </p:nvSpPr>
        <p:spPr>
          <a:xfrm>
            <a:off x="7775659" y="2454361"/>
            <a:ext cx="13373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Linear classifier</a:t>
            </a:r>
            <a:endParaRPr lang="en-US" sz="1200" dirty="0"/>
          </a:p>
        </p:txBody>
      </p:sp>
      <p:sp>
        <p:nvSpPr>
          <p:cNvPr id="47" name="Text 13"/>
          <p:cNvSpPr/>
          <p:nvPr/>
        </p:nvSpPr>
        <p:spPr>
          <a:xfrm>
            <a:off x="7775659" y="2721061"/>
            <a:ext cx="29832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Efficient on linearly separable data</a:t>
            </a:r>
            <a:endParaRPr lang="en-US" sz="1200" dirty="0"/>
          </a:p>
        </p:txBody>
      </p:sp>
      <p:sp>
        <p:nvSpPr>
          <p:cNvPr id="48" name="Text 14"/>
          <p:cNvSpPr/>
          <p:nvPr/>
        </p:nvSpPr>
        <p:spPr>
          <a:xfrm>
            <a:off x="7794709" y="3406861"/>
            <a:ext cx="33020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Random Forest</a:t>
            </a:r>
            <a:endParaRPr lang="en-US" sz="1500" dirty="0"/>
          </a:p>
        </p:txBody>
      </p:sp>
      <p:sp>
        <p:nvSpPr>
          <p:cNvPr id="49" name="Text 15"/>
          <p:cNvSpPr/>
          <p:nvPr/>
        </p:nvSpPr>
        <p:spPr>
          <a:xfrm>
            <a:off x="7775659" y="3749761"/>
            <a:ext cx="23202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Ensemble of decision trees</a:t>
            </a:r>
            <a:endParaRPr lang="en-US" sz="1200" dirty="0"/>
          </a:p>
        </p:txBody>
      </p:sp>
      <p:sp>
        <p:nvSpPr>
          <p:cNvPr id="50" name="Text 16"/>
          <p:cNvSpPr/>
          <p:nvPr/>
        </p:nvSpPr>
        <p:spPr>
          <a:xfrm>
            <a:off x="7775659" y="4016461"/>
            <a:ext cx="29032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Captures non-linear relationships</a:t>
            </a:r>
            <a:endParaRPr lang="en-US" sz="1200" dirty="0"/>
          </a:p>
        </p:txBody>
      </p:sp>
      <p:sp>
        <p:nvSpPr>
          <p:cNvPr id="51" name="Text 17"/>
          <p:cNvSpPr/>
          <p:nvPr/>
        </p:nvSpPr>
        <p:spPr>
          <a:xfrm>
            <a:off x="7813759" y="4702261"/>
            <a:ext cx="33020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XGBoost</a:t>
            </a:r>
            <a:endParaRPr lang="en-US" sz="1500" dirty="0"/>
          </a:p>
        </p:txBody>
      </p:sp>
      <p:sp>
        <p:nvSpPr>
          <p:cNvPr id="52" name="Text 18"/>
          <p:cNvSpPr/>
          <p:nvPr/>
        </p:nvSpPr>
        <p:spPr>
          <a:xfrm>
            <a:off x="7775659" y="5045161"/>
            <a:ext cx="28003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Gradient-boosted decision trees</a:t>
            </a:r>
            <a:endParaRPr lang="en-US" sz="1200" dirty="0"/>
          </a:p>
        </p:txBody>
      </p:sp>
      <p:sp>
        <p:nvSpPr>
          <p:cNvPr id="53" name="Text 19"/>
          <p:cNvSpPr/>
          <p:nvPr/>
        </p:nvSpPr>
        <p:spPr>
          <a:xfrm>
            <a:off x="7775659" y="5311861"/>
            <a:ext cx="30734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Enhanced performance over Random Forests</a:t>
            </a:r>
            <a:endParaRPr lang="en-US" sz="1200" dirty="0"/>
          </a:p>
        </p:txBody>
      </p:sp>
      <p:sp>
        <p:nvSpPr>
          <p:cNvPr id="56" name="Text 22"/>
          <p:cNvSpPr/>
          <p:nvPr/>
        </p:nvSpPr>
        <p:spPr>
          <a:xfrm>
            <a:off x="11687175" y="6438900"/>
            <a:ext cx="3314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4/13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C7E5A7F-F91E-6352-5192-5706012DC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23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6B09B0E7-1575-4646-8A3B-45B00A8CE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5" name="Image 28" descr="preencoded.png">
            <a:extLst>
              <a:ext uri="{FF2B5EF4-FFF2-40B4-BE49-F238E27FC236}">
                <a16:creationId xmlns:a16="http://schemas.microsoft.com/office/drawing/2014/main" id="{1DA2D8FB-0DDE-F966-29AD-7620BF168E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7099" y="1435745"/>
            <a:ext cx="3606850" cy="4762500"/>
          </a:xfrm>
          <a:prstGeom prst="rect">
            <a:avLst/>
          </a:prstGeom>
        </p:spPr>
      </p:pic>
      <p:sp>
        <p:nvSpPr>
          <p:cNvPr id="8" name="Text 21">
            <a:extLst>
              <a:ext uri="{FF2B5EF4-FFF2-40B4-BE49-F238E27FC236}">
                <a16:creationId xmlns:a16="http://schemas.microsoft.com/office/drawing/2014/main" id="{26800264-8294-1B9B-367E-594610A110AE}"/>
              </a:ext>
            </a:extLst>
          </p:cNvPr>
          <p:cNvSpPr/>
          <p:nvPr/>
        </p:nvSpPr>
        <p:spPr>
          <a:xfrm>
            <a:off x="6791399" y="5038725"/>
            <a:ext cx="337825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Figure: TF-IDF Vectorizer Workflow for different Models</a:t>
            </a:r>
            <a:endParaRPr lang="en-US" sz="1050" dirty="0"/>
          </a:p>
        </p:txBody>
      </p:sp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287A80DF-4AEB-0A2F-75AE-6AF6B5798C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7698" y="4465"/>
            <a:ext cx="4063901" cy="2286000"/>
          </a:xfrm>
          <a:prstGeom prst="rect">
            <a:avLst/>
          </a:prstGeom>
        </p:spPr>
      </p:pic>
      <p:pic>
        <p:nvPicPr>
          <p:cNvPr id="10" name="Image 28" descr="preencoded.png">
            <a:extLst>
              <a:ext uri="{FF2B5EF4-FFF2-40B4-BE49-F238E27FC236}">
                <a16:creationId xmlns:a16="http://schemas.microsoft.com/office/drawing/2014/main" id="{73EDF302-3A08-C7AC-15CD-6124310511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8051" y="1435745"/>
            <a:ext cx="3606850" cy="4762500"/>
          </a:xfrm>
          <a:prstGeom prst="rect">
            <a:avLst/>
          </a:prstGeom>
        </p:spPr>
      </p:pic>
      <p:sp>
        <p:nvSpPr>
          <p:cNvPr id="11" name="Text 21">
            <a:extLst>
              <a:ext uri="{FF2B5EF4-FFF2-40B4-BE49-F238E27FC236}">
                <a16:creationId xmlns:a16="http://schemas.microsoft.com/office/drawing/2014/main" id="{05AABC5E-9E2C-BB46-7963-BA9909E060FF}"/>
              </a:ext>
            </a:extLst>
          </p:cNvPr>
          <p:cNvSpPr/>
          <p:nvPr/>
        </p:nvSpPr>
        <p:spPr>
          <a:xfrm>
            <a:off x="2022351" y="5038725"/>
            <a:ext cx="337825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Figure: Bag of Words Vectorizer Workflow for different  Models</a:t>
            </a:r>
            <a:endParaRPr lang="en-US" sz="1050" dirty="0"/>
          </a:p>
        </p:txBody>
      </p:sp>
      <p:pic>
        <p:nvPicPr>
          <p:cNvPr id="18" name="Image 27" descr="preencoded.png">
            <a:extLst>
              <a:ext uri="{FF2B5EF4-FFF2-40B4-BE49-F238E27FC236}">
                <a16:creationId xmlns:a16="http://schemas.microsoft.com/office/drawing/2014/main" id="{DE5A1D1C-DE75-1772-761D-393CA7082B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426" y="405016"/>
            <a:ext cx="257175" cy="228600"/>
          </a:xfrm>
          <a:prstGeom prst="rect">
            <a:avLst/>
          </a:prstGeom>
        </p:spPr>
      </p:pic>
      <p:sp>
        <p:nvSpPr>
          <p:cNvPr id="19" name="Text 20">
            <a:extLst>
              <a:ext uri="{FF2B5EF4-FFF2-40B4-BE49-F238E27FC236}">
                <a16:creationId xmlns:a16="http://schemas.microsoft.com/office/drawing/2014/main" id="{912D4A89-CA84-8837-8C1D-97523BAB3A6D}"/>
              </a:ext>
            </a:extLst>
          </p:cNvPr>
          <p:cNvSpPr/>
          <p:nvPr/>
        </p:nvSpPr>
        <p:spPr>
          <a:xfrm>
            <a:off x="5514901" y="366916"/>
            <a:ext cx="36068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Workflow</a:t>
            </a:r>
            <a:endParaRPr lang="en-US" sz="1800" dirty="0"/>
          </a:p>
        </p:txBody>
      </p:sp>
      <p:pic>
        <p:nvPicPr>
          <p:cNvPr id="22" name="Picture 21" descr="A diagram of a model&#10;&#10;AI-generated content may be incorrect.">
            <a:extLst>
              <a:ext uri="{FF2B5EF4-FFF2-40B4-BE49-F238E27FC236}">
                <a16:creationId xmlns:a16="http://schemas.microsoft.com/office/drawing/2014/main" id="{9238AFA3-C0C2-A10B-B788-E6EBB66108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41401" y="1776295"/>
            <a:ext cx="3378250" cy="2707450"/>
          </a:xfrm>
          <a:prstGeom prst="rect">
            <a:avLst/>
          </a:prstGeom>
        </p:spPr>
      </p:pic>
      <p:pic>
        <p:nvPicPr>
          <p:cNvPr id="24" name="Picture 23" descr="A diagram of a model&#10;&#10;AI-generated content may be incorrect.">
            <a:extLst>
              <a:ext uri="{FF2B5EF4-FFF2-40B4-BE49-F238E27FC236}">
                <a16:creationId xmlns:a16="http://schemas.microsoft.com/office/drawing/2014/main" id="{BF8F7D5E-3CCB-7F2E-5C73-18C62D4FD2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5841" y="1776295"/>
            <a:ext cx="3393808" cy="270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906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1457325"/>
            <a:ext cx="5372100" cy="4914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" y="1457325"/>
            <a:ext cx="5372100" cy="685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350" y="1724025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1550" y="3095625"/>
            <a:ext cx="952500" cy="762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81125" y="3209925"/>
            <a:ext cx="13335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14550" y="3095625"/>
            <a:ext cx="1143000" cy="914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00325" y="3209925"/>
            <a:ext cx="17145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48050" y="3095625"/>
            <a:ext cx="1143000" cy="723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43350" y="3209925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81550" y="3095625"/>
            <a:ext cx="1143000" cy="914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76850" y="3209925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24050" y="3190875"/>
            <a:ext cx="190500" cy="1905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57550" y="3190875"/>
            <a:ext cx="190500" cy="1905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91050" y="3190875"/>
            <a:ext cx="190500" cy="190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81050" y="4924425"/>
            <a:ext cx="1524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81050" y="5191125"/>
            <a:ext cx="1524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9350" y="1457325"/>
            <a:ext cx="5372100" cy="49149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229350" y="1457325"/>
            <a:ext cx="5372100" cy="914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89799" y="1838325"/>
            <a:ext cx="13335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572250" y="3552825"/>
            <a:ext cx="952500" cy="5715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81825" y="3667125"/>
            <a:ext cx="13335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715250" y="3552825"/>
            <a:ext cx="1143000" cy="10668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191500" y="3667125"/>
            <a:ext cx="19050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48750" y="3552825"/>
            <a:ext cx="1143000" cy="7239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544050" y="3667125"/>
            <a:ext cx="152400" cy="1524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382250" y="3552825"/>
            <a:ext cx="1143000" cy="914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877550" y="3667125"/>
            <a:ext cx="152400" cy="1524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24750" y="3648075"/>
            <a:ext cx="190500" cy="1905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58250" y="3648075"/>
            <a:ext cx="190500" cy="1905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191750" y="3648075"/>
            <a:ext cx="190500" cy="1905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81750" y="5381625"/>
            <a:ext cx="152400" cy="1524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81750" y="5648325"/>
            <a:ext cx="152400" cy="1524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1382375" y="6496050"/>
            <a:ext cx="76200" cy="762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1534775" y="6496050"/>
            <a:ext cx="76200" cy="76200"/>
          </a:xfrm>
          <a:prstGeom prst="rect">
            <a:avLst/>
          </a:prstGeom>
        </p:spPr>
      </p:pic>
      <p:sp>
        <p:nvSpPr>
          <p:cNvPr id="39" name="Text 0"/>
          <p:cNvSpPr/>
          <p:nvPr/>
        </p:nvSpPr>
        <p:spPr>
          <a:xfrm>
            <a:off x="609600" y="6096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Embedding-Based Deep Learning Models</a:t>
            </a:r>
            <a:endParaRPr lang="en-US" sz="2700" dirty="0"/>
          </a:p>
        </p:txBody>
      </p:sp>
      <p:sp>
        <p:nvSpPr>
          <p:cNvPr id="40" name="Text 1"/>
          <p:cNvSpPr/>
          <p:nvPr/>
        </p:nvSpPr>
        <p:spPr>
          <a:xfrm>
            <a:off x="1276350" y="1647825"/>
            <a:ext cx="50063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Neural Networks as First Principles</a:t>
            </a:r>
            <a:endParaRPr lang="en-US" sz="1800" dirty="0"/>
          </a:p>
        </p:txBody>
      </p:sp>
      <p:sp>
        <p:nvSpPr>
          <p:cNvPr id="41" name="Text 2"/>
          <p:cNvSpPr/>
          <p:nvPr/>
        </p:nvSpPr>
        <p:spPr>
          <a:xfrm>
            <a:off x="781050" y="2295525"/>
            <a:ext cx="5067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First principles of representation learning through neural embeddings with 100-300 dimensional learnable vector spaces for contextual text.</a:t>
            </a:r>
            <a:endParaRPr lang="en-US" sz="1200" dirty="0"/>
          </a:p>
        </p:txBody>
      </p:sp>
      <p:sp>
        <p:nvSpPr>
          <p:cNvPr id="42" name="Text 3"/>
          <p:cNvSpPr/>
          <p:nvPr/>
        </p:nvSpPr>
        <p:spPr>
          <a:xfrm>
            <a:off x="1085850" y="3400425"/>
            <a:ext cx="7239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Token Indices</a:t>
            </a:r>
            <a:endParaRPr lang="en-US" sz="1050" dirty="0"/>
          </a:p>
        </p:txBody>
      </p:sp>
      <p:sp>
        <p:nvSpPr>
          <p:cNvPr id="43" name="Text 4"/>
          <p:cNvSpPr/>
          <p:nvPr/>
        </p:nvSpPr>
        <p:spPr>
          <a:xfrm>
            <a:off x="2228850" y="3400425"/>
            <a:ext cx="914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Embedding Layer</a:t>
            </a:r>
            <a:endParaRPr lang="en-US" sz="1050" dirty="0"/>
          </a:p>
        </p:txBody>
      </p:sp>
      <p:sp>
        <p:nvSpPr>
          <p:cNvPr id="44" name="Text 5"/>
          <p:cNvSpPr/>
          <p:nvPr/>
        </p:nvSpPr>
        <p:spPr>
          <a:xfrm>
            <a:off x="2137410" y="3781425"/>
            <a:ext cx="10972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100-300 dims</a:t>
            </a:r>
            <a:endParaRPr lang="en-US" sz="900" dirty="0"/>
          </a:p>
        </p:txBody>
      </p:sp>
      <p:sp>
        <p:nvSpPr>
          <p:cNvPr id="45" name="Text 6"/>
          <p:cNvSpPr/>
          <p:nvPr/>
        </p:nvSpPr>
        <p:spPr>
          <a:xfrm>
            <a:off x="3470910" y="3400425"/>
            <a:ext cx="1097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Aggregation</a:t>
            </a:r>
            <a:endParaRPr lang="en-US" sz="1050" dirty="0"/>
          </a:p>
        </p:txBody>
      </p:sp>
      <p:sp>
        <p:nvSpPr>
          <p:cNvPr id="46" name="Text 7"/>
          <p:cNvSpPr/>
          <p:nvPr/>
        </p:nvSpPr>
        <p:spPr>
          <a:xfrm>
            <a:off x="3470910" y="3590925"/>
            <a:ext cx="10972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(Pooling)</a:t>
            </a:r>
            <a:endParaRPr lang="en-US" sz="900" dirty="0"/>
          </a:p>
        </p:txBody>
      </p:sp>
      <p:sp>
        <p:nvSpPr>
          <p:cNvPr id="47" name="Text 8"/>
          <p:cNvSpPr/>
          <p:nvPr/>
        </p:nvSpPr>
        <p:spPr>
          <a:xfrm>
            <a:off x="4895850" y="3400425"/>
            <a:ext cx="914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Neural Classifier</a:t>
            </a:r>
            <a:endParaRPr lang="en-US" sz="1050" dirty="0"/>
          </a:p>
        </p:txBody>
      </p:sp>
      <p:sp>
        <p:nvSpPr>
          <p:cNvPr id="48" name="Text 9"/>
          <p:cNvSpPr/>
          <p:nvPr/>
        </p:nvSpPr>
        <p:spPr>
          <a:xfrm>
            <a:off x="4804410" y="3781425"/>
            <a:ext cx="10972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CNN/MLP</a:t>
            </a:r>
            <a:endParaRPr lang="en-US" sz="900" dirty="0"/>
          </a:p>
        </p:txBody>
      </p:sp>
      <p:sp>
        <p:nvSpPr>
          <p:cNvPr id="49" name="Text 10"/>
          <p:cNvSpPr/>
          <p:nvPr/>
        </p:nvSpPr>
        <p:spPr>
          <a:xfrm>
            <a:off x="1009650" y="4886325"/>
            <a:ext cx="37147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Captures semantic relationships between words</a:t>
            </a:r>
            <a:endParaRPr lang="en-US" sz="1050" dirty="0"/>
          </a:p>
        </p:txBody>
      </p:sp>
      <p:sp>
        <p:nvSpPr>
          <p:cNvPr id="50" name="Text 11"/>
          <p:cNvSpPr/>
          <p:nvPr/>
        </p:nvSpPr>
        <p:spPr>
          <a:xfrm>
            <a:off x="1009650" y="5153025"/>
            <a:ext cx="31661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Learnable parameters specific to the task</a:t>
            </a:r>
            <a:endParaRPr lang="en-US" sz="1050" dirty="0"/>
          </a:p>
        </p:txBody>
      </p:sp>
      <p:sp>
        <p:nvSpPr>
          <p:cNvPr id="51" name="Text 12"/>
          <p:cNvSpPr/>
          <p:nvPr/>
        </p:nvSpPr>
        <p:spPr>
          <a:xfrm>
            <a:off x="6845498" y="1609725"/>
            <a:ext cx="4603552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Word2Vec Embeddings as First Principles</a:t>
            </a:r>
            <a:endParaRPr lang="en-US" sz="1800" dirty="0"/>
          </a:p>
        </p:txBody>
      </p:sp>
      <p:sp>
        <p:nvSpPr>
          <p:cNvPr id="52" name="Text 13"/>
          <p:cNvSpPr/>
          <p:nvPr/>
        </p:nvSpPr>
        <p:spPr>
          <a:xfrm>
            <a:off x="6381750" y="2524125"/>
            <a:ext cx="50673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Specialized implementation of word vectorization first principles with CBOW or Skip-gram, mapping 100-300 dimensional text concepts into semantic dense vectors.</a:t>
            </a:r>
            <a:endParaRPr lang="en-US" sz="1200" dirty="0"/>
          </a:p>
        </p:txBody>
      </p:sp>
      <p:sp>
        <p:nvSpPr>
          <p:cNvPr id="53" name="Text 14"/>
          <p:cNvSpPr/>
          <p:nvPr/>
        </p:nvSpPr>
        <p:spPr>
          <a:xfrm>
            <a:off x="6614160" y="3857625"/>
            <a:ext cx="8686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Text Input</a:t>
            </a:r>
            <a:endParaRPr lang="en-US" sz="1050" dirty="0"/>
          </a:p>
        </p:txBody>
      </p:sp>
      <p:sp>
        <p:nvSpPr>
          <p:cNvPr id="54" name="Text 15"/>
          <p:cNvSpPr/>
          <p:nvPr/>
        </p:nvSpPr>
        <p:spPr>
          <a:xfrm>
            <a:off x="7829550" y="3857625"/>
            <a:ext cx="914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Word2Vec Model</a:t>
            </a:r>
            <a:endParaRPr lang="en-US" sz="1050" dirty="0"/>
          </a:p>
        </p:txBody>
      </p:sp>
      <p:sp>
        <p:nvSpPr>
          <p:cNvPr id="55" name="Text 16"/>
          <p:cNvSpPr/>
          <p:nvPr/>
        </p:nvSpPr>
        <p:spPr>
          <a:xfrm>
            <a:off x="7829550" y="4238625"/>
            <a:ext cx="914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CBOW/Skip-gram</a:t>
            </a:r>
            <a:endParaRPr lang="en-US" sz="900" dirty="0"/>
          </a:p>
        </p:txBody>
      </p:sp>
      <p:sp>
        <p:nvSpPr>
          <p:cNvPr id="56" name="Text 17"/>
          <p:cNvSpPr/>
          <p:nvPr/>
        </p:nvSpPr>
        <p:spPr>
          <a:xfrm>
            <a:off x="9071610" y="3857625"/>
            <a:ext cx="1097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Word Vectors</a:t>
            </a:r>
            <a:endParaRPr lang="en-US" sz="1050" dirty="0"/>
          </a:p>
        </p:txBody>
      </p:sp>
      <p:sp>
        <p:nvSpPr>
          <p:cNvPr id="57" name="Text 18"/>
          <p:cNvSpPr/>
          <p:nvPr/>
        </p:nvSpPr>
        <p:spPr>
          <a:xfrm>
            <a:off x="9071610" y="4048125"/>
            <a:ext cx="10972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100-300 dims</a:t>
            </a:r>
            <a:endParaRPr lang="en-US" sz="900" dirty="0"/>
          </a:p>
        </p:txBody>
      </p:sp>
      <p:sp>
        <p:nvSpPr>
          <p:cNvPr id="58" name="Text 19"/>
          <p:cNvSpPr/>
          <p:nvPr/>
        </p:nvSpPr>
        <p:spPr>
          <a:xfrm>
            <a:off x="10496550" y="3857625"/>
            <a:ext cx="914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Neural Classifier</a:t>
            </a:r>
            <a:endParaRPr lang="en-US" sz="1050" dirty="0"/>
          </a:p>
        </p:txBody>
      </p:sp>
      <p:sp>
        <p:nvSpPr>
          <p:cNvPr id="59" name="Text 20"/>
          <p:cNvSpPr/>
          <p:nvPr/>
        </p:nvSpPr>
        <p:spPr>
          <a:xfrm>
            <a:off x="10405110" y="4238625"/>
            <a:ext cx="10972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CNN/MLP</a:t>
            </a:r>
            <a:endParaRPr lang="en-US" sz="900" dirty="0"/>
          </a:p>
        </p:txBody>
      </p:sp>
      <p:sp>
        <p:nvSpPr>
          <p:cNvPr id="60" name="Text 21"/>
          <p:cNvSpPr/>
          <p:nvPr/>
        </p:nvSpPr>
        <p:spPr>
          <a:xfrm>
            <a:off x="6610350" y="5343525"/>
            <a:ext cx="37833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Uses pre-trained embeddings from large corpora</a:t>
            </a:r>
            <a:endParaRPr lang="en-US" sz="1050" dirty="0"/>
          </a:p>
        </p:txBody>
      </p:sp>
      <p:sp>
        <p:nvSpPr>
          <p:cNvPr id="61" name="Text 22"/>
          <p:cNvSpPr/>
          <p:nvPr/>
        </p:nvSpPr>
        <p:spPr>
          <a:xfrm>
            <a:off x="6610350" y="5610225"/>
            <a:ext cx="340614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Combines well with CNN and MLP classifiers</a:t>
            </a:r>
            <a:endParaRPr lang="en-US" sz="1050" dirty="0"/>
          </a:p>
        </p:txBody>
      </p:sp>
      <p:sp>
        <p:nvSpPr>
          <p:cNvPr id="62" name="Text 23"/>
          <p:cNvSpPr/>
          <p:nvPr/>
        </p:nvSpPr>
        <p:spPr>
          <a:xfrm>
            <a:off x="11687175" y="6438900"/>
            <a:ext cx="3314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5/13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5325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214938"/>
            <a:ext cx="12192000" cy="173831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3177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550" y="1343025"/>
            <a:ext cx="5410200" cy="15049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950" y="1495425"/>
            <a:ext cx="476250" cy="4762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5825" y="1600200"/>
            <a:ext cx="190500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150" y="2066925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150" y="2295525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150" y="2524125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53150" y="1343025"/>
            <a:ext cx="5410200" cy="15049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5550" y="1495425"/>
            <a:ext cx="476250" cy="4762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4613" y="1600200"/>
            <a:ext cx="238125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750" y="2066925"/>
            <a:ext cx="1524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81750" y="2295525"/>
            <a:ext cx="123825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81750" y="2524125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0550" y="3076575"/>
            <a:ext cx="10972800" cy="3276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9150" y="3914775"/>
            <a:ext cx="1524000" cy="15240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71613" y="4200525"/>
            <a:ext cx="219075" cy="3429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965400" y="4562475"/>
            <a:ext cx="228600" cy="2286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816251" y="3914775"/>
            <a:ext cx="1524000" cy="15240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435376" y="4200525"/>
            <a:ext cx="285750" cy="3429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62501" y="4562475"/>
            <a:ext cx="228600" cy="228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813352" y="3914775"/>
            <a:ext cx="1524000" cy="15240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465814" y="4276725"/>
            <a:ext cx="219075" cy="3429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959602" y="4562475"/>
            <a:ext cx="228600" cy="2286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810452" y="3914775"/>
            <a:ext cx="1524000" cy="1524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410527" y="4200525"/>
            <a:ext cx="323850" cy="3429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382375" y="6591300"/>
            <a:ext cx="76200" cy="762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534775" y="6591300"/>
            <a:ext cx="76200" cy="76200"/>
          </a:xfrm>
          <a:prstGeom prst="rect">
            <a:avLst/>
          </a:prstGeom>
        </p:spPr>
      </p:pic>
      <p:sp>
        <p:nvSpPr>
          <p:cNvPr id="31" name="Text 0"/>
          <p:cNvSpPr/>
          <p:nvPr/>
        </p:nvSpPr>
        <p:spPr>
          <a:xfrm>
            <a:off x="609600" y="6096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Transformer Architecture - BERT Fine-tuning</a:t>
            </a:r>
            <a:endParaRPr lang="en-US" sz="2700" dirty="0"/>
          </a:p>
        </p:txBody>
      </p:sp>
      <p:sp>
        <p:nvSpPr>
          <p:cNvPr id="32" name="Text 1"/>
          <p:cNvSpPr/>
          <p:nvPr/>
        </p:nvSpPr>
        <p:spPr>
          <a:xfrm>
            <a:off x="1333500" y="1600200"/>
            <a:ext cx="24003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BERT-base-uncased</a:t>
            </a:r>
            <a:endParaRPr lang="en-US" sz="1500" dirty="0"/>
          </a:p>
        </p:txBody>
      </p:sp>
      <p:sp>
        <p:nvSpPr>
          <p:cNvPr id="33" name="Text 2"/>
          <p:cNvSpPr/>
          <p:nvPr/>
        </p:nvSpPr>
        <p:spPr>
          <a:xfrm>
            <a:off x="1047750" y="2047875"/>
            <a:ext cx="23888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12-layer, 768-hidden, 12-heads</a:t>
            </a:r>
            <a:endParaRPr lang="en-US" sz="1050" dirty="0"/>
          </a:p>
        </p:txBody>
      </p:sp>
      <p:sp>
        <p:nvSpPr>
          <p:cNvPr id="34" name="Text 3"/>
          <p:cNvSpPr/>
          <p:nvPr/>
        </p:nvSpPr>
        <p:spPr>
          <a:xfrm>
            <a:off x="1047750" y="2276475"/>
            <a:ext cx="15544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Lowercase tokenizer</a:t>
            </a:r>
            <a:endParaRPr lang="en-US" sz="1050" dirty="0"/>
          </a:p>
        </p:txBody>
      </p:sp>
      <p:sp>
        <p:nvSpPr>
          <p:cNvPr id="35" name="Text 4"/>
          <p:cNvSpPr/>
          <p:nvPr/>
        </p:nvSpPr>
        <p:spPr>
          <a:xfrm>
            <a:off x="1047750" y="2505075"/>
            <a:ext cx="169164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WordPiece vocabulary</a:t>
            </a:r>
            <a:endParaRPr lang="en-US" sz="1050" dirty="0"/>
          </a:p>
        </p:txBody>
      </p:sp>
      <p:sp>
        <p:nvSpPr>
          <p:cNvPr id="36" name="Text 5"/>
          <p:cNvSpPr/>
          <p:nvPr/>
        </p:nvSpPr>
        <p:spPr>
          <a:xfrm>
            <a:off x="6896100" y="1600200"/>
            <a:ext cx="31546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Fine-tuning Configuration</a:t>
            </a:r>
            <a:endParaRPr lang="en-US" sz="1500" dirty="0"/>
          </a:p>
        </p:txBody>
      </p:sp>
      <p:sp>
        <p:nvSpPr>
          <p:cNvPr id="37" name="Text 6"/>
          <p:cNvSpPr/>
          <p:nvPr/>
        </p:nvSpPr>
        <p:spPr>
          <a:xfrm>
            <a:off x="6610350" y="2047875"/>
            <a:ext cx="1371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AdamW optimizer</a:t>
            </a:r>
            <a:endParaRPr lang="en-US" sz="1050" dirty="0"/>
          </a:p>
        </p:txBody>
      </p:sp>
      <p:sp>
        <p:nvSpPr>
          <p:cNvPr id="38" name="Text 7"/>
          <p:cNvSpPr/>
          <p:nvPr/>
        </p:nvSpPr>
        <p:spPr>
          <a:xfrm>
            <a:off x="6581775" y="2276475"/>
            <a:ext cx="14516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Learning rate: 1e-5</a:t>
            </a:r>
            <a:endParaRPr lang="en-US" sz="1050" dirty="0"/>
          </a:p>
        </p:txBody>
      </p:sp>
      <p:sp>
        <p:nvSpPr>
          <p:cNvPr id="39" name="Text 8"/>
          <p:cNvSpPr/>
          <p:nvPr/>
        </p:nvSpPr>
        <p:spPr>
          <a:xfrm>
            <a:off x="6610350" y="2505075"/>
            <a:ext cx="8343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3-5 epochs</a:t>
            </a:r>
            <a:endParaRPr lang="en-US" sz="1050" dirty="0"/>
          </a:p>
        </p:txBody>
      </p:sp>
      <p:sp>
        <p:nvSpPr>
          <p:cNvPr id="40" name="Text 9"/>
          <p:cNvSpPr/>
          <p:nvPr/>
        </p:nvSpPr>
        <p:spPr>
          <a:xfrm>
            <a:off x="819150" y="3305175"/>
            <a:ext cx="10515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BERT Fine-tuning Pipeline</a:t>
            </a:r>
            <a:endParaRPr lang="en-US" sz="1800" dirty="0"/>
          </a:p>
        </p:txBody>
      </p:sp>
      <p:sp>
        <p:nvSpPr>
          <p:cNvPr id="41" name="Text 10"/>
          <p:cNvSpPr/>
          <p:nvPr/>
        </p:nvSpPr>
        <p:spPr>
          <a:xfrm>
            <a:off x="1186815" y="4619625"/>
            <a:ext cx="7886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 Text</a:t>
            </a:r>
            <a:endParaRPr lang="en-US" sz="1050" dirty="0"/>
          </a:p>
        </p:txBody>
      </p:sp>
      <p:sp>
        <p:nvSpPr>
          <p:cNvPr id="42" name="Text 11"/>
          <p:cNvSpPr/>
          <p:nvPr/>
        </p:nvSpPr>
        <p:spPr>
          <a:xfrm>
            <a:off x="933450" y="4848225"/>
            <a:ext cx="1295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Tokenized using WordPiece</a:t>
            </a:r>
            <a:endParaRPr lang="en-US" sz="900" dirty="0"/>
          </a:p>
        </p:txBody>
      </p:sp>
      <p:sp>
        <p:nvSpPr>
          <p:cNvPr id="43" name="Text 12"/>
          <p:cNvSpPr/>
          <p:nvPr/>
        </p:nvSpPr>
        <p:spPr>
          <a:xfrm>
            <a:off x="4006751" y="4619625"/>
            <a:ext cx="11430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BERT Encoder</a:t>
            </a:r>
            <a:endParaRPr lang="en-US" sz="1050" dirty="0"/>
          </a:p>
        </p:txBody>
      </p:sp>
      <p:sp>
        <p:nvSpPr>
          <p:cNvPr id="44" name="Text 13"/>
          <p:cNvSpPr/>
          <p:nvPr/>
        </p:nvSpPr>
        <p:spPr>
          <a:xfrm>
            <a:off x="3930551" y="4848225"/>
            <a:ext cx="1295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Processes tokenized inputs</a:t>
            </a:r>
            <a:endParaRPr lang="en-US" sz="900" dirty="0"/>
          </a:p>
        </p:txBody>
      </p:sp>
      <p:sp>
        <p:nvSpPr>
          <p:cNvPr id="45" name="Text 14"/>
          <p:cNvSpPr/>
          <p:nvPr/>
        </p:nvSpPr>
        <p:spPr>
          <a:xfrm>
            <a:off x="7118152" y="4695825"/>
            <a:ext cx="914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[CLS] Token</a:t>
            </a:r>
            <a:endParaRPr lang="en-US" sz="1050" dirty="0"/>
          </a:p>
        </p:txBody>
      </p:sp>
      <p:sp>
        <p:nvSpPr>
          <p:cNvPr id="46" name="Text 15"/>
          <p:cNvSpPr/>
          <p:nvPr/>
        </p:nvSpPr>
        <p:spPr>
          <a:xfrm>
            <a:off x="6838117" y="4924425"/>
            <a:ext cx="147447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Extraction of first token</a:t>
            </a:r>
            <a:endParaRPr lang="en-US" sz="900" dirty="0"/>
          </a:p>
        </p:txBody>
      </p:sp>
      <p:sp>
        <p:nvSpPr>
          <p:cNvPr id="47" name="Text 16"/>
          <p:cNvSpPr/>
          <p:nvPr/>
        </p:nvSpPr>
        <p:spPr>
          <a:xfrm>
            <a:off x="9812357" y="4619625"/>
            <a:ext cx="15201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Classification Head</a:t>
            </a:r>
            <a:endParaRPr lang="en-US" sz="1050" dirty="0"/>
          </a:p>
        </p:txBody>
      </p:sp>
      <p:sp>
        <p:nvSpPr>
          <p:cNvPr id="48" name="Text 17"/>
          <p:cNvSpPr/>
          <p:nvPr/>
        </p:nvSpPr>
        <p:spPr>
          <a:xfrm>
            <a:off x="9924752" y="4848225"/>
            <a:ext cx="1295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MLP with softmax output</a:t>
            </a:r>
            <a:endParaRPr lang="en-US" sz="900" dirty="0"/>
          </a:p>
        </p:txBody>
      </p:sp>
      <p:sp>
        <p:nvSpPr>
          <p:cNvPr id="49" name="Text 18"/>
          <p:cNvSpPr/>
          <p:nvPr/>
        </p:nvSpPr>
        <p:spPr>
          <a:xfrm>
            <a:off x="819150" y="5743575"/>
            <a:ext cx="10515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BERT advances first principles methodologies with multi-headed self-attention, refining attention maps, and pooling embeddings to capture context beyond simple bag-of-words representation</a:t>
            </a:r>
            <a:endParaRPr lang="en-US" sz="1050" dirty="0"/>
          </a:p>
        </p:txBody>
      </p:sp>
      <p:sp>
        <p:nvSpPr>
          <p:cNvPr id="50" name="Text 19"/>
          <p:cNvSpPr/>
          <p:nvPr/>
        </p:nvSpPr>
        <p:spPr>
          <a:xfrm>
            <a:off x="11687175" y="6534150"/>
            <a:ext cx="3314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6/13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075" y="1343025"/>
            <a:ext cx="457200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375" y="1419225"/>
            <a:ext cx="228600" cy="304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0075" y="1990725"/>
            <a:ext cx="5334000" cy="1104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475" y="2143125"/>
            <a:ext cx="190500" cy="26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0075" y="3324225"/>
            <a:ext cx="5334000" cy="1104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2475" y="3476625"/>
            <a:ext cx="238125" cy="266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38875" y="1343025"/>
            <a:ext cx="457200" cy="457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53175" y="1419225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8875" y="1990725"/>
            <a:ext cx="5334000" cy="11049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91275" y="2143125"/>
            <a:ext cx="190500" cy="2667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8875" y="3324225"/>
            <a:ext cx="5334000" cy="11049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91275" y="3476625"/>
            <a:ext cx="1428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8875" y="4657725"/>
            <a:ext cx="5334000" cy="1104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91275" y="4810125"/>
            <a:ext cx="142875" cy="2667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82375" y="6496050"/>
            <a:ext cx="76200" cy="76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534775" y="6496050"/>
            <a:ext cx="76200" cy="762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609600" y="6096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Evaluation Metrics Framework</a:t>
            </a:r>
            <a:endParaRPr lang="en-US" sz="2700" dirty="0"/>
          </a:p>
        </p:txBody>
      </p:sp>
      <p:sp>
        <p:nvSpPr>
          <p:cNvPr id="22" name="Text 1"/>
          <p:cNvSpPr/>
          <p:nvPr/>
        </p:nvSpPr>
        <p:spPr>
          <a:xfrm>
            <a:off x="1209675" y="1419225"/>
            <a:ext cx="34061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Predictive Performance</a:t>
            </a:r>
            <a:endParaRPr lang="en-US" sz="1800" dirty="0"/>
          </a:p>
        </p:txBody>
      </p:sp>
      <p:sp>
        <p:nvSpPr>
          <p:cNvPr id="23" name="Text 2"/>
          <p:cNvSpPr/>
          <p:nvPr/>
        </p:nvSpPr>
        <p:spPr>
          <a:xfrm>
            <a:off x="1057275" y="2143125"/>
            <a:ext cx="110871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Accuracy</a:t>
            </a:r>
            <a:endParaRPr lang="en-US" sz="1500" dirty="0"/>
          </a:p>
        </p:txBody>
      </p:sp>
      <p:sp>
        <p:nvSpPr>
          <p:cNvPr id="24" name="Text 3"/>
          <p:cNvSpPr/>
          <p:nvPr/>
        </p:nvSpPr>
        <p:spPr>
          <a:xfrm>
            <a:off x="1057275" y="2486025"/>
            <a:ext cx="50292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Overall classification correctness measured as the ratio of correctly classified samples to total samples.</a:t>
            </a:r>
            <a:endParaRPr lang="en-US" sz="1200" dirty="0"/>
          </a:p>
        </p:txBody>
      </p:sp>
      <p:sp>
        <p:nvSpPr>
          <p:cNvPr id="25" name="Text 4"/>
          <p:cNvSpPr/>
          <p:nvPr/>
        </p:nvSpPr>
        <p:spPr>
          <a:xfrm>
            <a:off x="1104900" y="3476625"/>
            <a:ext cx="10172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F1-Score</a:t>
            </a:r>
            <a:endParaRPr lang="en-US" sz="1500" dirty="0"/>
          </a:p>
        </p:txBody>
      </p:sp>
      <p:sp>
        <p:nvSpPr>
          <p:cNvPr id="26" name="Text 5"/>
          <p:cNvSpPr/>
          <p:nvPr/>
        </p:nvSpPr>
        <p:spPr>
          <a:xfrm>
            <a:off x="1057275" y="3819525"/>
            <a:ext cx="50292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Weighted average of precision and recall across the four classes, providing balance between true positives and false positives.</a:t>
            </a:r>
            <a:endParaRPr lang="en-US" sz="1200" dirty="0"/>
          </a:p>
        </p:txBody>
      </p:sp>
      <p:sp>
        <p:nvSpPr>
          <p:cNvPr id="27" name="Text 6"/>
          <p:cNvSpPr/>
          <p:nvPr/>
        </p:nvSpPr>
        <p:spPr>
          <a:xfrm>
            <a:off x="6848475" y="1419225"/>
            <a:ext cx="36347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Computational Efficiency</a:t>
            </a:r>
            <a:endParaRPr lang="en-US" sz="1800" dirty="0"/>
          </a:p>
        </p:txBody>
      </p:sp>
      <p:sp>
        <p:nvSpPr>
          <p:cNvPr id="28" name="Text 7"/>
          <p:cNvSpPr/>
          <p:nvPr/>
        </p:nvSpPr>
        <p:spPr>
          <a:xfrm>
            <a:off x="6696075" y="2143125"/>
            <a:ext cx="16459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Time</a:t>
            </a:r>
            <a:endParaRPr lang="en-US" sz="1500" dirty="0"/>
          </a:p>
        </p:txBody>
      </p:sp>
      <p:sp>
        <p:nvSpPr>
          <p:cNvPr id="29" name="Text 8"/>
          <p:cNvSpPr/>
          <p:nvPr/>
        </p:nvSpPr>
        <p:spPr>
          <a:xfrm>
            <a:off x="6696075" y="2486025"/>
            <a:ext cx="50292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Measured in seconds, representing the wall-clock time to train the model on the training dataset.</a:t>
            </a:r>
            <a:endParaRPr lang="en-US" sz="1200" dirty="0"/>
          </a:p>
        </p:txBody>
      </p:sp>
      <p:sp>
        <p:nvSpPr>
          <p:cNvPr id="30" name="Text 9"/>
          <p:cNvSpPr/>
          <p:nvPr/>
        </p:nvSpPr>
        <p:spPr>
          <a:xfrm>
            <a:off x="6648450" y="3476625"/>
            <a:ext cx="18402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Inference Time</a:t>
            </a:r>
            <a:endParaRPr lang="en-US" sz="1500" dirty="0"/>
          </a:p>
        </p:txBody>
      </p:sp>
      <p:sp>
        <p:nvSpPr>
          <p:cNvPr id="31" name="Text 10"/>
          <p:cNvSpPr/>
          <p:nvPr/>
        </p:nvSpPr>
        <p:spPr>
          <a:xfrm>
            <a:off x="6696075" y="3819525"/>
            <a:ext cx="50292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Average time per test sample in seconds, measuring the model's prediction speed.</a:t>
            </a:r>
            <a:endParaRPr lang="en-US" sz="1200" dirty="0"/>
          </a:p>
        </p:txBody>
      </p:sp>
      <p:sp>
        <p:nvSpPr>
          <p:cNvPr id="32" name="Text 11"/>
          <p:cNvSpPr/>
          <p:nvPr/>
        </p:nvSpPr>
        <p:spPr>
          <a:xfrm>
            <a:off x="6648450" y="4810125"/>
            <a:ext cx="22288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FLOPs per Sample</a:t>
            </a:r>
            <a:endParaRPr lang="en-US" sz="1500" dirty="0"/>
          </a:p>
        </p:txBody>
      </p:sp>
      <p:sp>
        <p:nvSpPr>
          <p:cNvPr id="33" name="Text 12"/>
          <p:cNvSpPr/>
          <p:nvPr/>
        </p:nvSpPr>
        <p:spPr>
          <a:xfrm>
            <a:off x="6696075" y="5153025"/>
            <a:ext cx="50292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Floating Point Operations per second, measuring the computational complexity of the model.</a:t>
            </a:r>
            <a:endParaRPr lang="en-US" sz="1200" dirty="0"/>
          </a:p>
        </p:txBody>
      </p:sp>
      <p:sp>
        <p:nvSpPr>
          <p:cNvPr id="34" name="Text 13"/>
          <p:cNvSpPr/>
          <p:nvPr/>
        </p:nvSpPr>
        <p:spPr>
          <a:xfrm>
            <a:off x="11687175" y="6438900"/>
            <a:ext cx="3314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7/13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571625"/>
            <a:ext cx="6583561" cy="357381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6061" y="1704975"/>
            <a:ext cx="4084290" cy="1714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6561" y="1895475"/>
            <a:ext cx="381000" cy="381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07523" y="1952625"/>
            <a:ext cx="219075" cy="26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26561" y="2428875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26561" y="2733675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26561" y="3038475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36061" y="3648075"/>
            <a:ext cx="4084290" cy="24003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26561" y="3838575"/>
            <a:ext cx="381000" cy="381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5623" y="3895725"/>
            <a:ext cx="142875" cy="2667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26561" y="4371975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26561" y="4905375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26561" y="5438775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382375" y="6496050"/>
            <a:ext cx="76200" cy="762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534775" y="6496050"/>
            <a:ext cx="76200" cy="76200"/>
          </a:xfrm>
          <a:prstGeom prst="rect">
            <a:avLst/>
          </a:prstGeom>
        </p:spPr>
      </p:pic>
      <p:sp>
        <p:nvSpPr>
          <p:cNvPr id="20" name="Text 0"/>
          <p:cNvSpPr/>
          <p:nvPr/>
        </p:nvSpPr>
        <p:spPr>
          <a:xfrm>
            <a:off x="609600" y="6096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Performance Results Overview</a:t>
            </a:r>
            <a:endParaRPr lang="en-US" sz="2700" dirty="0"/>
          </a:p>
        </p:txBody>
      </p:sp>
      <p:sp>
        <p:nvSpPr>
          <p:cNvPr id="21" name="Text 1"/>
          <p:cNvSpPr/>
          <p:nvPr/>
        </p:nvSpPr>
        <p:spPr>
          <a:xfrm>
            <a:off x="8221861" y="1933575"/>
            <a:ext cx="22288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Top Performers</a:t>
            </a:r>
            <a:endParaRPr lang="en-US" sz="1800" dirty="0"/>
          </a:p>
        </p:txBody>
      </p:sp>
      <p:sp>
        <p:nvSpPr>
          <p:cNvPr id="22" name="Text 2"/>
          <p:cNvSpPr/>
          <p:nvPr/>
        </p:nvSpPr>
        <p:spPr>
          <a:xfrm>
            <a:off x="7993261" y="2390775"/>
            <a:ext cx="36118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Matrix Embedding + CNN: </a:t>
            </a: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91.4% accuracy</a:t>
            </a:r>
            <a:endParaRPr lang="en-US" sz="1200" dirty="0"/>
          </a:p>
        </p:txBody>
      </p:sp>
      <p:sp>
        <p:nvSpPr>
          <p:cNvPr id="23" name="Text 3"/>
          <p:cNvSpPr/>
          <p:nvPr/>
        </p:nvSpPr>
        <p:spPr>
          <a:xfrm>
            <a:off x="7993261" y="2695575"/>
            <a:ext cx="2434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BOW + MLP: </a:t>
            </a: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91.3% accuracy</a:t>
            </a:r>
            <a:endParaRPr lang="en-US" sz="1200" dirty="0"/>
          </a:p>
        </p:txBody>
      </p:sp>
      <p:sp>
        <p:nvSpPr>
          <p:cNvPr id="24" name="Text 4"/>
          <p:cNvSpPr/>
          <p:nvPr/>
        </p:nvSpPr>
        <p:spPr>
          <a:xfrm>
            <a:off x="7993261" y="3000375"/>
            <a:ext cx="29032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Word2Vec + CNN: </a:t>
            </a: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91.0% accuracy</a:t>
            </a:r>
            <a:endParaRPr lang="en-US" sz="1200" dirty="0"/>
          </a:p>
        </p:txBody>
      </p:sp>
      <p:sp>
        <p:nvSpPr>
          <p:cNvPr id="25" name="Text 5"/>
          <p:cNvSpPr/>
          <p:nvPr/>
        </p:nvSpPr>
        <p:spPr>
          <a:xfrm>
            <a:off x="8221861" y="3876675"/>
            <a:ext cx="17716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800" dirty="0"/>
          </a:p>
        </p:txBody>
      </p:sp>
      <p:sp>
        <p:nvSpPr>
          <p:cNvPr id="26" name="Text 6"/>
          <p:cNvSpPr/>
          <p:nvPr/>
        </p:nvSpPr>
        <p:spPr>
          <a:xfrm>
            <a:off x="7993261" y="4333875"/>
            <a:ext cx="343659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Neural architectures with embeddings outperform classical methods</a:t>
            </a:r>
            <a:endParaRPr lang="en-US" sz="1200" dirty="0"/>
          </a:p>
        </p:txBody>
      </p:sp>
      <p:sp>
        <p:nvSpPr>
          <p:cNvPr id="27" name="Text 7"/>
          <p:cNvSpPr/>
          <p:nvPr/>
        </p:nvSpPr>
        <p:spPr>
          <a:xfrm>
            <a:off x="7993261" y="4867275"/>
            <a:ext cx="343659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MLP models show similar performance to CNNs for this task</a:t>
            </a:r>
            <a:endParaRPr lang="en-US" sz="1200" dirty="0"/>
          </a:p>
        </p:txBody>
      </p:sp>
      <p:sp>
        <p:nvSpPr>
          <p:cNvPr id="28" name="Text 8"/>
          <p:cNvSpPr/>
          <p:nvPr/>
        </p:nvSpPr>
        <p:spPr>
          <a:xfrm>
            <a:off x="7993261" y="5400675"/>
            <a:ext cx="343659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Classical models like Logistic Regression lag behind (90.2% accuracy)</a:t>
            </a:r>
            <a:endParaRPr lang="en-US" sz="1200" dirty="0"/>
          </a:p>
        </p:txBody>
      </p:sp>
      <p:sp>
        <p:nvSpPr>
          <p:cNvPr id="29" name="Text 9"/>
          <p:cNvSpPr/>
          <p:nvPr/>
        </p:nvSpPr>
        <p:spPr>
          <a:xfrm>
            <a:off x="11687175" y="6438900"/>
            <a:ext cx="3314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8/13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050" y="1143000"/>
            <a:ext cx="5524500" cy="5219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1513" y="1390650"/>
            <a:ext cx="21907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0550" y="1866900"/>
            <a:ext cx="5143500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550" y="2552700"/>
            <a:ext cx="5143500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550" y="3238500"/>
            <a:ext cx="5143500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550" y="4076700"/>
            <a:ext cx="5143500" cy="8763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4850" y="4229100"/>
            <a:ext cx="1143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150" y="1143000"/>
            <a:ext cx="5524500" cy="52197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24613" y="1390650"/>
            <a:ext cx="219075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72250" y="2362200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72250" y="2590800"/>
            <a:ext cx="133350" cy="1333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72250" y="2819400"/>
            <a:ext cx="133350" cy="13335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53312" y="3509963"/>
            <a:ext cx="2924175" cy="2428875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53312" y="5710238"/>
            <a:ext cx="2924175" cy="2286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382375" y="6496050"/>
            <a:ext cx="76200" cy="76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534775" y="6496050"/>
            <a:ext cx="76200" cy="762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457200" y="457200"/>
            <a:ext cx="1353312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Top Performing Models Analysis</a:t>
            </a:r>
            <a:endParaRPr lang="en-US" sz="2700" dirty="0"/>
          </a:p>
        </p:txBody>
      </p:sp>
      <p:sp>
        <p:nvSpPr>
          <p:cNvPr id="22" name="Text 1"/>
          <p:cNvSpPr/>
          <p:nvPr/>
        </p:nvSpPr>
        <p:spPr>
          <a:xfrm>
            <a:off x="1085850" y="1371600"/>
            <a:ext cx="414909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Top Models by Test Accuracy</a:t>
            </a:r>
            <a:endParaRPr lang="en-US" sz="1800" dirty="0"/>
          </a:p>
        </p:txBody>
      </p:sp>
      <p:sp>
        <p:nvSpPr>
          <p:cNvPr id="23" name="Text 2"/>
          <p:cNvSpPr/>
          <p:nvPr/>
        </p:nvSpPr>
        <p:spPr>
          <a:xfrm>
            <a:off x="704850" y="1866900"/>
            <a:ext cx="320427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</a:t>
            </a:r>
            <a:endParaRPr lang="en-US" sz="1050" dirty="0"/>
          </a:p>
        </p:txBody>
      </p:sp>
      <p:sp>
        <p:nvSpPr>
          <p:cNvPr id="24" name="Text 3"/>
          <p:cNvSpPr/>
          <p:nvPr/>
        </p:nvSpPr>
        <p:spPr>
          <a:xfrm>
            <a:off x="3406973" y="1866900"/>
            <a:ext cx="2327077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Test Accuracy</a:t>
            </a:r>
            <a:endParaRPr lang="en-US" sz="1050" dirty="0"/>
          </a:p>
        </p:txBody>
      </p:sp>
      <p:sp>
        <p:nvSpPr>
          <p:cNvPr id="25" name="Text 4"/>
          <p:cNvSpPr/>
          <p:nvPr/>
        </p:nvSpPr>
        <p:spPr>
          <a:xfrm>
            <a:off x="704850" y="2209800"/>
            <a:ext cx="384512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Matrix Embedding + CNN</a:t>
            </a:r>
            <a:endParaRPr lang="en-US" sz="1050" dirty="0"/>
          </a:p>
        </p:txBody>
      </p:sp>
      <p:sp>
        <p:nvSpPr>
          <p:cNvPr id="26" name="Text 5"/>
          <p:cNvSpPr/>
          <p:nvPr/>
        </p:nvSpPr>
        <p:spPr>
          <a:xfrm>
            <a:off x="3794820" y="2209800"/>
            <a:ext cx="193923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6B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0.914</a:t>
            </a:r>
            <a:endParaRPr lang="en-US" sz="1050" dirty="0"/>
          </a:p>
        </p:txBody>
      </p:sp>
      <p:sp>
        <p:nvSpPr>
          <p:cNvPr id="27" name="Text 6"/>
          <p:cNvSpPr/>
          <p:nvPr/>
        </p:nvSpPr>
        <p:spPr>
          <a:xfrm>
            <a:off x="704850" y="2552700"/>
            <a:ext cx="320427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BOW + MLP</a:t>
            </a:r>
            <a:endParaRPr lang="en-US" sz="1050" dirty="0"/>
          </a:p>
        </p:txBody>
      </p:sp>
      <p:sp>
        <p:nvSpPr>
          <p:cNvPr id="28" name="Text 7"/>
          <p:cNvSpPr/>
          <p:nvPr/>
        </p:nvSpPr>
        <p:spPr>
          <a:xfrm>
            <a:off x="3794820" y="2552700"/>
            <a:ext cx="193923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0.913</a:t>
            </a:r>
            <a:endParaRPr lang="en-US" sz="1050" dirty="0"/>
          </a:p>
        </p:txBody>
      </p:sp>
      <p:sp>
        <p:nvSpPr>
          <p:cNvPr id="29" name="Text 8"/>
          <p:cNvSpPr/>
          <p:nvPr/>
        </p:nvSpPr>
        <p:spPr>
          <a:xfrm>
            <a:off x="704850" y="2895600"/>
            <a:ext cx="320427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Word2Vec + CNN</a:t>
            </a:r>
            <a:endParaRPr lang="en-US" sz="1050" dirty="0"/>
          </a:p>
        </p:txBody>
      </p:sp>
      <p:sp>
        <p:nvSpPr>
          <p:cNvPr id="30" name="Text 9"/>
          <p:cNvSpPr/>
          <p:nvPr/>
        </p:nvSpPr>
        <p:spPr>
          <a:xfrm>
            <a:off x="3794820" y="2895600"/>
            <a:ext cx="193923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0.910</a:t>
            </a:r>
            <a:endParaRPr lang="en-US" sz="1050" dirty="0"/>
          </a:p>
        </p:txBody>
      </p:sp>
      <p:sp>
        <p:nvSpPr>
          <p:cNvPr id="31" name="Text 10"/>
          <p:cNvSpPr/>
          <p:nvPr/>
        </p:nvSpPr>
        <p:spPr>
          <a:xfrm>
            <a:off x="704850" y="3238500"/>
            <a:ext cx="384512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Tf_IDF + Logistic Model</a:t>
            </a:r>
            <a:endParaRPr lang="en-US" sz="1050" dirty="0"/>
          </a:p>
        </p:txBody>
      </p:sp>
      <p:sp>
        <p:nvSpPr>
          <p:cNvPr id="32" name="Text 11"/>
          <p:cNvSpPr/>
          <p:nvPr/>
        </p:nvSpPr>
        <p:spPr>
          <a:xfrm>
            <a:off x="3794820" y="3238500"/>
            <a:ext cx="193923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0.906</a:t>
            </a:r>
            <a:endParaRPr lang="en-US" sz="1050" dirty="0"/>
          </a:p>
        </p:txBody>
      </p:sp>
      <p:sp>
        <p:nvSpPr>
          <p:cNvPr id="33" name="Text 12"/>
          <p:cNvSpPr/>
          <p:nvPr/>
        </p:nvSpPr>
        <p:spPr>
          <a:xfrm>
            <a:off x="704850" y="3581400"/>
            <a:ext cx="320427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BOW + XGBoost Model</a:t>
            </a:r>
            <a:endParaRPr lang="en-US" sz="1050" dirty="0"/>
          </a:p>
        </p:txBody>
      </p:sp>
      <p:sp>
        <p:nvSpPr>
          <p:cNvPr id="34" name="Text 13"/>
          <p:cNvSpPr/>
          <p:nvPr/>
        </p:nvSpPr>
        <p:spPr>
          <a:xfrm>
            <a:off x="3794820" y="3581400"/>
            <a:ext cx="193923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0.905</a:t>
            </a:r>
            <a:endParaRPr lang="en-US" sz="1050" dirty="0"/>
          </a:p>
        </p:txBody>
      </p:sp>
      <p:sp>
        <p:nvSpPr>
          <p:cNvPr id="35" name="Text 14"/>
          <p:cNvSpPr/>
          <p:nvPr/>
        </p:nvSpPr>
        <p:spPr>
          <a:xfrm>
            <a:off x="933450" y="4191000"/>
            <a:ext cx="46863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Insight: </a:t>
            </a: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Matrix Embedding + CNN achieved the highest accuracy (0.914), demonstrating the effectiveness of combining advanced embedding techniques with neural architectures.</a:t>
            </a:r>
            <a:endParaRPr lang="en-US" sz="1050" dirty="0"/>
          </a:p>
        </p:txBody>
      </p:sp>
      <p:sp>
        <p:nvSpPr>
          <p:cNvPr id="36" name="Text 15"/>
          <p:cNvSpPr/>
          <p:nvPr/>
        </p:nvSpPr>
        <p:spPr>
          <a:xfrm>
            <a:off x="6838950" y="1371600"/>
            <a:ext cx="37147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Confusion Matrix Analysis</a:t>
            </a:r>
            <a:endParaRPr lang="en-US" sz="1800" dirty="0"/>
          </a:p>
        </p:txBody>
      </p:sp>
      <p:sp>
        <p:nvSpPr>
          <p:cNvPr id="37" name="Text 16"/>
          <p:cNvSpPr/>
          <p:nvPr/>
        </p:nvSpPr>
        <p:spPr>
          <a:xfrm>
            <a:off x="6343650" y="1866900"/>
            <a:ext cx="51435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confusion matrix for the best-performing model (Matrix Embedding + CNN) reveals:</a:t>
            </a:r>
            <a:endParaRPr lang="en-US" sz="1050" dirty="0"/>
          </a:p>
        </p:txBody>
      </p:sp>
      <p:sp>
        <p:nvSpPr>
          <p:cNvPr id="38" name="Text 17"/>
          <p:cNvSpPr/>
          <p:nvPr/>
        </p:nvSpPr>
        <p:spPr>
          <a:xfrm>
            <a:off x="6781800" y="2324100"/>
            <a:ext cx="46177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Strong classification performance across all news categories</a:t>
            </a:r>
            <a:endParaRPr lang="en-US" sz="1050" dirty="0"/>
          </a:p>
        </p:txBody>
      </p:sp>
      <p:sp>
        <p:nvSpPr>
          <p:cNvPr id="39" name="Text 18"/>
          <p:cNvSpPr/>
          <p:nvPr/>
        </p:nvSpPr>
        <p:spPr>
          <a:xfrm>
            <a:off x="6781800" y="2552700"/>
            <a:ext cx="46405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Mostly accurate predictions with balanced error distribution</a:t>
            </a:r>
            <a:endParaRPr lang="en-US" sz="1050" dirty="0"/>
          </a:p>
        </p:txBody>
      </p:sp>
      <p:sp>
        <p:nvSpPr>
          <p:cNvPr id="40" name="Text 19"/>
          <p:cNvSpPr/>
          <p:nvPr/>
        </p:nvSpPr>
        <p:spPr>
          <a:xfrm>
            <a:off x="6781800" y="2781300"/>
            <a:ext cx="470535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Word2Vec model shows slightly better performance (0.893 vs 0.898) on unseen data</a:t>
            </a:r>
            <a:endParaRPr lang="en-US" sz="1050" dirty="0"/>
          </a:p>
        </p:txBody>
      </p:sp>
      <p:sp>
        <p:nvSpPr>
          <p:cNvPr id="41" name="Text 20"/>
          <p:cNvSpPr/>
          <p:nvPr/>
        </p:nvSpPr>
        <p:spPr>
          <a:xfrm>
            <a:off x="7160895" y="5710238"/>
            <a:ext cx="35090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Confusion Matrix: Matrix Embedding – CNN Model</a:t>
            </a:r>
            <a:endParaRPr lang="en-US" sz="900" dirty="0"/>
          </a:p>
        </p:txBody>
      </p:sp>
      <p:sp>
        <p:nvSpPr>
          <p:cNvPr id="42" name="Text 21"/>
          <p:cNvSpPr/>
          <p:nvPr/>
        </p:nvSpPr>
        <p:spPr>
          <a:xfrm>
            <a:off x="11687175" y="6438900"/>
            <a:ext cx="3314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9/13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125" y="1390650"/>
            <a:ext cx="7086600" cy="52387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4325" y="1390650"/>
            <a:ext cx="3657600" cy="39243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8625" y="1847850"/>
            <a:ext cx="381000" cy="381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1975" y="1962150"/>
            <a:ext cx="1143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8625" y="2571750"/>
            <a:ext cx="381000" cy="381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62925" y="2686050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8625" y="3295650"/>
            <a:ext cx="381000" cy="381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3875" y="3409950"/>
            <a:ext cx="1905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34325" y="5391150"/>
            <a:ext cx="3657600" cy="9906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8625" y="5829300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01225" y="582930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48625" y="6096000"/>
            <a:ext cx="17145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06175" y="6496050"/>
            <a:ext cx="76200" cy="762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58575" y="6496050"/>
            <a:ext cx="76200" cy="76200"/>
          </a:xfrm>
          <a:prstGeom prst="rect">
            <a:avLst/>
          </a:prstGeom>
        </p:spPr>
      </p:pic>
      <p:sp>
        <p:nvSpPr>
          <p:cNvPr id="20" name="Text 0"/>
          <p:cNvSpPr/>
          <p:nvPr/>
        </p:nvSpPr>
        <p:spPr>
          <a:xfrm>
            <a:off x="609600" y="6096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Efficiency &amp; Accuracy Trade-offs</a:t>
            </a:r>
            <a:endParaRPr lang="en-US" sz="2700" dirty="0"/>
          </a:p>
        </p:txBody>
      </p:sp>
      <p:sp>
        <p:nvSpPr>
          <p:cNvPr id="21" name="Text 1"/>
          <p:cNvSpPr/>
          <p:nvPr/>
        </p:nvSpPr>
        <p:spPr>
          <a:xfrm>
            <a:off x="733425" y="1504950"/>
            <a:ext cx="6858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FLOPs Per Model </a:t>
            </a:r>
            <a:endParaRPr lang="en-US" sz="1500" dirty="0"/>
          </a:p>
        </p:txBody>
      </p:sp>
      <p:sp>
        <p:nvSpPr>
          <p:cNvPr id="22" name="Text 2"/>
          <p:cNvSpPr/>
          <p:nvPr/>
        </p:nvSpPr>
        <p:spPr>
          <a:xfrm>
            <a:off x="8048625" y="1504950"/>
            <a:ext cx="3429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500" dirty="0"/>
          </a:p>
        </p:txBody>
      </p:sp>
      <p:sp>
        <p:nvSpPr>
          <p:cNvPr id="23" name="Text 3"/>
          <p:cNvSpPr/>
          <p:nvPr/>
        </p:nvSpPr>
        <p:spPr>
          <a:xfrm>
            <a:off x="8543925" y="1847850"/>
            <a:ext cx="35204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Efficiency Leaders</a:t>
            </a:r>
            <a:endParaRPr lang="en-US" sz="1200" dirty="0"/>
          </a:p>
        </p:txBody>
      </p:sp>
      <p:sp>
        <p:nvSpPr>
          <p:cNvPr id="24" name="Text 4"/>
          <p:cNvSpPr/>
          <p:nvPr/>
        </p:nvSpPr>
        <p:spPr>
          <a:xfrm>
            <a:off x="8543925" y="2114550"/>
            <a:ext cx="29337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Classical models (BOW/TF-IDF + Logistic) offer excellent efficiency with ~90% accuracy</a:t>
            </a:r>
            <a:endParaRPr lang="en-US" sz="1050" dirty="0"/>
          </a:p>
        </p:txBody>
      </p:sp>
      <p:sp>
        <p:nvSpPr>
          <p:cNvPr id="25" name="Text 5"/>
          <p:cNvSpPr/>
          <p:nvPr/>
        </p:nvSpPr>
        <p:spPr>
          <a:xfrm>
            <a:off x="8543925" y="2571750"/>
            <a:ext cx="29337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BERT Outlier</a:t>
            </a:r>
            <a:endParaRPr lang="en-US" sz="1200" dirty="0"/>
          </a:p>
        </p:txBody>
      </p:sp>
      <p:sp>
        <p:nvSpPr>
          <p:cNvPr id="26" name="Text 6"/>
          <p:cNvSpPr/>
          <p:nvPr/>
        </p:nvSpPr>
        <p:spPr>
          <a:xfrm>
            <a:off x="8543925" y="2838450"/>
            <a:ext cx="29337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BERT has highest computational cost without achieving superior accuracy (0.887)</a:t>
            </a:r>
            <a:endParaRPr lang="en-US" sz="1050" dirty="0"/>
          </a:p>
        </p:txBody>
      </p:sp>
      <p:sp>
        <p:nvSpPr>
          <p:cNvPr id="27" name="Text 7"/>
          <p:cNvSpPr/>
          <p:nvPr/>
        </p:nvSpPr>
        <p:spPr>
          <a:xfrm>
            <a:off x="8543925" y="3295650"/>
            <a:ext cx="35204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Optimal Choice Depends</a:t>
            </a:r>
            <a:endParaRPr lang="en-US" sz="1200" dirty="0"/>
          </a:p>
        </p:txBody>
      </p:sp>
      <p:sp>
        <p:nvSpPr>
          <p:cNvPr id="28" name="Text 8"/>
          <p:cNvSpPr/>
          <p:nvPr/>
        </p:nvSpPr>
        <p:spPr>
          <a:xfrm>
            <a:off x="8543925" y="3562350"/>
            <a:ext cx="29337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 selection should be guided by deployment constraints and requirements</a:t>
            </a:r>
            <a:endParaRPr lang="en-US" sz="1050" dirty="0"/>
          </a:p>
        </p:txBody>
      </p:sp>
      <p:sp>
        <p:nvSpPr>
          <p:cNvPr id="29" name="Text 9"/>
          <p:cNvSpPr/>
          <p:nvPr/>
        </p:nvSpPr>
        <p:spPr>
          <a:xfrm>
            <a:off x="8048625" y="5505450"/>
            <a:ext cx="4114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Efficiency Metrics</a:t>
            </a:r>
            <a:endParaRPr lang="en-US" sz="1500" dirty="0"/>
          </a:p>
        </p:txBody>
      </p:sp>
      <p:sp>
        <p:nvSpPr>
          <p:cNvPr id="30" name="Text 10"/>
          <p:cNvSpPr/>
          <p:nvPr/>
        </p:nvSpPr>
        <p:spPr>
          <a:xfrm>
            <a:off x="8277225" y="5810250"/>
            <a:ext cx="13830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FLOPs per Sample</a:t>
            </a:r>
            <a:endParaRPr lang="en-US" sz="1050" dirty="0"/>
          </a:p>
        </p:txBody>
      </p:sp>
      <p:sp>
        <p:nvSpPr>
          <p:cNvPr id="31" name="Text 11"/>
          <p:cNvSpPr/>
          <p:nvPr/>
        </p:nvSpPr>
        <p:spPr>
          <a:xfrm>
            <a:off x="10029825" y="5810250"/>
            <a:ext cx="12801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Time (s)</a:t>
            </a:r>
            <a:endParaRPr lang="en-US" sz="1050" dirty="0"/>
          </a:p>
        </p:txBody>
      </p:sp>
      <p:sp>
        <p:nvSpPr>
          <p:cNvPr id="32" name="Text 12"/>
          <p:cNvSpPr/>
          <p:nvPr/>
        </p:nvSpPr>
        <p:spPr>
          <a:xfrm>
            <a:off x="8296275" y="6076950"/>
            <a:ext cx="1371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Inference Time (s)</a:t>
            </a:r>
            <a:endParaRPr lang="en-US" sz="1050" dirty="0"/>
          </a:p>
        </p:txBody>
      </p:sp>
      <p:sp>
        <p:nvSpPr>
          <p:cNvPr id="33" name="Text 13"/>
          <p:cNvSpPr/>
          <p:nvPr/>
        </p:nvSpPr>
        <p:spPr>
          <a:xfrm>
            <a:off x="11610975" y="6438900"/>
            <a:ext cx="4229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10/13</a:t>
            </a:r>
            <a:endParaRPr lang="en-US" sz="1050" dirty="0"/>
          </a:p>
        </p:txBody>
      </p:sp>
      <p:pic>
        <p:nvPicPr>
          <p:cNvPr id="35" name="Picture 34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6DA8649C-A948-AC55-0F91-3A1BE5F20BC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50112" y="1847850"/>
            <a:ext cx="6284138" cy="2343150"/>
          </a:xfrm>
          <a:prstGeom prst="rect">
            <a:avLst/>
          </a:prstGeom>
        </p:spPr>
      </p:pic>
      <p:pic>
        <p:nvPicPr>
          <p:cNvPr id="37" name="Picture 36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CD696880-6BA5-AEA0-A1F3-340BD5E6C15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50112" y="4305300"/>
            <a:ext cx="6284138" cy="2133600"/>
          </a:xfrm>
          <a:prstGeom prst="rect">
            <a:avLst/>
          </a:prstGeom>
        </p:spPr>
      </p:pic>
      <p:pic>
        <p:nvPicPr>
          <p:cNvPr id="39" name="Picture 38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B87E095F-4208-E1B5-5111-9C1C17356BBD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50112" y="4337223"/>
            <a:ext cx="6284138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" y="3429000"/>
            <a:ext cx="114300" cy="1143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3429000"/>
            <a:ext cx="114300" cy="1143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429000"/>
            <a:ext cx="114300" cy="1143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4400" y="3429000"/>
            <a:ext cx="114300" cy="1143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3429000"/>
            <a:ext cx="114300" cy="1143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409700"/>
            <a:ext cx="3505200" cy="4076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1638300"/>
            <a:ext cx="472083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9941" y="1771650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8200" y="4648200"/>
            <a:ext cx="3048000" cy="6096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8200" y="4819650"/>
            <a:ext cx="1524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8200" y="5086350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1409700"/>
            <a:ext cx="3505200" cy="407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1638300"/>
            <a:ext cx="488007" cy="5715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73054" y="1771650"/>
            <a:ext cx="285750" cy="304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0" y="4648200"/>
            <a:ext cx="3048000" cy="6096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4819650"/>
            <a:ext cx="1524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5086350"/>
            <a:ext cx="1524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77200" y="1409700"/>
            <a:ext cx="3505200" cy="40767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05800" y="1638300"/>
            <a:ext cx="506462" cy="5715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16082" y="1771650"/>
            <a:ext cx="285750" cy="3048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05800" y="4648200"/>
            <a:ext cx="3048000" cy="6096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05800" y="4819650"/>
            <a:ext cx="1524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05800" y="5086350"/>
            <a:ext cx="15240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600" y="5715000"/>
            <a:ext cx="10972800" cy="533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14613" y="5905500"/>
            <a:ext cx="114300" cy="1524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06175" y="6496050"/>
            <a:ext cx="76200" cy="762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458575" y="6496050"/>
            <a:ext cx="76200" cy="76200"/>
          </a:xfrm>
          <a:prstGeom prst="rect">
            <a:avLst/>
          </a:prstGeom>
        </p:spPr>
      </p:pic>
      <p:sp>
        <p:nvSpPr>
          <p:cNvPr id="32" name="Text 0"/>
          <p:cNvSpPr/>
          <p:nvPr/>
        </p:nvSpPr>
        <p:spPr>
          <a:xfrm>
            <a:off x="609600" y="609600"/>
            <a:ext cx="109728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Findings &amp; Insights</a:t>
            </a:r>
            <a:endParaRPr lang="en-US" sz="2700" dirty="0"/>
          </a:p>
        </p:txBody>
      </p:sp>
      <p:sp>
        <p:nvSpPr>
          <p:cNvPr id="33" name="Text 1"/>
          <p:cNvSpPr/>
          <p:nvPr/>
        </p:nvSpPr>
        <p:spPr>
          <a:xfrm>
            <a:off x="1462683" y="1657350"/>
            <a:ext cx="242351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Classical Models as Baselines</a:t>
            </a:r>
            <a:endParaRPr lang="en-US" sz="1500" dirty="0"/>
          </a:p>
        </p:txBody>
      </p:sp>
      <p:sp>
        <p:nvSpPr>
          <p:cNvPr id="34" name="Text 2"/>
          <p:cNvSpPr/>
          <p:nvPr/>
        </p:nvSpPr>
        <p:spPr>
          <a:xfrm>
            <a:off x="838200" y="2362200"/>
            <a:ext cx="3048000" cy="2133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5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Logistic Regression and MLPs on Bag-of-Words/TF-IDF features achieve </a:t>
            </a:r>
            <a:r>
              <a:rPr lang="en-US" sz="1200" b="1" dirty="0">
                <a:solidFill>
                  <a:srgbClr val="FF6B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~90-91% accuracy </a:t>
            </a: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with significantly lower computational costs.</a:t>
            </a:r>
            <a:endParaRPr lang="en-US" sz="1200" dirty="0"/>
          </a:p>
        </p:txBody>
      </p:sp>
      <p:sp>
        <p:nvSpPr>
          <p:cNvPr id="35" name="Text 3"/>
          <p:cNvSpPr/>
          <p:nvPr/>
        </p:nvSpPr>
        <p:spPr>
          <a:xfrm>
            <a:off x="1066800" y="4800600"/>
            <a:ext cx="23888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Efficient training and inference</a:t>
            </a:r>
            <a:endParaRPr lang="en-US" sz="1050" dirty="0"/>
          </a:p>
        </p:txBody>
      </p:sp>
      <p:sp>
        <p:nvSpPr>
          <p:cNvPr id="36" name="Text 4"/>
          <p:cNvSpPr/>
          <p:nvPr/>
        </p:nvSpPr>
        <p:spPr>
          <a:xfrm>
            <a:off x="1066800" y="5067300"/>
            <a:ext cx="30289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Strong performance on structured data</a:t>
            </a:r>
            <a:endParaRPr lang="en-US" sz="1050" dirty="0"/>
          </a:p>
        </p:txBody>
      </p:sp>
      <p:sp>
        <p:nvSpPr>
          <p:cNvPr id="37" name="Text 5"/>
          <p:cNvSpPr/>
          <p:nvPr/>
        </p:nvSpPr>
        <p:spPr>
          <a:xfrm>
            <a:off x="5212407" y="1657350"/>
            <a:ext cx="2407593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Best Accuracy-Cost Balance</a:t>
            </a:r>
            <a:endParaRPr lang="en-US" sz="1500" dirty="0"/>
          </a:p>
        </p:txBody>
      </p:sp>
      <p:sp>
        <p:nvSpPr>
          <p:cNvPr id="38" name="Text 6"/>
          <p:cNvSpPr/>
          <p:nvPr/>
        </p:nvSpPr>
        <p:spPr>
          <a:xfrm>
            <a:off x="4572000" y="2362200"/>
            <a:ext cx="3048000" cy="2133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5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Matrix Embedding + CNN achieved </a:t>
            </a:r>
            <a:r>
              <a:rPr lang="en-US" sz="1200" b="1" dirty="0">
                <a:solidFill>
                  <a:srgbClr val="FF6B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0.914 test accuracy </a:t>
            </a: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while maintaining reasonable balance between accuracy, FLOPs, and training time.</a:t>
            </a:r>
            <a:endParaRPr lang="en-US" sz="1200" dirty="0"/>
          </a:p>
        </p:txBody>
      </p:sp>
      <p:sp>
        <p:nvSpPr>
          <p:cNvPr id="39" name="Text 7"/>
          <p:cNvSpPr/>
          <p:nvPr/>
        </p:nvSpPr>
        <p:spPr>
          <a:xfrm>
            <a:off x="4800600" y="4800600"/>
            <a:ext cx="25946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Suitable for real-time deployment</a:t>
            </a:r>
            <a:endParaRPr lang="en-US" sz="1050" dirty="0"/>
          </a:p>
        </p:txBody>
      </p:sp>
      <p:sp>
        <p:nvSpPr>
          <p:cNvPr id="40" name="Text 8"/>
          <p:cNvSpPr/>
          <p:nvPr/>
        </p:nvSpPr>
        <p:spPr>
          <a:xfrm>
            <a:off x="4800600" y="5067300"/>
            <a:ext cx="25717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Effective semantic understanding</a:t>
            </a:r>
            <a:endParaRPr lang="en-US" sz="1050" dirty="0"/>
          </a:p>
        </p:txBody>
      </p:sp>
      <p:sp>
        <p:nvSpPr>
          <p:cNvPr id="41" name="Text 9"/>
          <p:cNvSpPr/>
          <p:nvPr/>
        </p:nvSpPr>
        <p:spPr>
          <a:xfrm>
            <a:off x="8964662" y="1657350"/>
            <a:ext cx="2389138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Selection Trade-offs</a:t>
            </a:r>
            <a:endParaRPr lang="en-US" sz="1500" dirty="0"/>
          </a:p>
        </p:txBody>
      </p:sp>
      <p:sp>
        <p:nvSpPr>
          <p:cNvPr id="42" name="Text 10"/>
          <p:cNvSpPr/>
          <p:nvPr/>
        </p:nvSpPr>
        <p:spPr>
          <a:xfrm>
            <a:off x="8305800" y="2362200"/>
            <a:ext cx="3048000" cy="2133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5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Optimal model choice dictated by interplay between accuracy, computational efficiency, and deployment constraints.</a:t>
            </a:r>
            <a:endParaRPr lang="en-US" sz="1200" dirty="0"/>
          </a:p>
        </p:txBody>
      </p:sp>
      <p:sp>
        <p:nvSpPr>
          <p:cNvPr id="43" name="Text 11"/>
          <p:cNvSpPr/>
          <p:nvPr/>
        </p:nvSpPr>
        <p:spPr>
          <a:xfrm>
            <a:off x="8534400" y="4800600"/>
            <a:ext cx="18745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universal best model</a:t>
            </a:r>
            <a:endParaRPr lang="en-US" sz="1050" dirty="0"/>
          </a:p>
        </p:txBody>
      </p:sp>
      <p:sp>
        <p:nvSpPr>
          <p:cNvPr id="44" name="Text 12"/>
          <p:cNvSpPr/>
          <p:nvPr/>
        </p:nvSpPr>
        <p:spPr>
          <a:xfrm>
            <a:off x="8534400" y="5067300"/>
            <a:ext cx="2514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Problem-specific optimal choices</a:t>
            </a:r>
            <a:endParaRPr lang="en-US" sz="1050" dirty="0"/>
          </a:p>
        </p:txBody>
      </p:sp>
      <p:sp>
        <p:nvSpPr>
          <p:cNvPr id="45" name="Text 13"/>
          <p:cNvSpPr/>
          <p:nvPr/>
        </p:nvSpPr>
        <p:spPr>
          <a:xfrm>
            <a:off x="-304800" y="5867400"/>
            <a:ext cx="12801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Model selection requires balancing accuracy, efficiency, and specific application requirements</a:t>
            </a:r>
            <a:endParaRPr lang="en-US" sz="1200" dirty="0"/>
          </a:p>
        </p:txBody>
      </p:sp>
      <p:sp>
        <p:nvSpPr>
          <p:cNvPr id="46" name="Text 14"/>
          <p:cNvSpPr/>
          <p:nvPr/>
        </p:nvSpPr>
        <p:spPr>
          <a:xfrm>
            <a:off x="11610975" y="6438900"/>
            <a:ext cx="4229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11/13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333500"/>
            <a:ext cx="5334000" cy="483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1562100"/>
            <a:ext cx="476250" cy="4762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8225" y="1647825"/>
            <a:ext cx="22860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2228850"/>
            <a:ext cx="85725" cy="26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3295650"/>
            <a:ext cx="85725" cy="266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4600" y="1333500"/>
            <a:ext cx="5334000" cy="4838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3200" y="1562100"/>
            <a:ext cx="476250" cy="4762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77025" y="1647825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53200" y="2190750"/>
            <a:ext cx="4876800" cy="8001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05600" y="2247900"/>
            <a:ext cx="1524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53200" y="3143250"/>
            <a:ext cx="4876800" cy="8001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05600" y="320040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53200" y="4095750"/>
            <a:ext cx="4876800" cy="8001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05600" y="4152900"/>
            <a:ext cx="17145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06175" y="6496050"/>
            <a:ext cx="76200" cy="76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58575" y="6496050"/>
            <a:ext cx="76200" cy="762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609600" y="609600"/>
            <a:ext cx="109728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Limitations &amp; Future Work</a:t>
            </a:r>
            <a:endParaRPr lang="en-US" sz="2700" dirty="0"/>
          </a:p>
        </p:txBody>
      </p:sp>
      <p:sp>
        <p:nvSpPr>
          <p:cNvPr id="22" name="Text 1"/>
          <p:cNvSpPr/>
          <p:nvPr/>
        </p:nvSpPr>
        <p:spPr>
          <a:xfrm>
            <a:off x="1543050" y="1647825"/>
            <a:ext cx="162306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23" name="Text 2"/>
          <p:cNvSpPr/>
          <p:nvPr/>
        </p:nvSpPr>
        <p:spPr>
          <a:xfrm>
            <a:off x="1114425" y="2190750"/>
            <a:ext cx="56121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Constrained Training Budget</a:t>
            </a:r>
            <a:endParaRPr lang="en-US" sz="1500" dirty="0"/>
          </a:p>
        </p:txBody>
      </p:sp>
      <p:sp>
        <p:nvSpPr>
          <p:cNvPr id="24" name="Text 3"/>
          <p:cNvSpPr/>
          <p:nvPr/>
        </p:nvSpPr>
        <p:spPr>
          <a:xfrm>
            <a:off x="1114425" y="2533650"/>
            <a:ext cx="46767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5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BERT Transformer model underperformed relative to its known capabilities due to limited training resources.</a:t>
            </a:r>
            <a:endParaRPr lang="en-US" sz="1200" dirty="0"/>
          </a:p>
        </p:txBody>
      </p:sp>
      <p:sp>
        <p:nvSpPr>
          <p:cNvPr id="25" name="Text 4"/>
          <p:cNvSpPr/>
          <p:nvPr/>
        </p:nvSpPr>
        <p:spPr>
          <a:xfrm>
            <a:off x="1114425" y="3257550"/>
            <a:ext cx="56121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Computational Constraints</a:t>
            </a:r>
            <a:endParaRPr lang="en-US" sz="1500" dirty="0"/>
          </a:p>
        </p:txBody>
      </p:sp>
      <p:sp>
        <p:nvSpPr>
          <p:cNvPr id="26" name="Text 5"/>
          <p:cNvSpPr/>
          <p:nvPr/>
        </p:nvSpPr>
        <p:spPr>
          <a:xfrm>
            <a:off x="1114425" y="3600450"/>
            <a:ext cx="46767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5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Resource limitations prevented exploration of larger model architectures and longer training schedules.</a:t>
            </a:r>
            <a:endParaRPr lang="en-US" sz="1200" dirty="0"/>
          </a:p>
        </p:txBody>
      </p:sp>
      <p:sp>
        <p:nvSpPr>
          <p:cNvPr id="27" name="Text 6"/>
          <p:cNvSpPr/>
          <p:nvPr/>
        </p:nvSpPr>
        <p:spPr>
          <a:xfrm>
            <a:off x="7181850" y="1647825"/>
            <a:ext cx="18059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28" name="Text 7"/>
          <p:cNvSpPr/>
          <p:nvPr/>
        </p:nvSpPr>
        <p:spPr>
          <a:xfrm>
            <a:off x="6972300" y="2190750"/>
            <a:ext cx="380619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Extended Fine-Tuning Schedules</a:t>
            </a:r>
            <a:endParaRPr lang="en-US" sz="1500" dirty="0"/>
          </a:p>
        </p:txBody>
      </p:sp>
      <p:sp>
        <p:nvSpPr>
          <p:cNvPr id="29" name="Text 8"/>
          <p:cNvSpPr/>
          <p:nvPr/>
        </p:nvSpPr>
        <p:spPr>
          <a:xfrm>
            <a:off x="7010400" y="2533650"/>
            <a:ext cx="4724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Extend BERT training epochs from 10 epochs to 40-50 to significantly improve accuracy.</a:t>
            </a:r>
            <a:endParaRPr lang="en-US" sz="1200" dirty="0"/>
          </a:p>
        </p:txBody>
      </p:sp>
      <p:sp>
        <p:nvSpPr>
          <p:cNvPr id="30" name="Text 9"/>
          <p:cNvSpPr/>
          <p:nvPr/>
        </p:nvSpPr>
        <p:spPr>
          <a:xfrm>
            <a:off x="6972300" y="3143250"/>
            <a:ext cx="38747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Lightweight Transformer Variants</a:t>
            </a:r>
            <a:endParaRPr lang="en-US" sz="1500" dirty="0"/>
          </a:p>
        </p:txBody>
      </p:sp>
      <p:sp>
        <p:nvSpPr>
          <p:cNvPr id="31" name="Text 10"/>
          <p:cNvSpPr/>
          <p:nvPr/>
        </p:nvSpPr>
        <p:spPr>
          <a:xfrm>
            <a:off x="7010400" y="3486150"/>
            <a:ext cx="4724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Investigate MobileBERT, TinyBERT, or DistilBERT for resource-constrained environments.</a:t>
            </a:r>
            <a:endParaRPr lang="en-US" sz="1200" dirty="0"/>
          </a:p>
        </p:txBody>
      </p:sp>
      <p:sp>
        <p:nvSpPr>
          <p:cNvPr id="32" name="Text 11"/>
          <p:cNvSpPr/>
          <p:nvPr/>
        </p:nvSpPr>
        <p:spPr>
          <a:xfrm>
            <a:off x="6991350" y="4095750"/>
            <a:ext cx="23088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Larger Label Spaces</a:t>
            </a:r>
            <a:endParaRPr lang="en-US" sz="1500" dirty="0"/>
          </a:p>
        </p:txBody>
      </p:sp>
      <p:sp>
        <p:nvSpPr>
          <p:cNvPr id="33" name="Text 12"/>
          <p:cNvSpPr/>
          <p:nvPr/>
        </p:nvSpPr>
        <p:spPr>
          <a:xfrm>
            <a:off x="7010400" y="4438650"/>
            <a:ext cx="4724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Evaluate transformers on tasks with hundreds or thousands of output classes to highlight advantages.</a:t>
            </a:r>
            <a:endParaRPr lang="en-US" sz="1200" dirty="0"/>
          </a:p>
        </p:txBody>
      </p:sp>
      <p:sp>
        <p:nvSpPr>
          <p:cNvPr id="34" name="Text 13"/>
          <p:cNvSpPr/>
          <p:nvPr/>
        </p:nvSpPr>
        <p:spPr>
          <a:xfrm>
            <a:off x="11610975" y="6438900"/>
            <a:ext cx="4229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12/13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3429000"/>
            <a:ext cx="114300" cy="1143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4400" y="3429000"/>
            <a:ext cx="114300" cy="1143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99" y="0"/>
            <a:ext cx="4063901" cy="22860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33600" y="3188940"/>
            <a:ext cx="3657600" cy="2133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62200" y="3512790"/>
            <a:ext cx="458391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67570" y="3627090"/>
            <a:ext cx="247650" cy="342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62200" y="4408140"/>
            <a:ext cx="190500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62200" y="4827240"/>
            <a:ext cx="171450" cy="2667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0" y="3284190"/>
            <a:ext cx="3657600" cy="19431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29400" y="3512790"/>
            <a:ext cx="571500" cy="5715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77038" y="3627090"/>
            <a:ext cx="276225" cy="342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29400" y="4312890"/>
            <a:ext cx="238125" cy="2667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29400" y="4731990"/>
            <a:ext cx="142875" cy="2667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153775" y="6496050"/>
            <a:ext cx="76200" cy="762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06175" y="6496050"/>
            <a:ext cx="76200" cy="762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458575" y="6496050"/>
            <a:ext cx="76200" cy="76200"/>
          </a:xfrm>
          <a:prstGeom prst="rect">
            <a:avLst/>
          </a:prstGeom>
        </p:spPr>
      </p:pic>
      <p:sp>
        <p:nvSpPr>
          <p:cNvPr id="23" name="Text 0"/>
          <p:cNvSpPr/>
          <p:nvPr/>
        </p:nvSpPr>
        <p:spPr>
          <a:xfrm>
            <a:off x="1219200" y="3438525"/>
            <a:ext cx="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
</a:t>
            </a:r>
            <a:endParaRPr lang="en-US" sz="1200" dirty="0"/>
          </a:p>
        </p:txBody>
      </p:sp>
      <p:sp>
        <p:nvSpPr>
          <p:cNvPr id="24" name="Text 1"/>
          <p:cNvSpPr/>
          <p:nvPr/>
        </p:nvSpPr>
        <p:spPr>
          <a:xfrm>
            <a:off x="4838700" y="1535460"/>
            <a:ext cx="3017520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25" name="Text 2"/>
          <p:cNvSpPr/>
          <p:nvPr/>
        </p:nvSpPr>
        <p:spPr>
          <a:xfrm>
            <a:off x="5248275" y="2388840"/>
            <a:ext cx="203454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Questions?</a:t>
            </a:r>
            <a:endParaRPr lang="en-US" sz="2250" dirty="0"/>
          </a:p>
        </p:txBody>
      </p:sp>
      <p:sp>
        <p:nvSpPr>
          <p:cNvPr id="26" name="Text 3"/>
          <p:cNvSpPr/>
          <p:nvPr/>
        </p:nvSpPr>
        <p:spPr>
          <a:xfrm>
            <a:off x="2972991" y="3417540"/>
            <a:ext cx="258960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Mohammad</a:t>
            </a:r>
            <a:endParaRPr lang="en-US" sz="1800" dirty="0"/>
          </a:p>
        </p:txBody>
      </p:sp>
      <p:sp>
        <p:nvSpPr>
          <p:cNvPr id="27" name="Text 4"/>
          <p:cNvSpPr/>
          <p:nvPr/>
        </p:nvSpPr>
        <p:spPr>
          <a:xfrm>
            <a:off x="2972991" y="3722340"/>
            <a:ext cx="2589609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Master's of Engineering, University of Ottawa</a:t>
            </a:r>
            <a:endParaRPr lang="en-US" sz="1200" dirty="0"/>
          </a:p>
        </p:txBody>
      </p:sp>
      <p:sp>
        <p:nvSpPr>
          <p:cNvPr id="28" name="Text 5"/>
          <p:cNvSpPr/>
          <p:nvPr/>
        </p:nvSpPr>
        <p:spPr>
          <a:xfrm>
            <a:off x="2705100" y="4427190"/>
            <a:ext cx="19773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fmoha077@uottawa.ca</a:t>
            </a:r>
            <a:endParaRPr lang="en-US" sz="1200" dirty="0"/>
          </a:p>
        </p:txBody>
      </p:sp>
      <p:sp>
        <p:nvSpPr>
          <p:cNvPr id="29" name="Text 6"/>
          <p:cNvSpPr/>
          <p:nvPr/>
        </p:nvSpPr>
        <p:spPr>
          <a:xfrm>
            <a:off x="2686050" y="4846290"/>
            <a:ext cx="1554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December 2, 2025</a:t>
            </a:r>
            <a:endParaRPr lang="en-US" sz="1200" dirty="0"/>
          </a:p>
        </p:txBody>
      </p:sp>
      <p:sp>
        <p:nvSpPr>
          <p:cNvPr id="30" name="Text 7"/>
          <p:cNvSpPr/>
          <p:nvPr/>
        </p:nvSpPr>
        <p:spPr>
          <a:xfrm>
            <a:off x="7353300" y="3531840"/>
            <a:ext cx="266319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Repository</a:t>
            </a:r>
            <a:endParaRPr lang="en-US" sz="1800" dirty="0"/>
          </a:p>
        </p:txBody>
      </p:sp>
      <p:sp>
        <p:nvSpPr>
          <p:cNvPr id="31" name="Text 8"/>
          <p:cNvSpPr/>
          <p:nvPr/>
        </p:nvSpPr>
        <p:spPr>
          <a:xfrm>
            <a:off x="7353300" y="3836640"/>
            <a:ext cx="221932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</a:t>
            </a:r>
            <a:endParaRPr lang="en-US" sz="1200" dirty="0"/>
          </a:p>
        </p:txBody>
      </p:sp>
      <p:sp>
        <p:nvSpPr>
          <p:cNvPr id="32" name="Text 9"/>
          <p:cNvSpPr/>
          <p:nvPr/>
        </p:nvSpPr>
        <p:spPr>
          <a:xfrm>
            <a:off x="7019925" y="4331940"/>
            <a:ext cx="2809875" cy="2019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https://github.com/mohammad1774/applied_ml_project#</a:t>
            </a:r>
            <a:endParaRPr lang="en-US" sz="1200" dirty="0"/>
          </a:p>
        </p:txBody>
      </p:sp>
      <p:sp>
        <p:nvSpPr>
          <p:cNvPr id="33" name="Text 10"/>
          <p:cNvSpPr/>
          <p:nvPr/>
        </p:nvSpPr>
        <p:spPr>
          <a:xfrm>
            <a:off x="6924675" y="4751040"/>
            <a:ext cx="30518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Feedback and discussions welcome</a:t>
            </a:r>
            <a:endParaRPr lang="en-US" sz="1200" dirty="0"/>
          </a:p>
        </p:txBody>
      </p:sp>
      <p:sp>
        <p:nvSpPr>
          <p:cNvPr id="34" name="Text 11"/>
          <p:cNvSpPr/>
          <p:nvPr/>
        </p:nvSpPr>
        <p:spPr>
          <a:xfrm>
            <a:off x="11610975" y="6438900"/>
            <a:ext cx="4229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13/13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0D884-6149-50D5-FCA4-1B66D3303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3255975-5951-A1D7-E011-56B9BDDAC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23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4A31785D-CA3E-10F9-52CC-162B53E22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43500"/>
            <a:ext cx="12192000" cy="1714500"/>
          </a:xfrm>
          <a:prstGeom prst="rect">
            <a:avLst/>
          </a:prstGeom>
        </p:spPr>
      </p:pic>
      <p:sp>
        <p:nvSpPr>
          <p:cNvPr id="8" name="Text 21">
            <a:extLst>
              <a:ext uri="{FF2B5EF4-FFF2-40B4-BE49-F238E27FC236}">
                <a16:creationId xmlns:a16="http://schemas.microsoft.com/office/drawing/2014/main" id="{073BE7F7-8816-8F1B-9729-304E8D3E5A15}"/>
              </a:ext>
            </a:extLst>
          </p:cNvPr>
          <p:cNvSpPr/>
          <p:nvPr/>
        </p:nvSpPr>
        <p:spPr>
          <a:xfrm>
            <a:off x="4413616" y="3145483"/>
            <a:ext cx="337825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Figure: TF-IDF Vectorizer Workflow for different Models</a:t>
            </a:r>
            <a:endParaRPr lang="en-US" sz="1050" dirty="0"/>
          </a:p>
        </p:txBody>
      </p:sp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5BD92048-286C-D650-50ED-BD7FFB486A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7698" y="4465"/>
            <a:ext cx="4063901" cy="2286000"/>
          </a:xfrm>
          <a:prstGeom prst="rect">
            <a:avLst/>
          </a:prstGeom>
        </p:spPr>
      </p:pic>
      <p:pic>
        <p:nvPicPr>
          <p:cNvPr id="10" name="Image 28" descr="preencoded.png">
            <a:extLst>
              <a:ext uri="{FF2B5EF4-FFF2-40B4-BE49-F238E27FC236}">
                <a16:creationId xmlns:a16="http://schemas.microsoft.com/office/drawing/2014/main" id="{F1E504B5-2F2B-7627-3F76-4DCEB44BCE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95" y="351986"/>
            <a:ext cx="3606850" cy="3212287"/>
          </a:xfrm>
          <a:prstGeom prst="rect">
            <a:avLst/>
          </a:prstGeom>
        </p:spPr>
      </p:pic>
      <p:sp>
        <p:nvSpPr>
          <p:cNvPr id="11" name="Text 21">
            <a:extLst>
              <a:ext uri="{FF2B5EF4-FFF2-40B4-BE49-F238E27FC236}">
                <a16:creationId xmlns:a16="http://schemas.microsoft.com/office/drawing/2014/main" id="{4E60267D-68A2-15AD-58BB-87253BFF5B44}"/>
              </a:ext>
            </a:extLst>
          </p:cNvPr>
          <p:cNvSpPr/>
          <p:nvPr/>
        </p:nvSpPr>
        <p:spPr>
          <a:xfrm>
            <a:off x="467566" y="3170732"/>
            <a:ext cx="337825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Figure: Bag of Words Vectorizer Workflow for different  Models</a:t>
            </a:r>
            <a:endParaRPr lang="en-US" sz="1050" dirty="0"/>
          </a:p>
        </p:txBody>
      </p:sp>
      <p:pic>
        <p:nvPicPr>
          <p:cNvPr id="18" name="Image 27" descr="preencoded.png">
            <a:extLst>
              <a:ext uri="{FF2B5EF4-FFF2-40B4-BE49-F238E27FC236}">
                <a16:creationId xmlns:a16="http://schemas.microsoft.com/office/drawing/2014/main" id="{B8F6D283-DE66-5964-0426-6C5A788EC4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3672" y="85286"/>
            <a:ext cx="257175" cy="228600"/>
          </a:xfrm>
          <a:prstGeom prst="rect">
            <a:avLst/>
          </a:prstGeom>
        </p:spPr>
      </p:pic>
      <p:sp>
        <p:nvSpPr>
          <p:cNvPr id="19" name="Text 20">
            <a:extLst>
              <a:ext uri="{FF2B5EF4-FFF2-40B4-BE49-F238E27FC236}">
                <a16:creationId xmlns:a16="http://schemas.microsoft.com/office/drawing/2014/main" id="{5FCBB032-ADBF-FD32-5F7E-50CF4EFF7495}"/>
              </a:ext>
            </a:extLst>
          </p:cNvPr>
          <p:cNvSpPr/>
          <p:nvPr/>
        </p:nvSpPr>
        <p:spPr>
          <a:xfrm>
            <a:off x="5335147" y="47186"/>
            <a:ext cx="36068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Workflow</a:t>
            </a:r>
            <a:endParaRPr lang="en-US" sz="1800" dirty="0"/>
          </a:p>
        </p:txBody>
      </p:sp>
      <p:pic>
        <p:nvPicPr>
          <p:cNvPr id="22" name="Picture 21" descr="A diagram of a model&#10;&#10;AI-generated content may be incorrect.">
            <a:extLst>
              <a:ext uri="{FF2B5EF4-FFF2-40B4-BE49-F238E27FC236}">
                <a16:creationId xmlns:a16="http://schemas.microsoft.com/office/drawing/2014/main" id="{68DEFD54-1E71-4E9A-6588-42F33B90DE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8195" y="432718"/>
            <a:ext cx="3378250" cy="2707450"/>
          </a:xfrm>
          <a:prstGeom prst="rect">
            <a:avLst/>
          </a:prstGeom>
        </p:spPr>
      </p:pic>
      <p:pic>
        <p:nvPicPr>
          <p:cNvPr id="24" name="Picture 23" descr="A diagram of a model&#10;&#10;AI-generated content may be incorrect.">
            <a:extLst>
              <a:ext uri="{FF2B5EF4-FFF2-40B4-BE49-F238E27FC236}">
                <a16:creationId xmlns:a16="http://schemas.microsoft.com/office/drawing/2014/main" id="{08422368-4DFA-9DB0-2D3B-971BC1BACA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98058" y="432718"/>
            <a:ext cx="3393808" cy="2707450"/>
          </a:xfrm>
          <a:prstGeom prst="rect">
            <a:avLst/>
          </a:prstGeom>
        </p:spPr>
      </p:pic>
      <p:pic>
        <p:nvPicPr>
          <p:cNvPr id="4" name="Image 28" descr="preencoded.png">
            <a:extLst>
              <a:ext uri="{FF2B5EF4-FFF2-40B4-BE49-F238E27FC236}">
                <a16:creationId xmlns:a16="http://schemas.microsoft.com/office/drawing/2014/main" id="{6F4894B8-2B07-AC18-67DC-B4E5A33B75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6577" y="351676"/>
            <a:ext cx="3606850" cy="3330861"/>
          </a:xfrm>
          <a:prstGeom prst="rect">
            <a:avLst/>
          </a:prstGeom>
        </p:spPr>
      </p:pic>
      <p:pic>
        <p:nvPicPr>
          <p:cNvPr id="6" name="Image 28" descr="preencoded.png">
            <a:extLst>
              <a:ext uri="{FF2B5EF4-FFF2-40B4-BE49-F238E27FC236}">
                <a16:creationId xmlns:a16="http://schemas.microsoft.com/office/drawing/2014/main" id="{AA7BE37E-E349-328E-CDDC-CCC03EF904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1948" y="3713101"/>
            <a:ext cx="3299810" cy="3047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6AE8A9-3BCE-061D-687A-54F652EA1E3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79041" y="3843242"/>
            <a:ext cx="3083244" cy="2483662"/>
          </a:xfrm>
          <a:prstGeom prst="rect">
            <a:avLst/>
          </a:prstGeom>
        </p:spPr>
      </p:pic>
      <p:sp>
        <p:nvSpPr>
          <p:cNvPr id="13" name="Text 21">
            <a:extLst>
              <a:ext uri="{FF2B5EF4-FFF2-40B4-BE49-F238E27FC236}">
                <a16:creationId xmlns:a16="http://schemas.microsoft.com/office/drawing/2014/main" id="{A32CAA90-7465-CA46-3A4B-F39975B71FDE}"/>
              </a:ext>
            </a:extLst>
          </p:cNvPr>
          <p:cNvSpPr/>
          <p:nvPr/>
        </p:nvSpPr>
        <p:spPr>
          <a:xfrm>
            <a:off x="2542993" y="6326904"/>
            <a:ext cx="3119292" cy="34384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Figure: Word2Vec with Neural Network Models</a:t>
            </a:r>
            <a:endParaRPr lang="en-US" sz="1050" dirty="0"/>
          </a:p>
        </p:txBody>
      </p:sp>
      <p:pic>
        <p:nvPicPr>
          <p:cNvPr id="17" name="Picture 16" descr="A diagram of a diagram&#10;&#10;AI-generated content may be incorrect.">
            <a:extLst>
              <a:ext uri="{FF2B5EF4-FFF2-40B4-BE49-F238E27FC236}">
                <a16:creationId xmlns:a16="http://schemas.microsoft.com/office/drawing/2014/main" id="{519E690C-6C86-30FF-6249-F2E2ED9401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79666" y="708823"/>
            <a:ext cx="2369127" cy="4730685"/>
          </a:xfrm>
          <a:prstGeom prst="rect">
            <a:avLst/>
          </a:prstGeom>
        </p:spPr>
      </p:pic>
      <p:pic>
        <p:nvPicPr>
          <p:cNvPr id="20" name="Image 28" descr="preencoded.png">
            <a:extLst>
              <a:ext uri="{FF2B5EF4-FFF2-40B4-BE49-F238E27FC236}">
                <a16:creationId xmlns:a16="http://schemas.microsoft.com/office/drawing/2014/main" id="{188C3EED-3DBF-66DC-B546-99CE1CD725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4325" y="623759"/>
            <a:ext cx="3299810" cy="5355009"/>
          </a:xfrm>
          <a:prstGeom prst="rect">
            <a:avLst/>
          </a:prstGeom>
        </p:spPr>
      </p:pic>
      <p:sp>
        <p:nvSpPr>
          <p:cNvPr id="21" name="Text 21">
            <a:extLst>
              <a:ext uri="{FF2B5EF4-FFF2-40B4-BE49-F238E27FC236}">
                <a16:creationId xmlns:a16="http://schemas.microsoft.com/office/drawing/2014/main" id="{7B06FC1C-2ABE-213F-3959-A52101BB66D2}"/>
              </a:ext>
            </a:extLst>
          </p:cNvPr>
          <p:cNvSpPr/>
          <p:nvPr/>
        </p:nvSpPr>
        <p:spPr>
          <a:xfrm>
            <a:off x="8604583" y="5561011"/>
            <a:ext cx="3119292" cy="34384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Figure: BERT with an MLP Classification Layer Models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726261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1099</Words>
  <Application>Microsoft Office PowerPoint</Application>
  <PresentationFormat>Widescreen</PresentationFormat>
  <Paragraphs>222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Montserrat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Mohammad .</cp:lastModifiedBy>
  <cp:revision>10</cp:revision>
  <dcterms:created xsi:type="dcterms:W3CDTF">2025-12-01T05:21:57Z</dcterms:created>
  <dcterms:modified xsi:type="dcterms:W3CDTF">2025-12-02T21:59:37Z</dcterms:modified>
</cp:coreProperties>
</file>